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15" autoAdjust="0"/>
    <p:restoredTop sz="94182" autoAdjust="0"/>
  </p:normalViewPr>
  <p:slideViewPr>
    <p:cSldViewPr snapToGrid="0">
      <p:cViewPr varScale="1">
        <p:scale>
          <a:sx n="130" d="100"/>
          <a:sy n="130" d="100"/>
        </p:scale>
        <p:origin x="138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0557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716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0491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49393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90173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11572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4178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163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57698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62305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54688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9806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7296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175023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23336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5982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414999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730294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334C7-0478-8D88-7EED-FD1876851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B8A13-AB69-7226-5291-491E7B4B1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53230-6980-75A8-61DD-51AB3BB7A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12727-9BC8-5F40-7A3A-169984127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90476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9887DE-B428-5BE2-2F47-C61D85B0141C}"/>
              </a:ext>
            </a:extLst>
          </p:cNvPr>
          <p:cNvSpPr txBox="1">
            <a:spLocks/>
          </p:cNvSpPr>
          <p:nvPr/>
        </p:nvSpPr>
        <p:spPr>
          <a:xfrm>
            <a:off x="732773" y="1516449"/>
            <a:ext cx="10803698" cy="130207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err="1">
                <a:solidFill>
                  <a:schemeClr val="bg1"/>
                </a:solidFill>
                <a:latin typeface="Calibri Body"/>
              </a:rPr>
              <a:t>QuickSort</a:t>
            </a:r>
            <a:r>
              <a:rPr lang="en-US" sz="3000" dirty="0">
                <a:solidFill>
                  <a:schemeClr val="bg1"/>
                </a:solidFill>
                <a:latin typeface="Calibri Body"/>
              </a:rPr>
              <a:t> is based on the </a:t>
            </a:r>
            <a:r>
              <a:rPr lang="en-US" sz="3000" b="1" dirty="0">
                <a:solidFill>
                  <a:srgbClr val="00B0F0"/>
                </a:solidFill>
                <a:latin typeface="Calibri Body"/>
              </a:rPr>
              <a:t>Divide and Conquer algorithm</a:t>
            </a:r>
            <a:r>
              <a:rPr lang="en-US" sz="3000" b="1" dirty="0">
                <a:solidFill>
                  <a:schemeClr val="bg1"/>
                </a:solidFill>
                <a:latin typeface="Calibri Body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Calibri Body"/>
              </a:rPr>
              <a:t>that picks an element as a </a:t>
            </a:r>
            <a:r>
              <a:rPr lang="en-US" sz="3000" b="1" dirty="0">
                <a:solidFill>
                  <a:schemeClr val="bg1"/>
                </a:solidFill>
                <a:latin typeface="Calibri Body"/>
              </a:rPr>
              <a:t>pivot</a:t>
            </a:r>
            <a:r>
              <a:rPr lang="en-US" sz="3000" dirty="0">
                <a:solidFill>
                  <a:schemeClr val="bg1"/>
                </a:solidFill>
                <a:latin typeface="Calibri Body"/>
              </a:rPr>
              <a:t> and partitions the given array around the picked pivot by placing the pivot in its correct position in the sorted array.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0A967E-B262-6D82-D7A3-162C5CDD7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172" y="3044853"/>
            <a:ext cx="4972564" cy="298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15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5365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9542B9-3D0D-DAFB-D4EB-2924E032A2CC}"/>
              </a:ext>
            </a:extLst>
          </p:cNvPr>
          <p:cNvSpPr txBox="1"/>
          <p:nvPr/>
        </p:nvSpPr>
        <p:spPr>
          <a:xfrm>
            <a:off x="4505541" y="3007925"/>
            <a:ext cx="765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1854052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7EE1B-0B44-A838-DF51-E18CFEC89BBA}"/>
              </a:ext>
            </a:extLst>
          </p:cNvPr>
          <p:cNvSpPr txBox="1"/>
          <p:nvPr/>
        </p:nvSpPr>
        <p:spPr>
          <a:xfrm>
            <a:off x="3321459" y="3007925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805413-E235-2B9A-F329-70740C81E0A8}"/>
              </a:ext>
            </a:extLst>
          </p:cNvPr>
          <p:cNvSpPr txBox="1"/>
          <p:nvPr/>
        </p:nvSpPr>
        <p:spPr>
          <a:xfrm>
            <a:off x="8310591" y="2925010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53593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81481E-6 L -0.04948 0.0053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74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7EE1B-0B44-A838-DF51-E18CFEC89BBA}"/>
              </a:ext>
            </a:extLst>
          </p:cNvPr>
          <p:cNvSpPr txBox="1"/>
          <p:nvPr/>
        </p:nvSpPr>
        <p:spPr>
          <a:xfrm>
            <a:off x="3321459" y="3007925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805413-E235-2B9A-F329-70740C81E0A8}"/>
              </a:ext>
            </a:extLst>
          </p:cNvPr>
          <p:cNvSpPr txBox="1"/>
          <p:nvPr/>
        </p:nvSpPr>
        <p:spPr>
          <a:xfrm>
            <a:off x="7594681" y="3007925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51979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5.55112E-17 L 0.35221 3.7037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65" y="44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5.55112E-17 L -0.35222 -5.55112E-1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6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7EE1B-0B44-A838-DF51-E18CFEC89BBA}"/>
              </a:ext>
            </a:extLst>
          </p:cNvPr>
          <p:cNvSpPr txBox="1"/>
          <p:nvPr/>
        </p:nvSpPr>
        <p:spPr>
          <a:xfrm>
            <a:off x="3311039" y="3007925"/>
            <a:ext cx="266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805413-E235-2B9A-F329-70740C81E0A8}"/>
              </a:ext>
            </a:extLst>
          </p:cNvPr>
          <p:cNvSpPr txBox="1"/>
          <p:nvPr/>
        </p:nvSpPr>
        <p:spPr>
          <a:xfrm>
            <a:off x="7594681" y="3007925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86019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22222E-6 L -0.05886 -0.0020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43" y="-1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22222E-6 L 0.05899 -0.0020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3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7EE1B-0B44-A838-DF51-E18CFEC89BBA}"/>
              </a:ext>
            </a:extLst>
          </p:cNvPr>
          <p:cNvSpPr txBox="1"/>
          <p:nvPr/>
        </p:nvSpPr>
        <p:spPr>
          <a:xfrm>
            <a:off x="4030678" y="3007925"/>
            <a:ext cx="266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805413-E235-2B9A-F329-70740C81E0A8}"/>
              </a:ext>
            </a:extLst>
          </p:cNvPr>
          <p:cNvSpPr txBox="1"/>
          <p:nvPr/>
        </p:nvSpPr>
        <p:spPr>
          <a:xfrm>
            <a:off x="6875042" y="3007925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71097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22222E-6 L -0.05859 -0.0020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0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7EE1B-0B44-A838-DF51-E18CFEC89BBA}"/>
              </a:ext>
            </a:extLst>
          </p:cNvPr>
          <p:cNvSpPr txBox="1"/>
          <p:nvPr/>
        </p:nvSpPr>
        <p:spPr>
          <a:xfrm>
            <a:off x="4030678" y="3007925"/>
            <a:ext cx="266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805413-E235-2B9A-F329-70740C81E0A8}"/>
              </a:ext>
            </a:extLst>
          </p:cNvPr>
          <p:cNvSpPr txBox="1"/>
          <p:nvPr/>
        </p:nvSpPr>
        <p:spPr>
          <a:xfrm>
            <a:off x="6155403" y="3007925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48571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22222E-6 L -0.05847 -0.0020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0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5.55112E-17 L -0.11719 3.7037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13" y="44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5.55112E-17 L 0.11719 3.7037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07" y="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2137969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FA8937-0E25-00EA-8BB8-6EC71E67B733}"/>
              </a:ext>
            </a:extLst>
          </p:cNvPr>
          <p:cNvSpPr txBox="1"/>
          <p:nvPr/>
        </p:nvSpPr>
        <p:spPr>
          <a:xfrm>
            <a:off x="3311039" y="2993425"/>
            <a:ext cx="266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0DCA5F-FDC5-E45C-EEA9-9531F22CCAF5}"/>
              </a:ext>
            </a:extLst>
          </p:cNvPr>
          <p:cNvSpPr txBox="1"/>
          <p:nvPr/>
        </p:nvSpPr>
        <p:spPr>
          <a:xfrm>
            <a:off x="4020259" y="2993425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4606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5.55112E-17 L -0.05912 -2.96296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-30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5.55112E-17 L 0.05911 3.7037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3" y="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4043323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774996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8B814-4E46-29C8-D548-D902F04B9131}"/>
              </a:ext>
            </a:extLst>
          </p:cNvPr>
          <p:cNvSpPr txBox="1"/>
          <p:nvPr/>
        </p:nvSpPr>
        <p:spPr>
          <a:xfrm>
            <a:off x="5460331" y="2961758"/>
            <a:ext cx="266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71365-6598-FC5C-B197-1154783CAFB1}"/>
              </a:ext>
            </a:extLst>
          </p:cNvPr>
          <p:cNvSpPr txBox="1"/>
          <p:nvPr/>
        </p:nvSpPr>
        <p:spPr>
          <a:xfrm>
            <a:off x="8300172" y="2993423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41317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5.55112E-17 L -0.23385 -3.33333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49" y="9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5.55112E-17 L 0.23386 -3.33333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80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2390871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327EF-DB9C-F798-66C5-2CE93ABBDD26}"/>
              </a:ext>
            </a:extLst>
          </p:cNvPr>
          <p:cNvSpPr txBox="1"/>
          <p:nvPr/>
        </p:nvSpPr>
        <p:spPr>
          <a:xfrm>
            <a:off x="6165822" y="2961755"/>
            <a:ext cx="266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766CF1-E117-8F57-D7DA-9FDD16BB761B}"/>
              </a:ext>
            </a:extLst>
          </p:cNvPr>
          <p:cNvSpPr txBox="1"/>
          <p:nvPr/>
        </p:nvSpPr>
        <p:spPr>
          <a:xfrm>
            <a:off x="8300172" y="2961756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0434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5.55112E-17 L -0.17591 -3.33333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72" y="9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5.55112E-17 L 0.17591 -3.33333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41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088797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011DE-26D8-CF61-EB85-F8325992FF40}"/>
              </a:ext>
            </a:extLst>
          </p:cNvPr>
          <p:cNvSpPr txBox="1"/>
          <p:nvPr/>
        </p:nvSpPr>
        <p:spPr>
          <a:xfrm>
            <a:off x="6885461" y="2920089"/>
            <a:ext cx="266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279C07-C57D-7EDA-12DE-57170CC826C2}"/>
              </a:ext>
            </a:extLst>
          </p:cNvPr>
          <p:cNvSpPr txBox="1"/>
          <p:nvPr/>
        </p:nvSpPr>
        <p:spPr>
          <a:xfrm>
            <a:off x="7594681" y="2920088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19038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5.55112E-17 L -0.05899 -4.81481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1" y="-20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5.55112E-17 L 0.05899 -4.81481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3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Quick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F652-83E3-07B2-CAC5-D005C93AC7ED}"/>
              </a:ext>
            </a:extLst>
          </p:cNvPr>
          <p:cNvSpPr/>
          <p:nvPr/>
        </p:nvSpPr>
        <p:spPr>
          <a:xfrm>
            <a:off x="5997146" y="2337476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3511C-7091-D032-4529-22F991B5AD2C}"/>
              </a:ext>
            </a:extLst>
          </p:cNvPr>
          <p:cNvSpPr/>
          <p:nvPr/>
        </p:nvSpPr>
        <p:spPr>
          <a:xfrm>
            <a:off x="6716785" y="2337473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FDF6-6255-A7C3-0B1D-6D9AA565DCF1}"/>
              </a:ext>
            </a:extLst>
          </p:cNvPr>
          <p:cNvSpPr/>
          <p:nvPr/>
        </p:nvSpPr>
        <p:spPr>
          <a:xfrm>
            <a:off x="7436424" y="2337473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1C967-2E8D-F0F1-5772-3E08C3918EEC}"/>
              </a:ext>
            </a:extLst>
          </p:cNvPr>
          <p:cNvSpPr/>
          <p:nvPr/>
        </p:nvSpPr>
        <p:spPr>
          <a:xfrm>
            <a:off x="8141915" y="2337472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40F2A-9FFD-2EC2-B112-97905E915737}"/>
              </a:ext>
            </a:extLst>
          </p:cNvPr>
          <p:cNvSpPr/>
          <p:nvPr/>
        </p:nvSpPr>
        <p:spPr>
          <a:xfrm>
            <a:off x="3142363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D4C-7EBD-497F-FCC5-22EA8970BA32}"/>
              </a:ext>
            </a:extLst>
          </p:cNvPr>
          <p:cNvSpPr/>
          <p:nvPr/>
        </p:nvSpPr>
        <p:spPr>
          <a:xfrm>
            <a:off x="3862002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8CC81-6EA4-D960-107B-F2917BE736E8}"/>
              </a:ext>
            </a:extLst>
          </p:cNvPr>
          <p:cNvSpPr/>
          <p:nvPr/>
        </p:nvSpPr>
        <p:spPr>
          <a:xfrm>
            <a:off x="4586164" y="2337475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A5CFC-8424-4CA2-612C-08539EF09505}"/>
              </a:ext>
            </a:extLst>
          </p:cNvPr>
          <p:cNvSpPr/>
          <p:nvPr/>
        </p:nvSpPr>
        <p:spPr>
          <a:xfrm>
            <a:off x="5291655" y="2337474"/>
            <a:ext cx="603773" cy="554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2" name="7-Point Star 11">
            <a:extLst>
              <a:ext uri="{FF2B5EF4-FFF2-40B4-BE49-F238E27FC236}">
                <a16:creationId xmlns:a16="http://schemas.microsoft.com/office/drawing/2014/main" id="{4AE624F5-CC0D-9186-AF2B-9B0CDE3BDCFB}"/>
              </a:ext>
            </a:extLst>
          </p:cNvPr>
          <p:cNvSpPr/>
          <p:nvPr/>
        </p:nvSpPr>
        <p:spPr>
          <a:xfrm>
            <a:off x="4456934" y="3661741"/>
            <a:ext cx="3080423" cy="1905831"/>
          </a:xfrm>
          <a:prstGeom prst="star7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Sorting Finished!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90414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55D74-CD7F-946B-E3A2-A1CF8A1C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048922D-EC09-2F50-7EF9-088F4169FFD1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506810-F2E6-B493-C4A5-48FB34577FB5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1723FA8-BF8C-E8DA-0474-7B5AE4E8DC39}"/>
              </a:ext>
            </a:extLst>
          </p:cNvPr>
          <p:cNvSpPr txBox="1"/>
          <p:nvPr/>
        </p:nvSpPr>
        <p:spPr>
          <a:xfrm>
            <a:off x="5321935" y="5652964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C364D3-F350-B33C-A78A-F7E6F4AF9FF1}"/>
              </a:ext>
            </a:extLst>
          </p:cNvPr>
          <p:cNvSpPr txBox="1"/>
          <p:nvPr/>
        </p:nvSpPr>
        <p:spPr>
          <a:xfrm rot="5400000" flipH="1">
            <a:off x="513467" y="2571819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875AFF1-00E2-4A3D-0781-FC3925989963}"/>
              </a:ext>
            </a:extLst>
          </p:cNvPr>
          <p:cNvCxnSpPr>
            <a:cxnSpLocks/>
          </p:cNvCxnSpPr>
          <p:nvPr/>
        </p:nvCxnSpPr>
        <p:spPr>
          <a:xfrm flipV="1">
            <a:off x="1968500" y="2125981"/>
            <a:ext cx="5925820" cy="3322320"/>
          </a:xfrm>
          <a:prstGeom prst="straightConnector1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c 20">
            <a:extLst>
              <a:ext uri="{FF2B5EF4-FFF2-40B4-BE49-F238E27FC236}">
                <a16:creationId xmlns:a16="http://schemas.microsoft.com/office/drawing/2014/main" id="{76B936F9-C02F-9F17-4DAE-0D2856D61948}"/>
              </a:ext>
            </a:extLst>
          </p:cNvPr>
          <p:cNvSpPr/>
          <p:nvPr/>
        </p:nvSpPr>
        <p:spPr>
          <a:xfrm rot="16200000">
            <a:off x="7532684" y="-1535115"/>
            <a:ext cx="2933704" cy="13852525"/>
          </a:xfrm>
          <a:prstGeom prst="arc">
            <a:avLst>
              <a:gd name="adj1" fmla="val 16200000"/>
              <a:gd name="adj2" fmla="val 228024"/>
            </a:avLst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8758B3-63DD-7F54-E423-C1A6D72A320D}"/>
              </a:ext>
            </a:extLst>
          </p:cNvPr>
          <p:cNvSpPr txBox="1"/>
          <p:nvPr/>
        </p:nvSpPr>
        <p:spPr>
          <a:xfrm>
            <a:off x="8179435" y="1667966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FF00"/>
                </a:solidFill>
                <a:latin typeface="Consolas" panose="020B0609020204030204" pitchFamily="49" charset="0"/>
              </a:rPr>
              <a:t>O(n)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92589D-01F8-E081-6EFA-994E3857E789}"/>
              </a:ext>
            </a:extLst>
          </p:cNvPr>
          <p:cNvSpPr txBox="1"/>
          <p:nvPr/>
        </p:nvSpPr>
        <p:spPr>
          <a:xfrm>
            <a:off x="9447153" y="3489146"/>
            <a:ext cx="24416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92D050"/>
                </a:solidFill>
                <a:latin typeface="Consolas" panose="020B0609020204030204" pitchFamily="49" charset="0"/>
              </a:rPr>
              <a:t>O(log n)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FCC477B-3E1B-A755-FF87-E30DDAC96404}"/>
              </a:ext>
            </a:extLst>
          </p:cNvPr>
          <p:cNvSpPr/>
          <p:nvPr/>
        </p:nvSpPr>
        <p:spPr>
          <a:xfrm>
            <a:off x="2109019" y="730045"/>
            <a:ext cx="4856961" cy="4675239"/>
          </a:xfrm>
          <a:custGeom>
            <a:avLst/>
            <a:gdLst>
              <a:gd name="csX0" fmla="*/ 0 w 4856961"/>
              <a:gd name="csY0" fmla="*/ 4675239 h 4675239"/>
              <a:gd name="csX1" fmla="*/ 4100052 w 4856961"/>
              <a:gd name="csY1" fmla="*/ 1932039 h 4675239"/>
              <a:gd name="csX2" fmla="*/ 4844846 w 4856961"/>
              <a:gd name="csY2" fmla="*/ 0 h 4675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56961" h="4675239">
                <a:moveTo>
                  <a:pt x="0" y="4675239"/>
                </a:moveTo>
                <a:cubicBezTo>
                  <a:pt x="1646289" y="3693242"/>
                  <a:pt x="3292578" y="2711245"/>
                  <a:pt x="4100052" y="1932039"/>
                </a:cubicBezTo>
                <a:cubicBezTo>
                  <a:pt x="4907526" y="1152833"/>
                  <a:pt x="4876186" y="576416"/>
                  <a:pt x="4844846" y="0"/>
                </a:cubicBezTo>
              </a:path>
            </a:pathLst>
          </a:cu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982E6D-3B32-139D-FF41-9A5BE47D8778}"/>
              </a:ext>
            </a:extLst>
          </p:cNvPr>
          <p:cNvSpPr txBox="1"/>
          <p:nvPr/>
        </p:nvSpPr>
        <p:spPr>
          <a:xfrm>
            <a:off x="7106498" y="148493"/>
            <a:ext cx="30059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C000"/>
                </a:solidFill>
                <a:latin typeface="Consolas" panose="020B0609020204030204" pitchFamily="49" charset="0"/>
              </a:rPr>
              <a:t>O(n log n)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E026FD-7FA5-CBF6-D743-8BC16781D1B8}"/>
              </a:ext>
            </a:extLst>
          </p:cNvPr>
          <p:cNvSpPr txBox="1"/>
          <p:nvPr/>
        </p:nvSpPr>
        <p:spPr>
          <a:xfrm>
            <a:off x="7177030" y="757567"/>
            <a:ext cx="31470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500" b="1" dirty="0">
                <a:solidFill>
                  <a:srgbClr val="FFC000"/>
                </a:solidFill>
                <a:latin typeface="Consolas" panose="020B0609020204030204" pitchFamily="49" charset="0"/>
              </a:rPr>
              <a:t>O(n log n)= quasilinear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500" b="1" dirty="0">
                <a:solidFill>
                  <a:srgbClr val="FFC000"/>
                </a:solidFill>
                <a:latin typeface="Consolas" panose="020B0609020204030204" pitchFamily="49" charset="0"/>
              </a:rPr>
              <a:t>quicksort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5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mergesort</a:t>
            </a:r>
            <a:endParaRPr lang="en-PH" sz="1500" b="1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500" b="1" dirty="0">
                <a:solidFill>
                  <a:srgbClr val="FFC000"/>
                </a:solidFill>
                <a:latin typeface="Consolas" panose="020B0609020204030204" pitchFamily="49" charset="0"/>
              </a:rPr>
              <a:t>heapsort</a:t>
            </a:r>
          </a:p>
        </p:txBody>
      </p:sp>
    </p:spTree>
    <p:extLst>
      <p:ext uri="{BB962C8B-B14F-4D97-AF65-F5344CB8AC3E}">
        <p14:creationId xmlns:p14="http://schemas.microsoft.com/office/powerpoint/2010/main" val="207655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3362E2-FA54-4262-AE94-2FA98FF8142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D61E20B-708A-4719-8C02-DA91A478A7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1370AF-26B9-4AFA-BA9D-5D4A7E1A67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1237</TotalTime>
  <Words>333</Words>
  <Application>Microsoft Office PowerPoint</Application>
  <PresentationFormat>Widescreen</PresentationFormat>
  <Paragraphs>275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Body</vt:lpstr>
      <vt:lpstr>Calibri Light</vt:lpstr>
      <vt:lpstr>Consolas</vt:lpstr>
      <vt:lpstr>Office Theme</vt:lpstr>
      <vt:lpstr>What is Quick Sort?</vt:lpstr>
      <vt:lpstr>What is Quick Sort?</vt:lpstr>
      <vt:lpstr>What is Quick Sort?</vt:lpstr>
      <vt:lpstr>What is Quick Sort?</vt:lpstr>
      <vt:lpstr>What is Quick Sort?</vt:lpstr>
      <vt:lpstr>What is Quick Sort?</vt:lpstr>
      <vt:lpstr>What is Quick Sort?</vt:lpstr>
      <vt:lpstr>What is Quick Sort?</vt:lpstr>
      <vt:lpstr>What is Quick Sort?</vt:lpstr>
      <vt:lpstr>What is Quick Sort?</vt:lpstr>
      <vt:lpstr>What is Quick Sort?</vt:lpstr>
      <vt:lpstr>What is Quick Sort?</vt:lpstr>
      <vt:lpstr>What is Quick Sort?</vt:lpstr>
      <vt:lpstr>What is Quick Sort?</vt:lpstr>
      <vt:lpstr>What is Quick Sort?</vt:lpstr>
      <vt:lpstr>What is Quick Sort?</vt:lpstr>
      <vt:lpstr>What is Quick Sort?</vt:lpstr>
      <vt:lpstr>What is Quick Sort?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149</cp:revision>
  <dcterms:created xsi:type="dcterms:W3CDTF">2022-05-11T03:47:05Z</dcterms:created>
  <dcterms:modified xsi:type="dcterms:W3CDTF">2026-07-14T01:49:41Z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</Properties>
</file>