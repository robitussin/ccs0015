
<file path=[Content_Types].xml><?xml version="1.0" encoding="utf-8"?>
<Types xmlns="http://schemas.openxmlformats.org/package/2006/content-types">
  <Default Extension="gif" ContentType="image/gi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2"/>
  </p:notesMasterIdLst>
  <p:sldIdLst>
    <p:sldId id="272" r:id="rId5"/>
    <p:sldId id="276" r:id="rId6"/>
    <p:sldId id="277" r:id="rId7"/>
    <p:sldId id="278" r:id="rId8"/>
    <p:sldId id="279" r:id="rId9"/>
    <p:sldId id="280" r:id="rId10"/>
    <p:sldId id="281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B5FF2ED-5567-445A-B3E0-3393544B04A6}" v="675" dt="2022-05-11T04:00:20.33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296" autoAdjust="0"/>
    <p:restoredTop sz="94131" autoAdjust="0"/>
  </p:normalViewPr>
  <p:slideViewPr>
    <p:cSldViewPr snapToGrid="0">
      <p:cViewPr varScale="1">
        <p:scale>
          <a:sx n="98" d="100"/>
          <a:sy n="98" d="100"/>
        </p:scale>
        <p:origin x="102" y="10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notesMaster" Target="notesMasters/notesMaster1.xml"/><Relationship Id="rId17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66E1FD-E7A0-497B-BBC0-740BAAC97C64}" type="datetimeFigureOut">
              <a:rPr lang="en-PH" smtClean="0"/>
              <a:t>14/07/2026</a:t>
            </a:fld>
            <a:endParaRPr lang="en-P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P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90CCE9-4AAE-4E1F-85AD-521A406D652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5598555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49916474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7258447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3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032317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4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4571217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5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73030166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6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89155661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6457D7-F06D-954A-F501-A4AE97460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BAA7AF-F153-27C2-2BF0-F9DB6684B6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BFB6E7-9431-72EC-2C48-C505190C22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8D14B9-C09A-B1E1-5CB8-E82A9217D7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7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5941091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DB1E6E-2408-484E-8979-2DB96F2F8A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947B426-68B8-4CB7-871C-5CC84E86C6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352935-9451-4839-96FB-E9A8FCCD6D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14/07/2026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68F784-7AF5-4560-BEFA-8C8096530B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498F6B-191E-4E4B-BE34-C76137125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1319347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87643-F5D7-48E2-ADAB-95C74CECF0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0FC6CC-B49B-452C-8E9C-808488E73C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CBF4EE-800F-479B-9D99-FD0B990C4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14/07/2026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A3E0ED-BABB-43F4-8ACF-6AB1C583C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B6B210-80B8-4EC4-A5DD-626DF3350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0896685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520E17-7239-452C-8B6C-2DE99BB75C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2621D8-37ED-476B-884F-26990A946C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2FE869-1B16-425A-9EFF-D1D147E64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14/07/2026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B7772C-84B9-4CA4-BC65-3D41F9D33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F6E878-86EF-4ABF-A7AD-65B43A873D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4126257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8D03AF-7534-49E0-B0A2-F0403B159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63158-1F78-4261-99A0-55F573DD043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B12B8E-1661-462B-A00C-FE1078E5F2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6763DF-E084-447E-A488-9F9D328A97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14/07/2026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46663E-C0B8-407A-9C08-AD7A14CDF0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444692-F2BB-4F15-9AC6-1D337C5F6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0524838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724591-52D4-4A6A-81FF-CF9B69DD3D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D74561-7712-4BE5-B42C-1DF224123B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C6369D-C1D0-4A4F-85B0-DC21BD7E9C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0D26301-7EFA-4E2D-8E37-01989EDE45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568D5A3-0863-4C19-8CDF-E5F63800924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61BD46F-0A9D-4A21-A809-A8A4915A71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14/07/2026</a:t>
            </a:fld>
            <a:endParaRPr lang="en-P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B3FE40-3AE1-4501-BD99-5BB30AA8E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19DB7BF-E7E2-4599-93C1-314862B49E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7955437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7BA4B7-5BD0-45CE-A3AB-0BDAEBCB2F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5317F3A-B35D-4332-A083-A8EA82A8CC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14/07/2026</a:t>
            </a:fld>
            <a:endParaRPr lang="en-P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55D1BAA-3C55-422C-9DDB-C8FA246675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545CCC-0421-4BC8-A428-7D6891975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7610498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4A8D164-8317-4375-AC20-4E5ECFBC83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14/07/2026</a:t>
            </a:fld>
            <a:endParaRPr lang="en-P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E65B31-8161-47C0-B8D2-02FC9D0635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8A5A49-C1DE-4043-9C4E-CA88B7D930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4745070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441128-45F1-4E37-A76C-48135B4B5A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A6B574-F2D0-4A1E-971A-951AD113FF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4A9BF5-4AAF-46A8-9307-3E49D1DC7F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84D477-7EF0-4092-A585-C8B452D869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14/07/2026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2B03C4-61D6-4E97-BF6A-97F6832773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1C0268-0C31-4494-872A-FF14572B0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1445693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91858D-F4CE-4847-9F4E-96911B7263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112DC33-E4BE-4D59-8A3E-E5C8C7FEA82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662A18-4E8B-44E0-95B0-48E49B06BB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83A010-3289-4BEF-9BA6-B9291ECCA3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14/07/2026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F1841C-B8D0-4564-AB48-104684286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8FD835-28F9-4C9B-8DEF-1C8AF7C19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8691813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1C9526-6B4B-4B7C-836C-CA5ECFEE18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2D3F895-13B7-4F09-8F2B-7C7B281BDC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ED4FF3-605C-448B-ABE0-7A159B7B3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14/07/2026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D10917-6EAA-48EE-AE32-E15F33FCA1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451C44-2EAE-49AE-A864-682DEB3D8E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9694157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BCFD600-C7E3-42EE-9735-2FE3EDE7764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6C80727-2711-434B-AEFB-9E214673EC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B47950-A376-49E5-A09E-DEAA9AD59B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14/07/2026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D8641F-5631-4BB0-94A8-CB1A2D78F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056033-BC76-47F3-AA32-F159420DFD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2688496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1E2D0B8-307D-483C-BA2C-9A8A459E49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75D10E-5C2B-4972-BF7B-F957546074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2C434A-E16E-4577-B5A4-C633EF521A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CF0B81-6BD8-4C65-9459-815598C5F1F4}" type="datetimeFigureOut">
              <a:rPr lang="en-PH" smtClean="0"/>
              <a:t>14/07/2026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9472F3-C75B-4412-A75D-AF542B82AF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0A6DE4-6572-40B4-8CEF-D76FDC9FDC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1868130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gi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773" y="497150"/>
            <a:ext cx="9935227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What is Merge Sort?</a:t>
            </a:r>
            <a:endParaRPr lang="en-PH" b="1" dirty="0">
              <a:solidFill>
                <a:srgbClr val="00B050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444037F-B658-D82C-5DCA-53E8AA1493D7}"/>
              </a:ext>
            </a:extLst>
          </p:cNvPr>
          <p:cNvSpPr txBox="1">
            <a:spLocks/>
          </p:cNvSpPr>
          <p:nvPr/>
        </p:nvSpPr>
        <p:spPr>
          <a:xfrm>
            <a:off x="1524000" y="1516449"/>
            <a:ext cx="9144000" cy="4290585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000" dirty="0"/>
          </a:p>
          <a:p>
            <a:pPr algn="l"/>
            <a:endParaRPr lang="en-US" sz="3000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879887DE-B428-5BE2-2F47-C61D85B0141C}"/>
              </a:ext>
            </a:extLst>
          </p:cNvPr>
          <p:cNvSpPr txBox="1">
            <a:spLocks/>
          </p:cNvSpPr>
          <p:nvPr/>
        </p:nvSpPr>
        <p:spPr>
          <a:xfrm>
            <a:off x="1001037" y="1215609"/>
            <a:ext cx="10803698" cy="169365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2400" dirty="0">
              <a:solidFill>
                <a:schemeClr val="bg1"/>
              </a:solidFill>
              <a:latin typeface="Calibri (Body)"/>
            </a:endParaRPr>
          </a:p>
          <a:p>
            <a:pPr algn="l"/>
            <a:r>
              <a:rPr lang="en-US" sz="2400" dirty="0">
                <a:solidFill>
                  <a:schemeClr val="bg1"/>
                </a:solidFill>
                <a:latin typeface="Calibri (Body)"/>
              </a:rPr>
              <a:t>Merge Sort </a:t>
            </a:r>
            <a:r>
              <a:rPr lang="en-US" sz="2400" b="0" i="0" dirty="0">
                <a:solidFill>
                  <a:schemeClr val="bg1"/>
                </a:solidFill>
                <a:effectLst/>
                <a:latin typeface="Calibri (Body)"/>
              </a:rPr>
              <a:t>is based on the principle of </a:t>
            </a:r>
            <a:r>
              <a:rPr lang="en-US" sz="2400" b="1" i="0" u="none" strike="noStrike" dirty="0">
                <a:solidFill>
                  <a:srgbClr val="00B0F0"/>
                </a:solidFill>
                <a:effectLst/>
                <a:latin typeface="Calibri (Body)"/>
              </a:rPr>
              <a:t>Divide and Conquer Algorithm</a:t>
            </a:r>
            <a:r>
              <a:rPr lang="en-US" sz="2400" b="1" i="0" dirty="0">
                <a:solidFill>
                  <a:srgbClr val="00B0F0"/>
                </a:solidFill>
                <a:effectLst/>
                <a:latin typeface="Calibri (Body)"/>
              </a:rPr>
              <a:t> </a:t>
            </a:r>
            <a:r>
              <a:rPr lang="en-US" sz="2400" i="0" dirty="0">
                <a:solidFill>
                  <a:schemeClr val="bg1"/>
                </a:solidFill>
                <a:effectLst/>
                <a:latin typeface="Calibri (Body)"/>
              </a:rPr>
              <a:t>where</a:t>
            </a:r>
            <a:r>
              <a:rPr lang="en-US" sz="2400" b="1" i="0" dirty="0">
                <a:solidFill>
                  <a:schemeClr val="bg1"/>
                </a:solidFill>
                <a:effectLst/>
                <a:latin typeface="Calibri (Body)"/>
              </a:rPr>
              <a:t> </a:t>
            </a:r>
            <a:r>
              <a:rPr lang="en-US" sz="2400" b="0" i="0" dirty="0">
                <a:solidFill>
                  <a:schemeClr val="bg1"/>
                </a:solidFill>
                <a:effectLst/>
                <a:latin typeface="Calibri (Body)"/>
              </a:rPr>
              <a:t>a problem is divided into multiple sub-problems.</a:t>
            </a:r>
          </a:p>
          <a:p>
            <a:pPr algn="l"/>
            <a:endParaRPr lang="en-US" sz="2400" dirty="0">
              <a:solidFill>
                <a:schemeClr val="bg1"/>
              </a:solidFill>
              <a:latin typeface="Calibri (Body)"/>
            </a:endParaRPr>
          </a:p>
          <a:p>
            <a:pPr algn="l"/>
            <a:r>
              <a:rPr lang="en-US" sz="2400" b="0" i="0" dirty="0">
                <a:solidFill>
                  <a:schemeClr val="bg1"/>
                </a:solidFill>
                <a:effectLst/>
                <a:latin typeface="Calibri (Body)"/>
              </a:rPr>
              <a:t>Each sub-problem is solved individually. Finally, sub-problems are combined to form the final solution.</a:t>
            </a:r>
            <a:endParaRPr lang="en-US" sz="2400" dirty="0">
              <a:solidFill>
                <a:schemeClr val="bg1"/>
              </a:solidFill>
              <a:latin typeface="Calibri (Body)"/>
            </a:endParaRPr>
          </a:p>
        </p:txBody>
      </p:sp>
      <p:pic>
        <p:nvPicPr>
          <p:cNvPr id="8" name="Picture 7" descr="A number line with black text&#10;&#10;Description automatically generated with medium confidence">
            <a:extLst>
              <a:ext uri="{FF2B5EF4-FFF2-40B4-BE49-F238E27FC236}">
                <a16:creationId xmlns:a16="http://schemas.microsoft.com/office/drawing/2014/main" id="{6D9C589F-F2C1-B4F7-7217-1A09E7C2098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89124" y="3135737"/>
            <a:ext cx="4781442" cy="28688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64498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773" y="497150"/>
            <a:ext cx="9935227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Merge Sort</a:t>
            </a:r>
            <a:endParaRPr lang="en-PH" b="1" dirty="0">
              <a:solidFill>
                <a:srgbClr val="00B050"/>
              </a:solidFill>
            </a:endParaRP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88EEB7E7-64BF-C946-719E-E5B797E08993}"/>
              </a:ext>
            </a:extLst>
          </p:cNvPr>
          <p:cNvGrpSpPr/>
          <p:nvPr/>
        </p:nvGrpSpPr>
        <p:grpSpPr>
          <a:xfrm>
            <a:off x="6096000" y="3212917"/>
            <a:ext cx="2748542" cy="554281"/>
            <a:chOff x="6096000" y="3212917"/>
            <a:chExt cx="2748542" cy="554281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FD0AA2A2-7994-8FC5-2618-C72ED1A77804}"/>
                </a:ext>
              </a:extLst>
            </p:cNvPr>
            <p:cNvSpPr/>
            <p:nvPr/>
          </p:nvSpPr>
          <p:spPr>
            <a:xfrm>
              <a:off x="6096000" y="3212921"/>
              <a:ext cx="603773" cy="554277"/>
            </a:xfrm>
            <a:prstGeom prst="rect">
              <a:avLst/>
            </a:prstGeom>
          </p:spPr>
          <p:style>
            <a:lnRef idx="1">
              <a:schemeClr val="accent5"/>
            </a:lnRef>
            <a:fillRef idx="3">
              <a:schemeClr val="accent5"/>
            </a:fillRef>
            <a:effectRef idx="2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000" dirty="0"/>
                <a:t>8</a:t>
              </a:r>
              <a:endParaRPr lang="en-PH" sz="3000" dirty="0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03140CFA-DBAA-4EA0-CF78-83206A59056A}"/>
                </a:ext>
              </a:extLst>
            </p:cNvPr>
            <p:cNvSpPr/>
            <p:nvPr/>
          </p:nvSpPr>
          <p:spPr>
            <a:xfrm>
              <a:off x="6815639" y="3212918"/>
              <a:ext cx="603773" cy="554277"/>
            </a:xfrm>
            <a:prstGeom prst="rect">
              <a:avLst/>
            </a:prstGeom>
          </p:spPr>
          <p:style>
            <a:lnRef idx="1">
              <a:schemeClr val="accent5"/>
            </a:lnRef>
            <a:fillRef idx="3">
              <a:schemeClr val="accent5"/>
            </a:fillRef>
            <a:effectRef idx="2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000" dirty="0"/>
                <a:t>7</a:t>
              </a:r>
              <a:endParaRPr lang="en-PH" sz="3000" dirty="0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895C0247-A3F1-E0E1-7607-A547379BDF99}"/>
                </a:ext>
              </a:extLst>
            </p:cNvPr>
            <p:cNvSpPr/>
            <p:nvPr/>
          </p:nvSpPr>
          <p:spPr>
            <a:xfrm>
              <a:off x="7535278" y="3212918"/>
              <a:ext cx="603773" cy="554277"/>
            </a:xfrm>
            <a:prstGeom prst="rect">
              <a:avLst/>
            </a:prstGeom>
          </p:spPr>
          <p:style>
            <a:lnRef idx="1">
              <a:schemeClr val="accent5"/>
            </a:lnRef>
            <a:fillRef idx="3">
              <a:schemeClr val="accent5"/>
            </a:fillRef>
            <a:effectRef idx="2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000" dirty="0"/>
                <a:t>2</a:t>
              </a:r>
              <a:endParaRPr lang="en-PH" sz="3000" dirty="0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17C2F249-6564-13F0-427F-4674AA8313C6}"/>
                </a:ext>
              </a:extLst>
            </p:cNvPr>
            <p:cNvSpPr/>
            <p:nvPr/>
          </p:nvSpPr>
          <p:spPr>
            <a:xfrm>
              <a:off x="8240769" y="3212917"/>
              <a:ext cx="603773" cy="554277"/>
            </a:xfrm>
            <a:prstGeom prst="rect">
              <a:avLst/>
            </a:prstGeom>
          </p:spPr>
          <p:style>
            <a:lnRef idx="1">
              <a:schemeClr val="accent5"/>
            </a:lnRef>
            <a:fillRef idx="3">
              <a:schemeClr val="accent5"/>
            </a:fillRef>
            <a:effectRef idx="2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000" dirty="0"/>
                <a:t>4</a:t>
              </a:r>
              <a:endParaRPr lang="en-PH" sz="3000" dirty="0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DB648DE-E0A7-6B5B-3682-86CE313FB216}"/>
              </a:ext>
            </a:extLst>
          </p:cNvPr>
          <p:cNvGrpSpPr/>
          <p:nvPr/>
        </p:nvGrpSpPr>
        <p:grpSpPr>
          <a:xfrm>
            <a:off x="3241217" y="3212919"/>
            <a:ext cx="2753065" cy="554278"/>
            <a:chOff x="3241217" y="3212919"/>
            <a:chExt cx="2753065" cy="554278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5EF98C7-B38C-3D16-9C43-1895437B7919}"/>
                </a:ext>
              </a:extLst>
            </p:cNvPr>
            <p:cNvSpPr/>
            <p:nvPr/>
          </p:nvSpPr>
          <p:spPr>
            <a:xfrm>
              <a:off x="3241217" y="3212919"/>
              <a:ext cx="603773" cy="554277"/>
            </a:xfrm>
            <a:prstGeom prst="rect">
              <a:avLst/>
            </a:prstGeom>
          </p:spPr>
          <p:style>
            <a:lnRef idx="1">
              <a:schemeClr val="accent5"/>
            </a:lnRef>
            <a:fillRef idx="3">
              <a:schemeClr val="accent5"/>
            </a:fillRef>
            <a:effectRef idx="2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000" dirty="0"/>
                <a:t>6</a:t>
              </a:r>
              <a:endParaRPr lang="en-PH" sz="3000" dirty="0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F41A1F4-D74B-4F42-DEDD-2DD6A47F0A2F}"/>
                </a:ext>
              </a:extLst>
            </p:cNvPr>
            <p:cNvSpPr/>
            <p:nvPr/>
          </p:nvSpPr>
          <p:spPr>
            <a:xfrm>
              <a:off x="3960856" y="3212919"/>
              <a:ext cx="603773" cy="554277"/>
            </a:xfrm>
            <a:prstGeom prst="rect">
              <a:avLst/>
            </a:prstGeom>
          </p:spPr>
          <p:style>
            <a:lnRef idx="1">
              <a:schemeClr val="accent5"/>
            </a:lnRef>
            <a:fillRef idx="3">
              <a:schemeClr val="accent5"/>
            </a:fillRef>
            <a:effectRef idx="2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000" dirty="0"/>
                <a:t>5</a:t>
              </a:r>
              <a:endParaRPr lang="en-PH" sz="3000" dirty="0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7677A56D-A61F-A75B-F3E5-6BDAEC28525B}"/>
                </a:ext>
              </a:extLst>
            </p:cNvPr>
            <p:cNvSpPr/>
            <p:nvPr/>
          </p:nvSpPr>
          <p:spPr>
            <a:xfrm>
              <a:off x="4685018" y="3212920"/>
              <a:ext cx="603773" cy="554277"/>
            </a:xfrm>
            <a:prstGeom prst="rect">
              <a:avLst/>
            </a:prstGeom>
          </p:spPr>
          <p:style>
            <a:lnRef idx="1">
              <a:schemeClr val="accent5"/>
            </a:lnRef>
            <a:fillRef idx="3">
              <a:schemeClr val="accent5"/>
            </a:fillRef>
            <a:effectRef idx="2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000" dirty="0"/>
                <a:t>3</a:t>
              </a:r>
              <a:endParaRPr lang="en-PH" sz="3000" dirty="0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A37D5575-F612-A7DD-EFF7-E56FD97F9707}"/>
                </a:ext>
              </a:extLst>
            </p:cNvPr>
            <p:cNvSpPr/>
            <p:nvPr/>
          </p:nvSpPr>
          <p:spPr>
            <a:xfrm>
              <a:off x="5390509" y="3212919"/>
              <a:ext cx="603773" cy="554277"/>
            </a:xfrm>
            <a:prstGeom prst="rect">
              <a:avLst/>
            </a:prstGeom>
          </p:spPr>
          <p:style>
            <a:lnRef idx="1">
              <a:schemeClr val="accent5"/>
            </a:lnRef>
            <a:fillRef idx="3">
              <a:schemeClr val="accent5"/>
            </a:fillRef>
            <a:effectRef idx="2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000" dirty="0"/>
                <a:t>1</a:t>
              </a:r>
              <a:endParaRPr lang="en-PH" sz="3000" dirty="0"/>
            </a:p>
          </p:txBody>
        </p:sp>
      </p:grpSp>
    </p:spTree>
    <p:extLst>
      <p:ext uri="{BB962C8B-B14F-4D97-AF65-F5344CB8AC3E}">
        <p14:creationId xmlns:p14="http://schemas.microsoft.com/office/powerpoint/2010/main" val="15664671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95833E-6 3.7037E-6 L -0.05508 -0.26713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760" y="-13356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08333E-7 3.7037E-6 L 0.06484 -0.26806 " pathEditMode="relative" rAng="0" ptsTypes="AA">
                                      <p:cBhvr>
                                        <p:cTn id="8" dur="2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242" y="-1340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773" y="497150"/>
            <a:ext cx="9935227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Merge Sort</a:t>
            </a:r>
            <a:endParaRPr lang="en-PH" b="1" dirty="0">
              <a:solidFill>
                <a:srgbClr val="00B050"/>
              </a:solidFill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A86CA373-C06A-8303-EFB7-AB31293FAD77}"/>
              </a:ext>
            </a:extLst>
          </p:cNvPr>
          <p:cNvGrpSpPr/>
          <p:nvPr/>
        </p:nvGrpSpPr>
        <p:grpSpPr>
          <a:xfrm>
            <a:off x="6888041" y="1382843"/>
            <a:ext cx="1323412" cy="554280"/>
            <a:chOff x="6134362" y="1382843"/>
            <a:chExt cx="1323412" cy="554280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FD0AA2A2-7994-8FC5-2618-C72ED1A77804}"/>
                </a:ext>
              </a:extLst>
            </p:cNvPr>
            <p:cNvSpPr/>
            <p:nvPr/>
          </p:nvSpPr>
          <p:spPr>
            <a:xfrm>
              <a:off x="6134362" y="1382846"/>
              <a:ext cx="603773" cy="554277"/>
            </a:xfrm>
            <a:prstGeom prst="rect">
              <a:avLst/>
            </a:prstGeom>
          </p:spPr>
          <p:style>
            <a:lnRef idx="1">
              <a:schemeClr val="accent5"/>
            </a:lnRef>
            <a:fillRef idx="3">
              <a:schemeClr val="accent5"/>
            </a:fillRef>
            <a:effectRef idx="2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000" dirty="0"/>
                <a:t>8</a:t>
              </a:r>
              <a:endParaRPr lang="en-PH" sz="3000" dirty="0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03140CFA-DBAA-4EA0-CF78-83206A59056A}"/>
                </a:ext>
              </a:extLst>
            </p:cNvPr>
            <p:cNvSpPr/>
            <p:nvPr/>
          </p:nvSpPr>
          <p:spPr>
            <a:xfrm>
              <a:off x="6854001" y="1382843"/>
              <a:ext cx="603773" cy="554277"/>
            </a:xfrm>
            <a:prstGeom prst="rect">
              <a:avLst/>
            </a:prstGeom>
          </p:spPr>
          <p:style>
            <a:lnRef idx="1">
              <a:schemeClr val="accent5"/>
            </a:lnRef>
            <a:fillRef idx="3">
              <a:schemeClr val="accent5"/>
            </a:fillRef>
            <a:effectRef idx="2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000" dirty="0"/>
                <a:t>7</a:t>
              </a:r>
              <a:endParaRPr lang="en-PH" sz="3000" dirty="0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ECE18B22-0072-75D3-F2EC-0692B06228D8}"/>
              </a:ext>
            </a:extLst>
          </p:cNvPr>
          <p:cNvGrpSpPr/>
          <p:nvPr/>
        </p:nvGrpSpPr>
        <p:grpSpPr>
          <a:xfrm>
            <a:off x="8327319" y="1382842"/>
            <a:ext cx="1309264" cy="554278"/>
            <a:chOff x="7573640" y="1382842"/>
            <a:chExt cx="1309264" cy="554278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895C0247-A3F1-E0E1-7607-A547379BDF99}"/>
                </a:ext>
              </a:extLst>
            </p:cNvPr>
            <p:cNvSpPr/>
            <p:nvPr/>
          </p:nvSpPr>
          <p:spPr>
            <a:xfrm>
              <a:off x="7573640" y="1382843"/>
              <a:ext cx="603773" cy="554277"/>
            </a:xfrm>
            <a:prstGeom prst="rect">
              <a:avLst/>
            </a:prstGeom>
          </p:spPr>
          <p:style>
            <a:lnRef idx="1">
              <a:schemeClr val="accent5"/>
            </a:lnRef>
            <a:fillRef idx="3">
              <a:schemeClr val="accent5"/>
            </a:fillRef>
            <a:effectRef idx="2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000" dirty="0"/>
                <a:t>2</a:t>
              </a:r>
              <a:endParaRPr lang="en-PH" sz="3000" dirty="0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17C2F249-6564-13F0-427F-4674AA8313C6}"/>
                </a:ext>
              </a:extLst>
            </p:cNvPr>
            <p:cNvSpPr/>
            <p:nvPr/>
          </p:nvSpPr>
          <p:spPr>
            <a:xfrm>
              <a:off x="8279131" y="1382842"/>
              <a:ext cx="603773" cy="554277"/>
            </a:xfrm>
            <a:prstGeom prst="rect">
              <a:avLst/>
            </a:prstGeom>
          </p:spPr>
          <p:style>
            <a:lnRef idx="1">
              <a:schemeClr val="accent5"/>
            </a:lnRef>
            <a:fillRef idx="3">
              <a:schemeClr val="accent5"/>
            </a:fillRef>
            <a:effectRef idx="2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000" dirty="0"/>
                <a:t>4</a:t>
              </a:r>
              <a:endParaRPr lang="en-PH" sz="3000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4CCB616B-9E85-6672-696A-BBBB844065C6}"/>
              </a:ext>
            </a:extLst>
          </p:cNvPr>
          <p:cNvGrpSpPr/>
          <p:nvPr/>
        </p:nvGrpSpPr>
        <p:grpSpPr>
          <a:xfrm>
            <a:off x="2555417" y="1382846"/>
            <a:ext cx="1323412" cy="554277"/>
            <a:chOff x="2555417" y="1382846"/>
            <a:chExt cx="1323412" cy="554277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5EF98C7-B38C-3D16-9C43-1895437B7919}"/>
                </a:ext>
              </a:extLst>
            </p:cNvPr>
            <p:cNvSpPr/>
            <p:nvPr/>
          </p:nvSpPr>
          <p:spPr>
            <a:xfrm>
              <a:off x="2555417" y="1382846"/>
              <a:ext cx="603773" cy="554277"/>
            </a:xfrm>
            <a:prstGeom prst="rect">
              <a:avLst/>
            </a:prstGeom>
          </p:spPr>
          <p:style>
            <a:lnRef idx="1">
              <a:schemeClr val="accent5"/>
            </a:lnRef>
            <a:fillRef idx="3">
              <a:schemeClr val="accent5"/>
            </a:fillRef>
            <a:effectRef idx="2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000" dirty="0"/>
                <a:t>6</a:t>
              </a:r>
              <a:endParaRPr lang="en-PH" sz="3000" dirty="0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F41A1F4-D74B-4F42-DEDD-2DD6A47F0A2F}"/>
                </a:ext>
              </a:extLst>
            </p:cNvPr>
            <p:cNvSpPr/>
            <p:nvPr/>
          </p:nvSpPr>
          <p:spPr>
            <a:xfrm>
              <a:off x="3275056" y="1382846"/>
              <a:ext cx="603773" cy="554277"/>
            </a:xfrm>
            <a:prstGeom prst="rect">
              <a:avLst/>
            </a:prstGeom>
          </p:spPr>
          <p:style>
            <a:lnRef idx="1">
              <a:schemeClr val="accent5"/>
            </a:lnRef>
            <a:fillRef idx="3">
              <a:schemeClr val="accent5"/>
            </a:fillRef>
            <a:effectRef idx="2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000" dirty="0"/>
                <a:t>5</a:t>
              </a:r>
              <a:endParaRPr lang="en-PH" sz="3000" dirty="0"/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FEFD992A-87E5-3C5E-3865-2BAC49A03D08}"/>
              </a:ext>
            </a:extLst>
          </p:cNvPr>
          <p:cNvGrpSpPr/>
          <p:nvPr/>
        </p:nvGrpSpPr>
        <p:grpSpPr>
          <a:xfrm>
            <a:off x="3999218" y="1382846"/>
            <a:ext cx="1309264" cy="554278"/>
            <a:chOff x="3999218" y="1382846"/>
            <a:chExt cx="1309264" cy="554278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7677A56D-A61F-A75B-F3E5-6BDAEC28525B}"/>
                </a:ext>
              </a:extLst>
            </p:cNvPr>
            <p:cNvSpPr/>
            <p:nvPr/>
          </p:nvSpPr>
          <p:spPr>
            <a:xfrm>
              <a:off x="3999218" y="1382847"/>
              <a:ext cx="603773" cy="554277"/>
            </a:xfrm>
            <a:prstGeom prst="rect">
              <a:avLst/>
            </a:prstGeom>
          </p:spPr>
          <p:style>
            <a:lnRef idx="1">
              <a:schemeClr val="accent5"/>
            </a:lnRef>
            <a:fillRef idx="3">
              <a:schemeClr val="accent5"/>
            </a:fillRef>
            <a:effectRef idx="2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000" dirty="0"/>
                <a:t>3</a:t>
              </a:r>
              <a:endParaRPr lang="en-PH" sz="3000" dirty="0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A37D5575-F612-A7DD-EFF7-E56FD97F9707}"/>
                </a:ext>
              </a:extLst>
            </p:cNvPr>
            <p:cNvSpPr/>
            <p:nvPr/>
          </p:nvSpPr>
          <p:spPr>
            <a:xfrm>
              <a:off x="4704709" y="1382846"/>
              <a:ext cx="603773" cy="554277"/>
            </a:xfrm>
            <a:prstGeom prst="rect">
              <a:avLst/>
            </a:prstGeom>
          </p:spPr>
          <p:style>
            <a:lnRef idx="1">
              <a:schemeClr val="accent5"/>
            </a:lnRef>
            <a:fillRef idx="3">
              <a:schemeClr val="accent5"/>
            </a:fillRef>
            <a:effectRef idx="2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000" dirty="0"/>
                <a:t>1</a:t>
              </a:r>
              <a:endParaRPr lang="en-PH" sz="3000" dirty="0"/>
            </a:p>
          </p:txBody>
        </p:sp>
      </p:grpSp>
    </p:spTree>
    <p:extLst>
      <p:ext uri="{BB962C8B-B14F-4D97-AF65-F5344CB8AC3E}">
        <p14:creationId xmlns:p14="http://schemas.microsoft.com/office/powerpoint/2010/main" val="36430445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08333E-6 1.85185E-6 L -0.06133 0.09699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073" y="4838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6.25E-7 1.85185E-6 L -0.00286 0.09606 " pathEditMode="relative" rAng="0" ptsTypes="AA">
                                      <p:cBhvr>
                                        <p:cTn id="8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43" y="4792"/>
                                    </p:animMotion>
                                  </p:childTnLst>
                                </p:cTn>
                              </p:par>
                              <p:par>
                                <p:cTn id="9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8.33333E-7 1.85185E-6 L -0.00364 0.09791 " pathEditMode="relative" rAng="0" ptsTypes="AA">
                                      <p:cBhvr>
                                        <p:cTn id="10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82" y="4884"/>
                                    </p:animMotion>
                                  </p:childTnLst>
                                </p:cTn>
                              </p:par>
                              <p:par>
                                <p:cTn id="11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25E-6 1.85185E-6 L 0.06237 0.09514 " pathEditMode="relative" rAng="0" ptsTypes="AA">
                                      <p:cBhvr>
                                        <p:cTn id="12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112" y="474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773" y="497150"/>
            <a:ext cx="9935227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Merge Sort</a:t>
            </a:r>
            <a:endParaRPr lang="en-PH" b="1" dirty="0">
              <a:solidFill>
                <a:srgbClr val="00B050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D0AA2A2-7994-8FC5-2618-C72ED1A77804}"/>
              </a:ext>
            </a:extLst>
          </p:cNvPr>
          <p:cNvSpPr/>
          <p:nvPr/>
        </p:nvSpPr>
        <p:spPr>
          <a:xfrm>
            <a:off x="6889609" y="2084736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8</a:t>
            </a:r>
            <a:endParaRPr lang="en-PH" sz="300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3140CFA-DBAA-4EA0-CF78-83206A59056A}"/>
              </a:ext>
            </a:extLst>
          </p:cNvPr>
          <p:cNvSpPr/>
          <p:nvPr/>
        </p:nvSpPr>
        <p:spPr>
          <a:xfrm>
            <a:off x="7609248" y="2084733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7</a:t>
            </a:r>
            <a:endParaRPr lang="en-PH" sz="30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95C0247-A3F1-E0E1-7607-A547379BDF99}"/>
              </a:ext>
            </a:extLst>
          </p:cNvPr>
          <p:cNvSpPr/>
          <p:nvPr/>
        </p:nvSpPr>
        <p:spPr>
          <a:xfrm>
            <a:off x="9055514" y="2084733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2</a:t>
            </a:r>
            <a:endParaRPr lang="en-PH" sz="30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7C2F249-6564-13F0-427F-4674AA8313C6}"/>
              </a:ext>
            </a:extLst>
          </p:cNvPr>
          <p:cNvSpPr/>
          <p:nvPr/>
        </p:nvSpPr>
        <p:spPr>
          <a:xfrm>
            <a:off x="9761005" y="2084732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4</a:t>
            </a:r>
            <a:endParaRPr lang="en-PH" sz="30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5EF98C7-B38C-3D16-9C43-1895437B7919}"/>
              </a:ext>
            </a:extLst>
          </p:cNvPr>
          <p:cNvSpPr/>
          <p:nvPr/>
        </p:nvSpPr>
        <p:spPr>
          <a:xfrm>
            <a:off x="1813076" y="2084739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6</a:t>
            </a:r>
            <a:endParaRPr lang="en-PH" sz="30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F41A1F4-D74B-4F42-DEDD-2DD6A47F0A2F}"/>
              </a:ext>
            </a:extLst>
          </p:cNvPr>
          <p:cNvSpPr/>
          <p:nvPr/>
        </p:nvSpPr>
        <p:spPr>
          <a:xfrm>
            <a:off x="2532715" y="2084736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5</a:t>
            </a:r>
            <a:endParaRPr lang="en-PH" sz="30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677A56D-A61F-A75B-F3E5-6BDAEC28525B}"/>
              </a:ext>
            </a:extLst>
          </p:cNvPr>
          <p:cNvSpPr/>
          <p:nvPr/>
        </p:nvSpPr>
        <p:spPr>
          <a:xfrm>
            <a:off x="3993129" y="2084737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3</a:t>
            </a:r>
            <a:endParaRPr lang="en-PH" sz="30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37D5575-F612-A7DD-EFF7-E56FD97F9707}"/>
              </a:ext>
            </a:extLst>
          </p:cNvPr>
          <p:cNvSpPr/>
          <p:nvPr/>
        </p:nvSpPr>
        <p:spPr>
          <a:xfrm>
            <a:off x="4698620" y="2084736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1</a:t>
            </a:r>
            <a:endParaRPr lang="en-PH" sz="3000" dirty="0"/>
          </a:p>
        </p:txBody>
      </p:sp>
    </p:spTree>
    <p:extLst>
      <p:ext uri="{BB962C8B-B14F-4D97-AF65-F5344CB8AC3E}">
        <p14:creationId xmlns:p14="http://schemas.microsoft.com/office/powerpoint/2010/main" val="5264950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mph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1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1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1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1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875E-6 -2.96296E-6 L -0.06341 0.10486 " pathEditMode="relative" rAng="0" ptsTypes="AA">
                                      <p:cBhvr>
                                        <p:cTn id="18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177" y="5231"/>
                                    </p:animMotion>
                                  </p:childTnLst>
                                </p:cTn>
                              </p:par>
                              <p:par>
                                <p:cTn id="19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5E-6 -2.96296E-6 L 0.0582 0.10486 " pathEditMode="relative" rAng="0" ptsTypes="AA">
                                      <p:cBhvr>
                                        <p:cTn id="20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904" y="523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1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2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2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2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2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21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29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3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31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3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54167E-6 -2.96296E-6 L 0.05873 0.10486 " pathEditMode="relative" rAng="0" ptsTypes="AA">
                                      <p:cBhvr>
                                        <p:cTn id="36" dur="2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930" y="5231"/>
                                    </p:animMotion>
                                  </p:childTnLst>
                                </p:cTn>
                              </p:par>
                              <p:par>
                                <p:cTn id="37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75E-6 -2.96296E-6 L -0.05782 0.10486 " pathEditMode="relative" rAng="0" ptsTypes="AA">
                                      <p:cBhvr>
                                        <p:cTn id="38" dur="2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891" y="523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1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4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4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4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4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21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4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4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4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5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75E-6 -2.96296E-6 L 0.05821 0.10486 " pathEditMode="relative" rAng="0" ptsTypes="AA">
                                      <p:cBhvr>
                                        <p:cTn id="54" dur="2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904" y="5231"/>
                                    </p:animMotion>
                                  </p:childTnLst>
                                </p:cTn>
                              </p:par>
                              <p:par>
                                <p:cTn id="55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208 -0.01921 L -0.05781 0.10232 " pathEditMode="relative" rAng="0" ptsTypes="AA">
                                      <p:cBhvr>
                                        <p:cTn id="56" dur="2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995" y="606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1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60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6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6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6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21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6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6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6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6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6 -2.96296E-6 L 0.00078 0.10486 " pathEditMode="relative" rAng="0" ptsTypes="AA">
                                      <p:cBhvr>
                                        <p:cTn id="72" dur="2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9" y="5231"/>
                                    </p:animMotion>
                                  </p:childTnLst>
                                </p:cTn>
                              </p:par>
                              <p:par>
                                <p:cTn id="73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6.25E-7 -2.96296E-6 L 0.0013 0.10486 " pathEditMode="relative" rAng="0" ptsTypes="AA">
                                      <p:cBhvr>
                                        <p:cTn id="74" dur="2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5" y="523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5" grpId="1" animBg="1"/>
      <p:bldP spid="16" grpId="0" animBg="1"/>
      <p:bldP spid="16" grpId="1" animBg="1"/>
      <p:bldP spid="17" grpId="0" animBg="1"/>
      <p:bldP spid="17" grpId="1" animBg="1"/>
      <p:bldP spid="18" grpId="0" animBg="1"/>
      <p:bldP spid="18" grpId="1" animBg="1"/>
      <p:bldP spid="12" grpId="0" animBg="1"/>
      <p:bldP spid="12" grpId="1" animBg="1"/>
      <p:bldP spid="13" grpId="0" animBg="1"/>
      <p:bldP spid="13" grpId="1" animBg="1"/>
      <p:bldP spid="14" grpId="0" animBg="1"/>
      <p:bldP spid="14" grpId="1" animBg="1"/>
      <p:bldP spid="19" grpId="0" animBg="1"/>
      <p:bldP spid="19" grpId="1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773" y="497150"/>
            <a:ext cx="9935227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Merge Sort</a:t>
            </a:r>
            <a:endParaRPr lang="en-PH" b="1" dirty="0">
              <a:solidFill>
                <a:srgbClr val="00B050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D0AA2A2-7994-8FC5-2618-C72ED1A77804}"/>
              </a:ext>
            </a:extLst>
          </p:cNvPr>
          <p:cNvSpPr/>
          <p:nvPr/>
        </p:nvSpPr>
        <p:spPr>
          <a:xfrm>
            <a:off x="7595100" y="2783472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8</a:t>
            </a:r>
            <a:endParaRPr lang="en-PH" sz="300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3140CFA-DBAA-4EA0-CF78-83206A59056A}"/>
              </a:ext>
            </a:extLst>
          </p:cNvPr>
          <p:cNvSpPr/>
          <p:nvPr/>
        </p:nvSpPr>
        <p:spPr>
          <a:xfrm>
            <a:off x="6881463" y="2783472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7</a:t>
            </a:r>
            <a:endParaRPr lang="en-PH" sz="30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95C0247-A3F1-E0E1-7607-A547379BDF99}"/>
              </a:ext>
            </a:extLst>
          </p:cNvPr>
          <p:cNvSpPr/>
          <p:nvPr/>
        </p:nvSpPr>
        <p:spPr>
          <a:xfrm>
            <a:off x="9056160" y="2817419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2</a:t>
            </a:r>
            <a:endParaRPr lang="en-PH" sz="30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7C2F249-6564-13F0-427F-4674AA8313C6}"/>
              </a:ext>
            </a:extLst>
          </p:cNvPr>
          <p:cNvSpPr/>
          <p:nvPr/>
        </p:nvSpPr>
        <p:spPr>
          <a:xfrm>
            <a:off x="9769797" y="2817419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4</a:t>
            </a:r>
            <a:endParaRPr lang="en-PH" sz="30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5EF98C7-B38C-3D16-9C43-1895437B7919}"/>
              </a:ext>
            </a:extLst>
          </p:cNvPr>
          <p:cNvSpPr/>
          <p:nvPr/>
        </p:nvSpPr>
        <p:spPr>
          <a:xfrm>
            <a:off x="2606707" y="2783474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6</a:t>
            </a:r>
            <a:endParaRPr lang="en-PH" sz="30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F41A1F4-D74B-4F42-DEDD-2DD6A47F0A2F}"/>
              </a:ext>
            </a:extLst>
          </p:cNvPr>
          <p:cNvSpPr/>
          <p:nvPr/>
        </p:nvSpPr>
        <p:spPr>
          <a:xfrm>
            <a:off x="1845519" y="2783472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5</a:t>
            </a:r>
            <a:endParaRPr lang="en-PH" sz="30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677A56D-A61F-A75B-F3E5-6BDAEC28525B}"/>
              </a:ext>
            </a:extLst>
          </p:cNvPr>
          <p:cNvSpPr/>
          <p:nvPr/>
        </p:nvSpPr>
        <p:spPr>
          <a:xfrm>
            <a:off x="4706766" y="2783473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3</a:t>
            </a:r>
            <a:endParaRPr lang="en-PH" sz="30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37D5575-F612-A7DD-EFF7-E56FD97F9707}"/>
              </a:ext>
            </a:extLst>
          </p:cNvPr>
          <p:cNvSpPr/>
          <p:nvPr/>
        </p:nvSpPr>
        <p:spPr>
          <a:xfrm>
            <a:off x="3993129" y="2783474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1</a:t>
            </a:r>
            <a:endParaRPr lang="en-PH" sz="3000" dirty="0"/>
          </a:p>
        </p:txBody>
      </p:sp>
    </p:spTree>
    <p:extLst>
      <p:ext uri="{BB962C8B-B14F-4D97-AF65-F5344CB8AC3E}">
        <p14:creationId xmlns:p14="http://schemas.microsoft.com/office/powerpoint/2010/main" val="42279126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1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1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1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1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1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21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1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1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1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1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21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21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2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2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2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54167E-6 3.7037E-6 L -0.1194 0.10486 " pathEditMode="relative" rAng="0" ptsTypes="AA">
                                      <p:cBhvr>
                                        <p:cTn id="28" dur="2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977" y="523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70833E-6 3.7037E-6 L -0.11641 0.10486 " pathEditMode="relative" rAng="0" ptsTypes="AA">
                                      <p:cBhvr>
                                        <p:cTn id="32" dur="2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820" y="523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547 0.00115 L 0.17839 0.10625 " pathEditMode="relative" rAng="0" ptsTypes="AA">
                                      <p:cBhvr>
                                        <p:cTn id="36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9193" y="525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66667E-6 3.7037E-6 L 0.17331 0.10486 " pathEditMode="relative" rAng="0" ptsTypes="AA">
                                      <p:cBhvr>
                                        <p:cTn id="40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8659" y="523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1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4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4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4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4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21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4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5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5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5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21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5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5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5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5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21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5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6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61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62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875E-6 2.59259E-6 L -0.17682 0.10486 " pathEditMode="relative" rAng="0" ptsTypes="AA">
                                      <p:cBhvr>
                                        <p:cTn id="66" dur="2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8841" y="523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66667E-6 2.59259E-6 L -0.17786 0.10486 " pathEditMode="relative" rAng="0" ptsTypes="AA">
                                      <p:cBhvr>
                                        <p:cTn id="70" dur="2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8893" y="523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0833E-6 3.7037E-6 L 0.11693 0.10486 " pathEditMode="relative" rAng="0" ptsTypes="AA">
                                      <p:cBhvr>
                                        <p:cTn id="74" dur="2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846" y="523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75E-6 3.7037E-6 L 0.12005 0.10486 " pathEditMode="relative" rAng="0" ptsTypes="AA">
                                      <p:cBhvr>
                                        <p:cTn id="78" dur="2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003" y="523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5" grpId="1" animBg="1"/>
      <p:bldP spid="16" grpId="0" animBg="1"/>
      <p:bldP spid="16" grpId="1" animBg="1"/>
      <p:bldP spid="17" grpId="0" animBg="1"/>
      <p:bldP spid="17" grpId="1" animBg="1"/>
      <p:bldP spid="18" grpId="0" animBg="1"/>
      <p:bldP spid="18" grpId="1" animBg="1"/>
      <p:bldP spid="12" grpId="0" animBg="1"/>
      <p:bldP spid="12" grpId="1" animBg="1"/>
      <p:bldP spid="13" grpId="0" animBg="1"/>
      <p:bldP spid="13" grpId="1" animBg="1"/>
      <p:bldP spid="14" grpId="0" animBg="1"/>
      <p:bldP spid="14" grpId="1" animBg="1"/>
      <p:bldP spid="19" grpId="0" animBg="1"/>
      <p:bldP spid="19" grpId="1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773" y="497150"/>
            <a:ext cx="9935227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Merge Sort</a:t>
            </a:r>
            <a:endParaRPr lang="en-PH" b="1" dirty="0">
              <a:solidFill>
                <a:srgbClr val="00B050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D0AA2A2-7994-8FC5-2618-C72ED1A77804}"/>
              </a:ext>
            </a:extLst>
          </p:cNvPr>
          <p:cNvSpPr/>
          <p:nvPr/>
        </p:nvSpPr>
        <p:spPr>
          <a:xfrm>
            <a:off x="9019399" y="3520246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8</a:t>
            </a:r>
            <a:endParaRPr lang="en-PH" sz="300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3140CFA-DBAA-4EA0-CF78-83206A59056A}"/>
              </a:ext>
            </a:extLst>
          </p:cNvPr>
          <p:cNvSpPr/>
          <p:nvPr/>
        </p:nvSpPr>
        <p:spPr>
          <a:xfrm>
            <a:off x="8342697" y="3520246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7</a:t>
            </a:r>
            <a:endParaRPr lang="en-PH" sz="30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95C0247-A3F1-E0E1-7607-A547379BDF99}"/>
              </a:ext>
            </a:extLst>
          </p:cNvPr>
          <p:cNvSpPr/>
          <p:nvPr/>
        </p:nvSpPr>
        <p:spPr>
          <a:xfrm>
            <a:off x="6864570" y="3534920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2</a:t>
            </a:r>
            <a:endParaRPr lang="en-PH" sz="30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7C2F249-6564-13F0-427F-4674AA8313C6}"/>
              </a:ext>
            </a:extLst>
          </p:cNvPr>
          <p:cNvSpPr/>
          <p:nvPr/>
        </p:nvSpPr>
        <p:spPr>
          <a:xfrm>
            <a:off x="7541272" y="3534920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4</a:t>
            </a:r>
            <a:endParaRPr lang="en-PH" sz="30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5EF98C7-B38C-3D16-9C43-1895437B7919}"/>
              </a:ext>
            </a:extLst>
          </p:cNvPr>
          <p:cNvSpPr/>
          <p:nvPr/>
        </p:nvSpPr>
        <p:spPr>
          <a:xfrm>
            <a:off x="4709741" y="3520248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6</a:t>
            </a:r>
            <a:endParaRPr lang="en-PH" sz="30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F41A1F4-D74B-4F42-DEDD-2DD6A47F0A2F}"/>
              </a:ext>
            </a:extLst>
          </p:cNvPr>
          <p:cNvSpPr/>
          <p:nvPr/>
        </p:nvSpPr>
        <p:spPr>
          <a:xfrm>
            <a:off x="3960110" y="3520249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5</a:t>
            </a:r>
            <a:endParaRPr lang="en-PH" sz="30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677A56D-A61F-A75B-F3E5-6BDAEC28525B}"/>
              </a:ext>
            </a:extLst>
          </p:cNvPr>
          <p:cNvSpPr/>
          <p:nvPr/>
        </p:nvSpPr>
        <p:spPr>
          <a:xfrm>
            <a:off x="3283408" y="3520250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3</a:t>
            </a:r>
            <a:endParaRPr lang="en-PH" sz="30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37D5575-F612-A7DD-EFF7-E56FD97F9707}"/>
              </a:ext>
            </a:extLst>
          </p:cNvPr>
          <p:cNvSpPr/>
          <p:nvPr/>
        </p:nvSpPr>
        <p:spPr>
          <a:xfrm>
            <a:off x="2606706" y="3520250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1</a:t>
            </a:r>
            <a:endParaRPr lang="en-PH" sz="3000" dirty="0"/>
          </a:p>
        </p:txBody>
      </p:sp>
      <p:sp>
        <p:nvSpPr>
          <p:cNvPr id="5" name="7-Point Star 4">
            <a:extLst>
              <a:ext uri="{FF2B5EF4-FFF2-40B4-BE49-F238E27FC236}">
                <a16:creationId xmlns:a16="http://schemas.microsoft.com/office/drawing/2014/main" id="{DBBBEA51-166E-CED9-8052-462F9556D668}"/>
              </a:ext>
            </a:extLst>
          </p:cNvPr>
          <p:cNvSpPr/>
          <p:nvPr/>
        </p:nvSpPr>
        <p:spPr>
          <a:xfrm>
            <a:off x="4160174" y="1215609"/>
            <a:ext cx="3080423" cy="1905831"/>
          </a:xfrm>
          <a:prstGeom prst="star7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Sorting Finished!</a:t>
            </a:r>
            <a:endParaRPr lang="en-PH" sz="3000" dirty="0"/>
          </a:p>
        </p:txBody>
      </p:sp>
    </p:spTree>
    <p:extLst>
      <p:ext uri="{BB962C8B-B14F-4D97-AF65-F5344CB8AC3E}">
        <p14:creationId xmlns:p14="http://schemas.microsoft.com/office/powerpoint/2010/main" val="42429499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6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9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1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1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1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1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1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66667E-6 -3.7037E-6 L 0.05508 0.20973 " pathEditMode="relative" rAng="0" ptsTypes="AA">
                                      <p:cBhvr>
                                        <p:cTn id="18" dur="2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747" y="1048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16667E-7 2.96296E-6 L -0.23685 0.20393 " pathEditMode="relative" rAng="0" ptsTypes="AA">
                                      <p:cBhvr>
                                        <p:cTn id="22" dur="2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849" y="1018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1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2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2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2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2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16667E-7 -3.7037E-6 L 0.11706 0.20486 " pathEditMode="relative" rAng="0" ptsTypes="AA">
                                      <p:cBhvr>
                                        <p:cTn id="33" dur="2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846" y="1023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1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3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3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3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4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8.33333E-7 2.96296E-6 L -0.17266 0.20648 " pathEditMode="relative" rAng="0" ptsTypes="AA">
                                      <p:cBhvr>
                                        <p:cTn id="44" dur="2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8633" y="1032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1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4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4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5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5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6.25E-7 -3.7037E-6 L 0.18034 0.20486 " pathEditMode="relative" rAng="0" ptsTypes="AA">
                                      <p:cBhvr>
                                        <p:cTn id="55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9010" y="1023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1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5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6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6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6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29167E-6 -3.7037E-6 L 0.17695 0.20348 " pathEditMode="relative" rAng="0" ptsTypes="AA">
                                      <p:cBhvr>
                                        <p:cTn id="66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8841" y="1016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1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7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7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7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7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375E-6 -3.7037E-6 L -0.06158 0.20602 " pathEditMode="relative" rAng="0" ptsTypes="AA">
                                      <p:cBhvr>
                                        <p:cTn id="77" dur="2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086" y="1030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1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81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8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8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8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33333E-6 -3.7037E-6 L -0.05703 0.20348 " pathEditMode="relative" rAng="0" ptsTypes="AA">
                                      <p:cBhvr>
                                        <p:cTn id="88" dur="2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852" y="1016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5" grpId="1" animBg="1"/>
      <p:bldP spid="16" grpId="0" animBg="1"/>
      <p:bldP spid="16" grpId="1" animBg="1"/>
      <p:bldP spid="17" grpId="0" animBg="1"/>
      <p:bldP spid="17" grpId="1" animBg="1"/>
      <p:bldP spid="18" grpId="0" animBg="1"/>
      <p:bldP spid="18" grpId="1" animBg="1"/>
      <p:bldP spid="12" grpId="0" animBg="1"/>
      <p:bldP spid="12" grpId="1" animBg="1"/>
      <p:bldP spid="13" grpId="0" animBg="1"/>
      <p:bldP spid="13" grpId="1" animBg="1"/>
      <p:bldP spid="14" grpId="0" animBg="1"/>
      <p:bldP spid="14" grpId="1" animBg="1"/>
      <p:bldP spid="19" grpId="0" animBg="1"/>
      <p:bldP spid="19" grpId="1" animBg="1"/>
      <p:bldP spid="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81A3857-05C9-DF70-5082-F8F1F6CF2B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EF3D6FC-928F-8722-49BA-978FB9EF189A}"/>
              </a:ext>
            </a:extLst>
          </p:cNvPr>
          <p:cNvCxnSpPr/>
          <p:nvPr/>
        </p:nvCxnSpPr>
        <p:spPr>
          <a:xfrm>
            <a:off x="1968500" y="5486400"/>
            <a:ext cx="8020050" cy="0"/>
          </a:xfrm>
          <a:prstGeom prst="straightConnector1">
            <a:avLst/>
          </a:prstGeom>
          <a:ln w="762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92D7644-C02C-A6A1-5CAD-D640091628F5}"/>
              </a:ext>
            </a:extLst>
          </p:cNvPr>
          <p:cNvCxnSpPr>
            <a:cxnSpLocks/>
          </p:cNvCxnSpPr>
          <p:nvPr/>
        </p:nvCxnSpPr>
        <p:spPr>
          <a:xfrm flipV="1">
            <a:off x="1968500" y="327025"/>
            <a:ext cx="0" cy="5197475"/>
          </a:xfrm>
          <a:prstGeom prst="straightConnector1">
            <a:avLst/>
          </a:prstGeom>
          <a:ln w="762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8054C5A5-CB79-B3FF-1404-53676939D1B0}"/>
              </a:ext>
            </a:extLst>
          </p:cNvPr>
          <p:cNvSpPr txBox="1"/>
          <p:nvPr/>
        </p:nvSpPr>
        <p:spPr>
          <a:xfrm>
            <a:off x="5321935" y="5652964"/>
            <a:ext cx="131318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>
                <a:solidFill>
                  <a:schemeClr val="bg1"/>
                </a:solidFill>
                <a:latin typeface="Consolas" panose="020B0609020204030204" pitchFamily="49" charset="0"/>
              </a:rPr>
              <a:t>data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32D9963-CCCF-AE66-4C6D-7D2F29610522}"/>
              </a:ext>
            </a:extLst>
          </p:cNvPr>
          <p:cNvSpPr txBox="1"/>
          <p:nvPr/>
        </p:nvSpPr>
        <p:spPr>
          <a:xfrm rot="5400000" flipH="1">
            <a:off x="513467" y="2571819"/>
            <a:ext cx="131318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>
                <a:solidFill>
                  <a:schemeClr val="bg1"/>
                </a:solidFill>
                <a:latin typeface="Consolas" panose="020B0609020204030204" pitchFamily="49" charset="0"/>
              </a:rPr>
              <a:t>time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99DF266-054C-26F3-67C0-87FB85CB232A}"/>
              </a:ext>
            </a:extLst>
          </p:cNvPr>
          <p:cNvCxnSpPr>
            <a:cxnSpLocks/>
          </p:cNvCxnSpPr>
          <p:nvPr/>
        </p:nvCxnSpPr>
        <p:spPr>
          <a:xfrm flipV="1">
            <a:off x="1968500" y="2125981"/>
            <a:ext cx="5925820" cy="3322320"/>
          </a:xfrm>
          <a:prstGeom prst="straightConnector1">
            <a:avLst/>
          </a:prstGeom>
          <a:ln w="76200">
            <a:solidFill>
              <a:srgbClr val="FFFF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Arc 10">
            <a:extLst>
              <a:ext uri="{FF2B5EF4-FFF2-40B4-BE49-F238E27FC236}">
                <a16:creationId xmlns:a16="http://schemas.microsoft.com/office/drawing/2014/main" id="{2032B1D6-6A53-888D-DE60-09BC031AFC9E}"/>
              </a:ext>
            </a:extLst>
          </p:cNvPr>
          <p:cNvSpPr/>
          <p:nvPr/>
        </p:nvSpPr>
        <p:spPr>
          <a:xfrm rot="16200000">
            <a:off x="7532684" y="-1535115"/>
            <a:ext cx="2933704" cy="13852525"/>
          </a:xfrm>
          <a:prstGeom prst="arc">
            <a:avLst>
              <a:gd name="adj1" fmla="val 16200000"/>
              <a:gd name="adj2" fmla="val 228024"/>
            </a:avLst>
          </a:prstGeom>
          <a:ln w="76200"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B6196A7-6A90-1770-B53F-6517D14BBDB2}"/>
              </a:ext>
            </a:extLst>
          </p:cNvPr>
          <p:cNvSpPr txBox="1"/>
          <p:nvPr/>
        </p:nvSpPr>
        <p:spPr>
          <a:xfrm>
            <a:off x="8179435" y="1667966"/>
            <a:ext cx="131318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>
                <a:solidFill>
                  <a:srgbClr val="FFFF00"/>
                </a:solidFill>
                <a:latin typeface="Consolas" panose="020B0609020204030204" pitchFamily="49" charset="0"/>
              </a:rPr>
              <a:t>O(n)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B98DC71-193A-85DC-A6D1-F022E0F7A03E}"/>
              </a:ext>
            </a:extLst>
          </p:cNvPr>
          <p:cNvSpPr txBox="1"/>
          <p:nvPr/>
        </p:nvSpPr>
        <p:spPr>
          <a:xfrm>
            <a:off x="9447153" y="3489146"/>
            <a:ext cx="244169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>
                <a:solidFill>
                  <a:srgbClr val="92D050"/>
                </a:solidFill>
                <a:latin typeface="Consolas" panose="020B0609020204030204" pitchFamily="49" charset="0"/>
              </a:rPr>
              <a:t>O(log n)</a:t>
            </a:r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F4581BAA-5C04-48A0-E56B-57EF522E34ED}"/>
              </a:ext>
            </a:extLst>
          </p:cNvPr>
          <p:cNvSpPr/>
          <p:nvPr/>
        </p:nvSpPr>
        <p:spPr>
          <a:xfrm>
            <a:off x="2109019" y="730045"/>
            <a:ext cx="4856961" cy="4675239"/>
          </a:xfrm>
          <a:custGeom>
            <a:avLst/>
            <a:gdLst>
              <a:gd name="csX0" fmla="*/ 0 w 4856961"/>
              <a:gd name="csY0" fmla="*/ 4675239 h 4675239"/>
              <a:gd name="csX1" fmla="*/ 4100052 w 4856961"/>
              <a:gd name="csY1" fmla="*/ 1932039 h 4675239"/>
              <a:gd name="csX2" fmla="*/ 4844846 w 4856961"/>
              <a:gd name="csY2" fmla="*/ 0 h 467523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56961" h="4675239">
                <a:moveTo>
                  <a:pt x="0" y="4675239"/>
                </a:moveTo>
                <a:cubicBezTo>
                  <a:pt x="1646289" y="3693242"/>
                  <a:pt x="3292578" y="2711245"/>
                  <a:pt x="4100052" y="1932039"/>
                </a:cubicBezTo>
                <a:cubicBezTo>
                  <a:pt x="4907526" y="1152833"/>
                  <a:pt x="4876186" y="576416"/>
                  <a:pt x="4844846" y="0"/>
                </a:cubicBezTo>
              </a:path>
            </a:pathLst>
          </a:custGeom>
          <a:noFill/>
          <a:ln w="762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6CD7FF9-0B60-A3B6-4992-19CC96EC9B68}"/>
              </a:ext>
            </a:extLst>
          </p:cNvPr>
          <p:cNvSpPr txBox="1"/>
          <p:nvPr/>
        </p:nvSpPr>
        <p:spPr>
          <a:xfrm>
            <a:off x="7106498" y="148493"/>
            <a:ext cx="300595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4000" b="1" dirty="0">
                <a:solidFill>
                  <a:srgbClr val="FFC000"/>
                </a:solidFill>
                <a:latin typeface="Consolas" panose="020B0609020204030204" pitchFamily="49" charset="0"/>
              </a:rPr>
              <a:t>O(n log n)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012E617-4FDE-DBE3-719D-E92AE8D92EE9}"/>
              </a:ext>
            </a:extLst>
          </p:cNvPr>
          <p:cNvSpPr txBox="1"/>
          <p:nvPr/>
        </p:nvSpPr>
        <p:spPr>
          <a:xfrm>
            <a:off x="7177030" y="757567"/>
            <a:ext cx="314701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sz="1500" b="1" dirty="0">
                <a:solidFill>
                  <a:srgbClr val="FFC000"/>
                </a:solidFill>
                <a:latin typeface="Consolas" panose="020B0609020204030204" pitchFamily="49" charset="0"/>
              </a:rPr>
              <a:t>O(n log n)= quasilinear time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PH" sz="1500" b="1" dirty="0">
                <a:solidFill>
                  <a:srgbClr val="FFC000"/>
                </a:solidFill>
                <a:latin typeface="Consolas" panose="020B0609020204030204" pitchFamily="49" charset="0"/>
              </a:rPr>
              <a:t>quicksort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PH" sz="1500" b="1" dirty="0" err="1">
                <a:solidFill>
                  <a:srgbClr val="FFC000"/>
                </a:solidFill>
                <a:latin typeface="Consolas" panose="020B0609020204030204" pitchFamily="49" charset="0"/>
              </a:rPr>
              <a:t>mergesort</a:t>
            </a:r>
            <a:endParaRPr lang="en-PH" sz="1500" b="1" dirty="0">
              <a:solidFill>
                <a:srgbClr val="FFC000"/>
              </a:solidFill>
              <a:latin typeface="Consolas" panose="020B0609020204030204" pitchFamily="49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PH" sz="1500" b="1" dirty="0">
                <a:solidFill>
                  <a:srgbClr val="FFC000"/>
                </a:solidFill>
                <a:latin typeface="Consolas" panose="020B0609020204030204" pitchFamily="49" charset="0"/>
              </a:rPr>
              <a:t>heapsort</a:t>
            </a:r>
          </a:p>
        </p:txBody>
      </p:sp>
    </p:spTree>
    <p:extLst>
      <p:ext uri="{BB962C8B-B14F-4D97-AF65-F5344CB8AC3E}">
        <p14:creationId xmlns:p14="http://schemas.microsoft.com/office/powerpoint/2010/main" val="1695173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/>
      <p:bldP spid="24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188BDCA587B344BBA6CB1A93FAE6998" ma:contentTypeVersion="2" ma:contentTypeDescription="Create a new document." ma:contentTypeScope="" ma:versionID="7a8e4b6720badb2566a0cfeddfaf2856">
  <xsd:schema xmlns:xsd="http://www.w3.org/2001/XMLSchema" xmlns:xs="http://www.w3.org/2001/XMLSchema" xmlns:p="http://schemas.microsoft.com/office/2006/metadata/properties" xmlns:ns2="ba111d12-426d-4af0-bcb6-460e36974645" targetNamespace="http://schemas.microsoft.com/office/2006/metadata/properties" ma:root="true" ma:fieldsID="989b05398519136c88ba0a8d54e3c3da" ns2:_="">
    <xsd:import namespace="ba111d12-426d-4af0-bcb6-460e3697464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a111d12-426d-4af0-bcb6-460e3697464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3D61E20B-708A-4719-8C02-DA91A478A7A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a111d12-426d-4af0-bcb6-460e3697464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651370AF-26B9-4AFA-BA9D-5D4A7E1A672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A3362E2-FA54-4262-AE94-2FA98FF8142D}">
  <ds:schemaRefs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1204</TotalTime>
  <Words>131</Words>
  <Application>Microsoft Office PowerPoint</Application>
  <PresentationFormat>Widescreen</PresentationFormat>
  <Paragraphs>71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Arial</vt:lpstr>
      <vt:lpstr>Calibri</vt:lpstr>
      <vt:lpstr>Calibri (Body)</vt:lpstr>
      <vt:lpstr>Calibri Light</vt:lpstr>
      <vt:lpstr>Consolas</vt:lpstr>
      <vt:lpstr>Office Theme</vt:lpstr>
      <vt:lpstr>What is Merge Sort?</vt:lpstr>
      <vt:lpstr>Merge Sort</vt:lpstr>
      <vt:lpstr>Merge Sort</vt:lpstr>
      <vt:lpstr>Merge Sort</vt:lpstr>
      <vt:lpstr>Merge Sort</vt:lpstr>
      <vt:lpstr>Merge Sort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SLY Ponio</dc:creator>
  <cp:lastModifiedBy>SLY Ponio</cp:lastModifiedBy>
  <cp:revision>157</cp:revision>
  <dcterms:created xsi:type="dcterms:W3CDTF">2022-05-11T03:47:05Z</dcterms:created>
  <dcterms:modified xsi:type="dcterms:W3CDTF">2026-07-14T01:47:46Z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0x0101007188BDCA587B344BBA6CB1A93FAE6998</vt:lpwstr>
  </property>
</Properties>
</file>