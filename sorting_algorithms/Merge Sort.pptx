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2"/>
  </p:notesMasterIdLst>
  <p:sldIdLst>
    <p:sldId id="272" r:id="rId5"/>
    <p:sldId id="276" r:id="rId6"/>
    <p:sldId id="277" r:id="rId7"/>
    <p:sldId id="278" r:id="rId8"/>
    <p:sldId id="279" r:id="rId9"/>
    <p:sldId id="280" r:id="rId10"/>
    <p:sldId id="28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96" autoAdjust="0"/>
    <p:restoredTop sz="94131" autoAdjust="0"/>
  </p:normalViewPr>
  <p:slideViewPr>
    <p:cSldViewPr snapToGrid="0">
      <p:cViewPr varScale="1">
        <p:scale>
          <a:sx n="117" d="100"/>
          <a:sy n="117" d="100"/>
        </p:scale>
        <p:origin x="30" y="5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991647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5844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32317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57121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30301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915566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457D7-F06D-954A-F501-A4AE97460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BAA7AF-F153-27C2-2BF0-F9DB6684B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BFB6E7-9431-72EC-2C48-C505190C2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8D14B9-C09A-B1E1-5CB8-E82A9217D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94109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</a:t>
            </a:r>
            <a:r>
              <a:rPr lang="en-US" b="1"/>
              <a:t>is Merge </a:t>
            </a:r>
            <a:r>
              <a:rPr lang="en-US" b="1" dirty="0"/>
              <a:t>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79887DE-B428-5BE2-2F47-C61D85B0141C}"/>
              </a:ext>
            </a:extLst>
          </p:cNvPr>
          <p:cNvSpPr txBox="1">
            <a:spLocks/>
          </p:cNvSpPr>
          <p:nvPr/>
        </p:nvSpPr>
        <p:spPr>
          <a:xfrm>
            <a:off x="1001037" y="1215609"/>
            <a:ext cx="10803698" cy="169365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2400" dirty="0">
              <a:latin typeface="Calibri (Body)"/>
            </a:endParaRPr>
          </a:p>
          <a:p>
            <a:pPr algn="l"/>
            <a:r>
              <a:rPr lang="en-US" sz="2400" dirty="0">
                <a:latin typeface="Calibri (Body)"/>
              </a:rPr>
              <a:t>Merge Sort </a:t>
            </a:r>
            <a:r>
              <a:rPr lang="en-US" sz="2400" b="0" i="0" dirty="0">
                <a:effectLst/>
                <a:latin typeface="Calibri (Body)"/>
              </a:rPr>
              <a:t>is based on the principle of </a:t>
            </a:r>
            <a:r>
              <a:rPr lang="en-US" sz="2400" b="1" i="0" u="none" strike="noStrike" dirty="0">
                <a:solidFill>
                  <a:srgbClr val="00B0F0"/>
                </a:solidFill>
                <a:effectLst/>
                <a:latin typeface="Calibri (Body)"/>
              </a:rPr>
              <a:t>Divide and Conquer Algorithm</a:t>
            </a:r>
            <a:r>
              <a:rPr lang="en-US" sz="2400" b="1" i="0" dirty="0">
                <a:solidFill>
                  <a:srgbClr val="00B0F0"/>
                </a:solidFill>
                <a:effectLst/>
                <a:latin typeface="Calibri (Body)"/>
              </a:rPr>
              <a:t> </a:t>
            </a:r>
            <a:r>
              <a:rPr lang="en-US" sz="2400" i="0" dirty="0">
                <a:effectLst/>
                <a:latin typeface="Calibri (Body)"/>
              </a:rPr>
              <a:t>where</a:t>
            </a:r>
            <a:r>
              <a:rPr lang="en-US" sz="2400" b="1" i="0" dirty="0">
                <a:effectLst/>
                <a:latin typeface="Calibri (Body)"/>
              </a:rPr>
              <a:t> </a:t>
            </a:r>
            <a:r>
              <a:rPr lang="en-US" sz="2400" b="0" i="0" dirty="0">
                <a:effectLst/>
                <a:latin typeface="Calibri (Body)"/>
              </a:rPr>
              <a:t>a problem is divided into multiple sub-problems.</a:t>
            </a:r>
          </a:p>
          <a:p>
            <a:pPr algn="l"/>
            <a:endParaRPr lang="en-US" sz="2400" dirty="0">
              <a:latin typeface="Calibri (Body)"/>
            </a:endParaRPr>
          </a:p>
          <a:p>
            <a:pPr algn="l"/>
            <a:r>
              <a:rPr lang="en-US" sz="2400" b="0" i="0" dirty="0">
                <a:effectLst/>
                <a:latin typeface="Calibri (Body)"/>
              </a:rPr>
              <a:t>Each sub-problem is solved individually. Finally, sub-problems are combined to form the final solution.</a:t>
            </a:r>
            <a:endParaRPr lang="en-US" sz="2400" dirty="0">
              <a:latin typeface="Calibri (Body)"/>
            </a:endParaRPr>
          </a:p>
        </p:txBody>
      </p:sp>
      <p:pic>
        <p:nvPicPr>
          <p:cNvPr id="8" name="Picture 7" descr="A number line with black text&#10;&#10;Description automatically generated with medium confidence">
            <a:extLst>
              <a:ext uri="{FF2B5EF4-FFF2-40B4-BE49-F238E27FC236}">
                <a16:creationId xmlns:a16="http://schemas.microsoft.com/office/drawing/2014/main" id="{6D9C589F-F2C1-B4F7-7217-1A09E7C209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9124" y="3135737"/>
            <a:ext cx="4781442" cy="286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449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Merge Sort</a:t>
            </a:r>
            <a:endParaRPr lang="en-PH" b="1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8EEB7E7-64BF-C946-719E-E5B797E08993}"/>
              </a:ext>
            </a:extLst>
          </p:cNvPr>
          <p:cNvGrpSpPr/>
          <p:nvPr/>
        </p:nvGrpSpPr>
        <p:grpSpPr>
          <a:xfrm>
            <a:off x="6096000" y="3212917"/>
            <a:ext cx="2748542" cy="554281"/>
            <a:chOff x="6096000" y="3212917"/>
            <a:chExt cx="2748542" cy="55428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D0AA2A2-7994-8FC5-2618-C72ED1A77804}"/>
                </a:ext>
              </a:extLst>
            </p:cNvPr>
            <p:cNvSpPr/>
            <p:nvPr/>
          </p:nvSpPr>
          <p:spPr>
            <a:xfrm>
              <a:off x="6096000" y="3212921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8</a:t>
              </a:r>
              <a:endParaRPr lang="en-PH" sz="30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3140CFA-DBAA-4EA0-CF78-83206A59056A}"/>
                </a:ext>
              </a:extLst>
            </p:cNvPr>
            <p:cNvSpPr/>
            <p:nvPr/>
          </p:nvSpPr>
          <p:spPr>
            <a:xfrm>
              <a:off x="6815639" y="3212918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7</a:t>
              </a:r>
              <a:endParaRPr lang="en-PH" sz="300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95C0247-A3F1-E0E1-7607-A547379BDF99}"/>
                </a:ext>
              </a:extLst>
            </p:cNvPr>
            <p:cNvSpPr/>
            <p:nvPr/>
          </p:nvSpPr>
          <p:spPr>
            <a:xfrm>
              <a:off x="7535278" y="3212918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2</a:t>
              </a:r>
              <a:endParaRPr lang="en-PH" sz="3000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7C2F249-6564-13F0-427F-4674AA8313C6}"/>
                </a:ext>
              </a:extLst>
            </p:cNvPr>
            <p:cNvSpPr/>
            <p:nvPr/>
          </p:nvSpPr>
          <p:spPr>
            <a:xfrm>
              <a:off x="8240769" y="3212917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4</a:t>
              </a:r>
              <a:endParaRPr lang="en-PH" sz="30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B648DE-E0A7-6B5B-3682-86CE313FB216}"/>
              </a:ext>
            </a:extLst>
          </p:cNvPr>
          <p:cNvGrpSpPr/>
          <p:nvPr/>
        </p:nvGrpSpPr>
        <p:grpSpPr>
          <a:xfrm>
            <a:off x="3241217" y="3212919"/>
            <a:ext cx="2753065" cy="554278"/>
            <a:chOff x="3241217" y="3212919"/>
            <a:chExt cx="2753065" cy="55427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5EF98C7-B38C-3D16-9C43-1895437B7919}"/>
                </a:ext>
              </a:extLst>
            </p:cNvPr>
            <p:cNvSpPr/>
            <p:nvPr/>
          </p:nvSpPr>
          <p:spPr>
            <a:xfrm>
              <a:off x="3241217" y="3212919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6</a:t>
              </a:r>
              <a:endParaRPr lang="en-PH" sz="3000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F41A1F4-D74B-4F42-DEDD-2DD6A47F0A2F}"/>
                </a:ext>
              </a:extLst>
            </p:cNvPr>
            <p:cNvSpPr/>
            <p:nvPr/>
          </p:nvSpPr>
          <p:spPr>
            <a:xfrm>
              <a:off x="3960856" y="3212919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5</a:t>
              </a:r>
              <a:endParaRPr lang="en-PH" sz="30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677A56D-A61F-A75B-F3E5-6BDAEC28525B}"/>
                </a:ext>
              </a:extLst>
            </p:cNvPr>
            <p:cNvSpPr/>
            <p:nvPr/>
          </p:nvSpPr>
          <p:spPr>
            <a:xfrm>
              <a:off x="4685018" y="3212920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3</a:t>
              </a:r>
              <a:endParaRPr lang="en-PH" sz="3000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37D5575-F612-A7DD-EFF7-E56FD97F9707}"/>
                </a:ext>
              </a:extLst>
            </p:cNvPr>
            <p:cNvSpPr/>
            <p:nvPr/>
          </p:nvSpPr>
          <p:spPr>
            <a:xfrm>
              <a:off x="5390509" y="3212919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1</a:t>
              </a:r>
              <a:endParaRPr lang="en-PH" sz="3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66467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3.7037E-6 L -0.05508 -0.2671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60" y="-1335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3.7037E-6 L 0.06484 -0.2680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242" y="-1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Merge Sort</a:t>
            </a:r>
            <a:endParaRPr lang="en-PH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86CA373-C06A-8303-EFB7-AB31293FAD77}"/>
              </a:ext>
            </a:extLst>
          </p:cNvPr>
          <p:cNvGrpSpPr/>
          <p:nvPr/>
        </p:nvGrpSpPr>
        <p:grpSpPr>
          <a:xfrm>
            <a:off x="6888041" y="1382843"/>
            <a:ext cx="1323412" cy="554280"/>
            <a:chOff x="6134362" y="1382843"/>
            <a:chExt cx="1323412" cy="55428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D0AA2A2-7994-8FC5-2618-C72ED1A77804}"/>
                </a:ext>
              </a:extLst>
            </p:cNvPr>
            <p:cNvSpPr/>
            <p:nvPr/>
          </p:nvSpPr>
          <p:spPr>
            <a:xfrm>
              <a:off x="6134362" y="1382846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8</a:t>
              </a:r>
              <a:endParaRPr lang="en-PH" sz="30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3140CFA-DBAA-4EA0-CF78-83206A59056A}"/>
                </a:ext>
              </a:extLst>
            </p:cNvPr>
            <p:cNvSpPr/>
            <p:nvPr/>
          </p:nvSpPr>
          <p:spPr>
            <a:xfrm>
              <a:off x="6854001" y="1382843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7</a:t>
              </a:r>
              <a:endParaRPr lang="en-PH" sz="3000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CE18B22-0072-75D3-F2EC-0692B06228D8}"/>
              </a:ext>
            </a:extLst>
          </p:cNvPr>
          <p:cNvGrpSpPr/>
          <p:nvPr/>
        </p:nvGrpSpPr>
        <p:grpSpPr>
          <a:xfrm>
            <a:off x="8327319" y="1382842"/>
            <a:ext cx="1309264" cy="554278"/>
            <a:chOff x="7573640" y="1382842"/>
            <a:chExt cx="1309264" cy="554278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95C0247-A3F1-E0E1-7607-A547379BDF99}"/>
                </a:ext>
              </a:extLst>
            </p:cNvPr>
            <p:cNvSpPr/>
            <p:nvPr/>
          </p:nvSpPr>
          <p:spPr>
            <a:xfrm>
              <a:off x="7573640" y="1382843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2</a:t>
              </a:r>
              <a:endParaRPr lang="en-PH" sz="3000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7C2F249-6564-13F0-427F-4674AA8313C6}"/>
                </a:ext>
              </a:extLst>
            </p:cNvPr>
            <p:cNvSpPr/>
            <p:nvPr/>
          </p:nvSpPr>
          <p:spPr>
            <a:xfrm>
              <a:off x="8279131" y="1382842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4</a:t>
              </a:r>
              <a:endParaRPr lang="en-PH" sz="3000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CCB616B-9E85-6672-696A-BBBB844065C6}"/>
              </a:ext>
            </a:extLst>
          </p:cNvPr>
          <p:cNvGrpSpPr/>
          <p:nvPr/>
        </p:nvGrpSpPr>
        <p:grpSpPr>
          <a:xfrm>
            <a:off x="2555417" y="1382846"/>
            <a:ext cx="1323412" cy="554277"/>
            <a:chOff x="2555417" y="1382846"/>
            <a:chExt cx="1323412" cy="55427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5EF98C7-B38C-3D16-9C43-1895437B7919}"/>
                </a:ext>
              </a:extLst>
            </p:cNvPr>
            <p:cNvSpPr/>
            <p:nvPr/>
          </p:nvSpPr>
          <p:spPr>
            <a:xfrm>
              <a:off x="2555417" y="1382846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6</a:t>
              </a:r>
              <a:endParaRPr lang="en-PH" sz="3000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F41A1F4-D74B-4F42-DEDD-2DD6A47F0A2F}"/>
                </a:ext>
              </a:extLst>
            </p:cNvPr>
            <p:cNvSpPr/>
            <p:nvPr/>
          </p:nvSpPr>
          <p:spPr>
            <a:xfrm>
              <a:off x="3275056" y="1382846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5</a:t>
              </a:r>
              <a:endParaRPr lang="en-PH" sz="30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EFD992A-87E5-3C5E-3865-2BAC49A03D08}"/>
              </a:ext>
            </a:extLst>
          </p:cNvPr>
          <p:cNvGrpSpPr/>
          <p:nvPr/>
        </p:nvGrpSpPr>
        <p:grpSpPr>
          <a:xfrm>
            <a:off x="3999218" y="1382846"/>
            <a:ext cx="1309264" cy="554278"/>
            <a:chOff x="3999218" y="1382846"/>
            <a:chExt cx="1309264" cy="55427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677A56D-A61F-A75B-F3E5-6BDAEC28525B}"/>
                </a:ext>
              </a:extLst>
            </p:cNvPr>
            <p:cNvSpPr/>
            <p:nvPr/>
          </p:nvSpPr>
          <p:spPr>
            <a:xfrm>
              <a:off x="3999218" y="1382847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3</a:t>
              </a:r>
              <a:endParaRPr lang="en-PH" sz="3000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37D5575-F612-A7DD-EFF7-E56FD97F9707}"/>
                </a:ext>
              </a:extLst>
            </p:cNvPr>
            <p:cNvSpPr/>
            <p:nvPr/>
          </p:nvSpPr>
          <p:spPr>
            <a:xfrm>
              <a:off x="4704709" y="1382846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1</a:t>
              </a:r>
              <a:endParaRPr lang="en-PH" sz="3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43044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1.85185E-6 L -0.06133 0.0969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73" y="483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1.85185E-6 L -0.00286 0.0960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3" y="4792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1.85185E-6 L -0.00364 0.09791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4884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1.85185E-6 L 0.06237 0.09514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12" y="47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Merge Sort</a:t>
            </a:r>
            <a:endParaRPr lang="en-PH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0AA2A2-7994-8FC5-2618-C72ED1A77804}"/>
              </a:ext>
            </a:extLst>
          </p:cNvPr>
          <p:cNvSpPr/>
          <p:nvPr/>
        </p:nvSpPr>
        <p:spPr>
          <a:xfrm>
            <a:off x="6889609" y="208473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140CFA-DBAA-4EA0-CF78-83206A59056A}"/>
              </a:ext>
            </a:extLst>
          </p:cNvPr>
          <p:cNvSpPr/>
          <p:nvPr/>
        </p:nvSpPr>
        <p:spPr>
          <a:xfrm>
            <a:off x="7609248" y="208473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5C0247-A3F1-E0E1-7607-A547379BDF99}"/>
              </a:ext>
            </a:extLst>
          </p:cNvPr>
          <p:cNvSpPr/>
          <p:nvPr/>
        </p:nvSpPr>
        <p:spPr>
          <a:xfrm>
            <a:off x="9055514" y="208473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C2F249-6564-13F0-427F-4674AA8313C6}"/>
              </a:ext>
            </a:extLst>
          </p:cNvPr>
          <p:cNvSpPr/>
          <p:nvPr/>
        </p:nvSpPr>
        <p:spPr>
          <a:xfrm>
            <a:off x="9761005" y="208473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EF98C7-B38C-3D16-9C43-1895437B7919}"/>
              </a:ext>
            </a:extLst>
          </p:cNvPr>
          <p:cNvSpPr/>
          <p:nvPr/>
        </p:nvSpPr>
        <p:spPr>
          <a:xfrm>
            <a:off x="1813076" y="2084739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41A1F4-D74B-4F42-DEDD-2DD6A47F0A2F}"/>
              </a:ext>
            </a:extLst>
          </p:cNvPr>
          <p:cNvSpPr/>
          <p:nvPr/>
        </p:nvSpPr>
        <p:spPr>
          <a:xfrm>
            <a:off x="2532715" y="208473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77A56D-A61F-A75B-F3E5-6BDAEC28525B}"/>
              </a:ext>
            </a:extLst>
          </p:cNvPr>
          <p:cNvSpPr/>
          <p:nvPr/>
        </p:nvSpPr>
        <p:spPr>
          <a:xfrm>
            <a:off x="3993129" y="2084737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7D5575-F612-A7DD-EFF7-E56FD97F9707}"/>
              </a:ext>
            </a:extLst>
          </p:cNvPr>
          <p:cNvSpPr/>
          <p:nvPr/>
        </p:nvSpPr>
        <p:spPr>
          <a:xfrm>
            <a:off x="4698620" y="208473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526495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2.96296E-6 L -0.06341 0.10486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77" y="5231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2.96296E-6 L 0.0582 0.1048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04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3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4167E-6 -2.96296E-6 L 0.05873 0.10486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30" y="5231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-2.96296E-6 L -0.05782 0.10486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91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-2.96296E-6 L 0.05821 0.10486 " pathEditMode="relative" rAng="0" ptsTypes="AA">
                                      <p:cBhvr>
                                        <p:cTn id="5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04" y="5231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08 -0.01921 L -0.05781 0.10232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95" y="606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2.96296E-6 L 0.00078 0.10486 " pathEditMode="relative" rAng="0" ptsTypes="AA">
                                      <p:cBhvr>
                                        <p:cTn id="72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" y="5231"/>
                                    </p:animMotion>
                                  </p:childTnLst>
                                </p:cTn>
                              </p:par>
                              <p:par>
                                <p:cTn id="7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-2.96296E-6 L 0.0013 0.10486 " pathEditMode="relative" rAng="0" ptsTypes="AA">
                                      <p:cBhvr>
                                        <p:cTn id="74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9" grpId="0" animBg="1"/>
      <p:bldP spid="19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Merge Sort</a:t>
            </a:r>
            <a:endParaRPr lang="en-PH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0AA2A2-7994-8FC5-2618-C72ED1A77804}"/>
              </a:ext>
            </a:extLst>
          </p:cNvPr>
          <p:cNvSpPr/>
          <p:nvPr/>
        </p:nvSpPr>
        <p:spPr>
          <a:xfrm>
            <a:off x="7595100" y="2783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140CFA-DBAA-4EA0-CF78-83206A59056A}"/>
              </a:ext>
            </a:extLst>
          </p:cNvPr>
          <p:cNvSpPr/>
          <p:nvPr/>
        </p:nvSpPr>
        <p:spPr>
          <a:xfrm>
            <a:off x="6881463" y="2783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5C0247-A3F1-E0E1-7607-A547379BDF99}"/>
              </a:ext>
            </a:extLst>
          </p:cNvPr>
          <p:cNvSpPr/>
          <p:nvPr/>
        </p:nvSpPr>
        <p:spPr>
          <a:xfrm>
            <a:off x="9056160" y="2817419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C2F249-6564-13F0-427F-4674AA8313C6}"/>
              </a:ext>
            </a:extLst>
          </p:cNvPr>
          <p:cNvSpPr/>
          <p:nvPr/>
        </p:nvSpPr>
        <p:spPr>
          <a:xfrm>
            <a:off x="9769797" y="2817419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EF98C7-B38C-3D16-9C43-1895437B7919}"/>
              </a:ext>
            </a:extLst>
          </p:cNvPr>
          <p:cNvSpPr/>
          <p:nvPr/>
        </p:nvSpPr>
        <p:spPr>
          <a:xfrm>
            <a:off x="2606707" y="2783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41A1F4-D74B-4F42-DEDD-2DD6A47F0A2F}"/>
              </a:ext>
            </a:extLst>
          </p:cNvPr>
          <p:cNvSpPr/>
          <p:nvPr/>
        </p:nvSpPr>
        <p:spPr>
          <a:xfrm>
            <a:off x="1845519" y="2783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77A56D-A61F-A75B-F3E5-6BDAEC28525B}"/>
              </a:ext>
            </a:extLst>
          </p:cNvPr>
          <p:cNvSpPr/>
          <p:nvPr/>
        </p:nvSpPr>
        <p:spPr>
          <a:xfrm>
            <a:off x="4706766" y="2783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7D5575-F612-A7DD-EFF7-E56FD97F9707}"/>
              </a:ext>
            </a:extLst>
          </p:cNvPr>
          <p:cNvSpPr/>
          <p:nvPr/>
        </p:nvSpPr>
        <p:spPr>
          <a:xfrm>
            <a:off x="3993129" y="2783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4227912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4167E-6 3.7037E-6 L -0.1194 0.10486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977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3.7037E-6 L -0.11641 0.10486 " pathEditMode="relative" rAng="0" ptsTypes="AA">
                                      <p:cBhvr>
                                        <p:cTn id="32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820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547 0.00115 L 0.17839 0.10625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525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3.7037E-6 L 0.17331 0.10486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659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4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6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2.59259E-6 L -0.17682 0.10486 " pathEditMode="relative" rAng="0" ptsTypes="AA">
                                      <p:cBhvr>
                                        <p:cTn id="66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841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2.59259E-6 L -0.17786 0.10486 " pathEditMode="relative" rAng="0" ptsTypes="AA">
                                      <p:cBhvr>
                                        <p:cTn id="70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893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3.7037E-6 L 0.11693 0.10486 " pathEditMode="relative" rAng="0" ptsTypes="AA">
                                      <p:cBhvr>
                                        <p:cTn id="74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46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3.7037E-6 L 0.12005 0.10486 " pathEditMode="relative" rAng="0" ptsTypes="AA">
                                      <p:cBhvr>
                                        <p:cTn id="78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003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9" grpId="0" animBg="1"/>
      <p:bldP spid="19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Merge Sort</a:t>
            </a:r>
            <a:endParaRPr lang="en-PH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0AA2A2-7994-8FC5-2618-C72ED1A77804}"/>
              </a:ext>
            </a:extLst>
          </p:cNvPr>
          <p:cNvSpPr/>
          <p:nvPr/>
        </p:nvSpPr>
        <p:spPr>
          <a:xfrm>
            <a:off x="9019399" y="352024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140CFA-DBAA-4EA0-CF78-83206A59056A}"/>
              </a:ext>
            </a:extLst>
          </p:cNvPr>
          <p:cNvSpPr/>
          <p:nvPr/>
        </p:nvSpPr>
        <p:spPr>
          <a:xfrm>
            <a:off x="8342697" y="352024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5C0247-A3F1-E0E1-7607-A547379BDF99}"/>
              </a:ext>
            </a:extLst>
          </p:cNvPr>
          <p:cNvSpPr/>
          <p:nvPr/>
        </p:nvSpPr>
        <p:spPr>
          <a:xfrm>
            <a:off x="6864570" y="3534920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C2F249-6564-13F0-427F-4674AA8313C6}"/>
              </a:ext>
            </a:extLst>
          </p:cNvPr>
          <p:cNvSpPr/>
          <p:nvPr/>
        </p:nvSpPr>
        <p:spPr>
          <a:xfrm>
            <a:off x="7541272" y="3534920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EF98C7-B38C-3D16-9C43-1895437B7919}"/>
              </a:ext>
            </a:extLst>
          </p:cNvPr>
          <p:cNvSpPr/>
          <p:nvPr/>
        </p:nvSpPr>
        <p:spPr>
          <a:xfrm>
            <a:off x="4709741" y="3520248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41A1F4-D74B-4F42-DEDD-2DD6A47F0A2F}"/>
              </a:ext>
            </a:extLst>
          </p:cNvPr>
          <p:cNvSpPr/>
          <p:nvPr/>
        </p:nvSpPr>
        <p:spPr>
          <a:xfrm>
            <a:off x="3960110" y="3520249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77A56D-A61F-A75B-F3E5-6BDAEC28525B}"/>
              </a:ext>
            </a:extLst>
          </p:cNvPr>
          <p:cNvSpPr/>
          <p:nvPr/>
        </p:nvSpPr>
        <p:spPr>
          <a:xfrm>
            <a:off x="3283408" y="3520250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7D5575-F612-A7DD-EFF7-E56FD97F9707}"/>
              </a:ext>
            </a:extLst>
          </p:cNvPr>
          <p:cNvSpPr/>
          <p:nvPr/>
        </p:nvSpPr>
        <p:spPr>
          <a:xfrm>
            <a:off x="2606706" y="3520250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5" name="7-Point Star 4">
            <a:extLst>
              <a:ext uri="{FF2B5EF4-FFF2-40B4-BE49-F238E27FC236}">
                <a16:creationId xmlns:a16="http://schemas.microsoft.com/office/drawing/2014/main" id="{DBBBEA51-166E-CED9-8052-462F9556D668}"/>
              </a:ext>
            </a:extLst>
          </p:cNvPr>
          <p:cNvSpPr/>
          <p:nvPr/>
        </p:nvSpPr>
        <p:spPr>
          <a:xfrm>
            <a:off x="4160174" y="1215609"/>
            <a:ext cx="3080423" cy="1905831"/>
          </a:xfrm>
          <a:prstGeom prst="star7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Sorting Finished!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4242949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3.7037E-6 L 0.05508 0.20973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47" y="1048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2.96296E-6 L -0.23685 0.20393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849" y="1018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3.7037E-6 L 0.11706 0.20486 " pathEditMode="relative" rAng="0" ptsTypes="AA">
                                      <p:cBhvr>
                                        <p:cTn id="33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46" y="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2.96296E-6 L -0.17266 0.20648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633" y="1032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6.25E-7 -3.7037E-6 L 0.18034 0.20486 " pathEditMode="relative" rAng="0" ptsTypes="AA">
                                      <p:cBhvr>
                                        <p:cTn id="55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010" y="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6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-3.7037E-6 L 0.17695 0.20348 " pathEditMode="relative" rAng="0" ptsTypes="AA">
                                      <p:cBhvr>
                                        <p:cTn id="6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841" y="10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7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3.7037E-6 L -0.06158 0.20602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86" y="103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8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3.7037E-6 L -0.05703 0.20348 " pathEditMode="relative" rAng="0" ptsTypes="AA">
                                      <p:cBhvr>
                                        <p:cTn id="88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52" y="10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9" grpId="0" animBg="1"/>
      <p:bldP spid="19" grpId="1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1A3857-05C9-DF70-5082-F8F1F6CF2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EF3D6FC-928F-8722-49BA-978FB9EF189A}"/>
              </a:ext>
            </a:extLst>
          </p:cNvPr>
          <p:cNvCxnSpPr/>
          <p:nvPr/>
        </p:nvCxnSpPr>
        <p:spPr>
          <a:xfrm>
            <a:off x="1968500" y="5486400"/>
            <a:ext cx="8020050" cy="0"/>
          </a:xfrm>
          <a:prstGeom prst="straightConnector1">
            <a:avLst/>
          </a:prstGeom>
          <a:ln w="762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2D7644-C02C-A6A1-5CAD-D640091628F5}"/>
              </a:ext>
            </a:extLst>
          </p:cNvPr>
          <p:cNvCxnSpPr>
            <a:cxnSpLocks/>
          </p:cNvCxnSpPr>
          <p:nvPr/>
        </p:nvCxnSpPr>
        <p:spPr>
          <a:xfrm flipV="1">
            <a:off x="1968500" y="327025"/>
            <a:ext cx="0" cy="5197475"/>
          </a:xfrm>
          <a:prstGeom prst="straightConnector1">
            <a:avLst/>
          </a:prstGeom>
          <a:ln w="762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054C5A5-CB79-B3FF-1404-53676939D1B0}"/>
              </a:ext>
            </a:extLst>
          </p:cNvPr>
          <p:cNvSpPr txBox="1"/>
          <p:nvPr/>
        </p:nvSpPr>
        <p:spPr>
          <a:xfrm>
            <a:off x="5321935" y="5652964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latin typeface="Consolas" panose="020B0609020204030204" pitchFamily="49" charset="0"/>
              </a:rPr>
              <a:t>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2D9963-CCCF-AE66-4C6D-7D2F29610522}"/>
              </a:ext>
            </a:extLst>
          </p:cNvPr>
          <p:cNvSpPr txBox="1"/>
          <p:nvPr/>
        </p:nvSpPr>
        <p:spPr>
          <a:xfrm rot="5400000" flipH="1">
            <a:off x="513467" y="2571819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latin typeface="Consolas" panose="020B0609020204030204" pitchFamily="49" charset="0"/>
              </a:rPr>
              <a:t>time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99DF266-054C-26F3-67C0-87FB85CB232A}"/>
              </a:ext>
            </a:extLst>
          </p:cNvPr>
          <p:cNvCxnSpPr>
            <a:cxnSpLocks/>
          </p:cNvCxnSpPr>
          <p:nvPr/>
        </p:nvCxnSpPr>
        <p:spPr>
          <a:xfrm flipV="1">
            <a:off x="1968500" y="2125981"/>
            <a:ext cx="5925820" cy="3322320"/>
          </a:xfrm>
          <a:prstGeom prst="straightConnector1">
            <a:avLst/>
          </a:prstGeom>
          <a:ln w="76200">
            <a:solidFill>
              <a:srgbClr val="FFFF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Arc 10">
            <a:extLst>
              <a:ext uri="{FF2B5EF4-FFF2-40B4-BE49-F238E27FC236}">
                <a16:creationId xmlns:a16="http://schemas.microsoft.com/office/drawing/2014/main" id="{2032B1D6-6A53-888D-DE60-09BC031AFC9E}"/>
              </a:ext>
            </a:extLst>
          </p:cNvPr>
          <p:cNvSpPr/>
          <p:nvPr/>
        </p:nvSpPr>
        <p:spPr>
          <a:xfrm rot="16200000">
            <a:off x="7532684" y="-1535115"/>
            <a:ext cx="2933704" cy="13852525"/>
          </a:xfrm>
          <a:prstGeom prst="arc">
            <a:avLst>
              <a:gd name="adj1" fmla="val 16200000"/>
              <a:gd name="adj2" fmla="val 228024"/>
            </a:avLst>
          </a:prstGeom>
          <a:ln w="762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6196A7-6A90-1770-B53F-6517D14BBDB2}"/>
              </a:ext>
            </a:extLst>
          </p:cNvPr>
          <p:cNvSpPr txBox="1"/>
          <p:nvPr/>
        </p:nvSpPr>
        <p:spPr>
          <a:xfrm>
            <a:off x="8179435" y="1667966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FFFF00"/>
                </a:solidFill>
                <a:latin typeface="Consolas" panose="020B0609020204030204" pitchFamily="49" charset="0"/>
              </a:rPr>
              <a:t>O(n)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98DC71-193A-85DC-A6D1-F022E0F7A03E}"/>
              </a:ext>
            </a:extLst>
          </p:cNvPr>
          <p:cNvSpPr txBox="1"/>
          <p:nvPr/>
        </p:nvSpPr>
        <p:spPr>
          <a:xfrm>
            <a:off x="9447153" y="3489146"/>
            <a:ext cx="24416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92D050"/>
                </a:solidFill>
                <a:latin typeface="Consolas" panose="020B0609020204030204" pitchFamily="49" charset="0"/>
              </a:rPr>
              <a:t>O(log n)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4581BAA-5C04-48A0-E56B-57EF522E34ED}"/>
              </a:ext>
            </a:extLst>
          </p:cNvPr>
          <p:cNvSpPr/>
          <p:nvPr/>
        </p:nvSpPr>
        <p:spPr>
          <a:xfrm>
            <a:off x="2109019" y="730045"/>
            <a:ext cx="4856961" cy="4675239"/>
          </a:xfrm>
          <a:custGeom>
            <a:avLst/>
            <a:gdLst>
              <a:gd name="csX0" fmla="*/ 0 w 4856961"/>
              <a:gd name="csY0" fmla="*/ 4675239 h 4675239"/>
              <a:gd name="csX1" fmla="*/ 4100052 w 4856961"/>
              <a:gd name="csY1" fmla="*/ 1932039 h 4675239"/>
              <a:gd name="csX2" fmla="*/ 4844846 w 4856961"/>
              <a:gd name="csY2" fmla="*/ 0 h 46752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56961" h="4675239">
                <a:moveTo>
                  <a:pt x="0" y="4675239"/>
                </a:moveTo>
                <a:cubicBezTo>
                  <a:pt x="1646289" y="3693242"/>
                  <a:pt x="3292578" y="2711245"/>
                  <a:pt x="4100052" y="1932039"/>
                </a:cubicBezTo>
                <a:cubicBezTo>
                  <a:pt x="4907526" y="1152833"/>
                  <a:pt x="4876186" y="576416"/>
                  <a:pt x="4844846" y="0"/>
                </a:cubicBezTo>
              </a:path>
            </a:pathLst>
          </a:cu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6CD7FF9-0B60-A3B6-4992-19CC96EC9B68}"/>
              </a:ext>
            </a:extLst>
          </p:cNvPr>
          <p:cNvSpPr txBox="1"/>
          <p:nvPr/>
        </p:nvSpPr>
        <p:spPr>
          <a:xfrm>
            <a:off x="7106498" y="148493"/>
            <a:ext cx="30059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FFC000"/>
                </a:solidFill>
                <a:latin typeface="Consolas" panose="020B0609020204030204" pitchFamily="49" charset="0"/>
              </a:rPr>
              <a:t>O(n log n)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012E617-4FDE-DBE3-719D-E92AE8D92EE9}"/>
              </a:ext>
            </a:extLst>
          </p:cNvPr>
          <p:cNvSpPr txBox="1"/>
          <p:nvPr/>
        </p:nvSpPr>
        <p:spPr>
          <a:xfrm>
            <a:off x="7177030" y="757567"/>
            <a:ext cx="314701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  <a:latin typeface="Consolas" panose="020B0609020204030204" pitchFamily="49" charset="0"/>
              </a:rPr>
              <a:t>O(n log n)= quasilinear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sz="1500" b="1" dirty="0">
                <a:solidFill>
                  <a:srgbClr val="FFC000"/>
                </a:solidFill>
                <a:latin typeface="Consolas" panose="020B0609020204030204" pitchFamily="49" charset="0"/>
              </a:rPr>
              <a:t>quicksort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sz="1500" b="1" dirty="0" err="1">
                <a:solidFill>
                  <a:srgbClr val="FFC000"/>
                </a:solidFill>
                <a:latin typeface="Consolas" panose="020B0609020204030204" pitchFamily="49" charset="0"/>
              </a:rPr>
              <a:t>mergesort</a:t>
            </a:r>
            <a:endParaRPr lang="en-PH" sz="1500" b="1" dirty="0">
              <a:solidFill>
                <a:srgbClr val="FFC000"/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sz="1500" b="1" dirty="0">
                <a:solidFill>
                  <a:srgbClr val="FFC000"/>
                </a:solidFill>
                <a:latin typeface="Consolas" panose="020B0609020204030204" pitchFamily="49" charset="0"/>
              </a:rPr>
              <a:t>heapsort</a:t>
            </a:r>
          </a:p>
        </p:txBody>
      </p:sp>
    </p:spTree>
    <p:extLst>
      <p:ext uri="{BB962C8B-B14F-4D97-AF65-F5344CB8AC3E}">
        <p14:creationId xmlns:p14="http://schemas.microsoft.com/office/powerpoint/2010/main" val="169517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A3362E2-FA54-4262-AE94-2FA98FF8142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651370AF-26B9-4AFA-BA9D-5D4A7E1A67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D61E20B-708A-4719-8C02-DA91A478A7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1204</TotalTime>
  <Words>131</Words>
  <Application>Microsoft Office PowerPoint</Application>
  <PresentationFormat>Widescreen</PresentationFormat>
  <Paragraphs>71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(Body)</vt:lpstr>
      <vt:lpstr>Calibri Light</vt:lpstr>
      <vt:lpstr>Consolas</vt:lpstr>
      <vt:lpstr>Office Theme</vt:lpstr>
      <vt:lpstr>What is Merge Sort?</vt:lpstr>
      <vt:lpstr>Merge Sort</vt:lpstr>
      <vt:lpstr>Merge Sort</vt:lpstr>
      <vt:lpstr>Merge Sort</vt:lpstr>
      <vt:lpstr>Merge Sort</vt:lpstr>
      <vt:lpstr>Merge Sort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156</cp:revision>
  <dcterms:created xsi:type="dcterms:W3CDTF">2022-05-11T03:47:05Z</dcterms:created>
  <dcterms:modified xsi:type="dcterms:W3CDTF">2026-07-14T01:42:20Z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</Properties>
</file>