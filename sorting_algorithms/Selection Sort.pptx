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72" r:id="rId5"/>
    <p:sldId id="276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B5FF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44" autoAdjust="0"/>
    <p:restoredTop sz="93653" autoAdjust="0"/>
  </p:normalViewPr>
  <p:slideViewPr>
    <p:cSldViewPr snapToGrid="0">
      <p:cViewPr varScale="1">
        <p:scale>
          <a:sx n="149" d="100"/>
          <a:sy n="149" d="100"/>
        </p:scale>
        <p:origin x="4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9164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25844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9701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40171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2422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8392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4481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95602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280E9-BD6A-84C8-9255-CF2D2F9A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EBACE-63E9-6859-0CAF-6FBC20B02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B4768-9BF9-69FE-606C-AB27B9AB9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26153-5E70-5F21-2888-35E196A70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549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14/07/2026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What is Selection Sort?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100" dirty="0"/>
          </a:p>
          <a:p>
            <a:pPr algn="l"/>
            <a:endParaRPr lang="en-US" sz="3000" dirty="0"/>
          </a:p>
          <a:p>
            <a:pPr algn="l"/>
            <a:endParaRPr lang="en-US" sz="3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9887DE-B428-5BE2-2F47-C61D85B0141C}"/>
              </a:ext>
            </a:extLst>
          </p:cNvPr>
          <p:cNvSpPr txBox="1">
            <a:spLocks/>
          </p:cNvSpPr>
          <p:nvPr/>
        </p:nvSpPr>
        <p:spPr>
          <a:xfrm>
            <a:off x="694150" y="1050966"/>
            <a:ext cx="10803698" cy="13465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dirty="0">
              <a:solidFill>
                <a:schemeClr val="bg1"/>
              </a:solidFill>
              <a:latin typeface="Calibri (Body)"/>
            </a:endParaRPr>
          </a:p>
          <a:p>
            <a:pPr algn="l"/>
            <a:r>
              <a:rPr lang="en-US" sz="3000" dirty="0">
                <a:solidFill>
                  <a:schemeClr val="bg1"/>
                </a:solidFill>
                <a:latin typeface="Calibri (Body)"/>
              </a:rPr>
              <a:t>Selection sort selects the smallest element from an unsorted list in each iteration and places that element at the beginning of the unsorted list.</a:t>
            </a:r>
          </a:p>
        </p:txBody>
      </p:sp>
      <p:pic>
        <p:nvPicPr>
          <p:cNvPr id="7" name="Picture 6" descr="A number in a row&#10;&#10;Description automatically generated">
            <a:extLst>
              <a:ext uri="{FF2B5EF4-FFF2-40B4-BE49-F238E27FC236}">
                <a16:creationId xmlns:a16="http://schemas.microsoft.com/office/drawing/2014/main" id="{9FDE9B24-F2BA-FCCC-E750-A230C78CC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908" y="2460287"/>
            <a:ext cx="5746955" cy="32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4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Selection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93538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46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Selection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62570" y="2113765"/>
            <a:ext cx="1465545" cy="131523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26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-0.55351 3.7037E-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56" y="2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33333E-6 L 0.55352 3.7037E-7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65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9" grpId="0" animBg="1"/>
      <p:bldP spid="10" grpId="0" animBg="1"/>
      <p:bldP spid="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Selection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6257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74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-0.41706 3.7037E-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3" y="2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33333E-6 L 0.41706 3.7037E-7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5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0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Selection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6257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09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-0.28073 4.44444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36" y="6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3.33333E-6 L 0.28073 3.7037E-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3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Selection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6257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10010" y="2113765"/>
            <a:ext cx="1465545" cy="131523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26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-0.13646 3.7037E-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23" y="2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3.33333E-6 L 0.13646 3.7037E-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49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Selection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6257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41760" y="2113765"/>
            <a:ext cx="1465545" cy="1315233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06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773" y="497150"/>
            <a:ext cx="9935227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Selection Sort</a:t>
            </a:r>
            <a:endParaRPr lang="en-PH" b="1" dirty="0">
              <a:solidFill>
                <a:srgbClr val="00B05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D20710-BEC7-3B54-036C-9BEAE7B3DFFE}"/>
              </a:ext>
            </a:extLst>
          </p:cNvPr>
          <p:cNvSpPr/>
          <p:nvPr/>
        </p:nvSpPr>
        <p:spPr>
          <a:xfrm>
            <a:off x="166257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19329-EED1-B43F-5C9E-F79AB75A3F92}"/>
              </a:ext>
            </a:extLst>
          </p:cNvPr>
          <p:cNvSpPr/>
          <p:nvPr/>
        </p:nvSpPr>
        <p:spPr>
          <a:xfrm>
            <a:off x="3325400" y="2113768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A7604A-5617-6E68-9F69-D44305AF4D95}"/>
              </a:ext>
            </a:extLst>
          </p:cNvPr>
          <p:cNvSpPr/>
          <p:nvPr/>
        </p:nvSpPr>
        <p:spPr>
          <a:xfrm>
            <a:off x="4988230" y="2113767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4D5E-C143-ED16-3721-EB2032D1B02B}"/>
              </a:ext>
            </a:extLst>
          </p:cNvPr>
          <p:cNvSpPr/>
          <p:nvPr/>
        </p:nvSpPr>
        <p:spPr>
          <a:xfrm>
            <a:off x="6747180" y="2113766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5675E-E5A9-C138-74D7-63906896B09C}"/>
              </a:ext>
            </a:extLst>
          </p:cNvPr>
          <p:cNvSpPr/>
          <p:nvPr/>
        </p:nvSpPr>
        <p:spPr>
          <a:xfrm>
            <a:off x="8441760" y="2113765"/>
            <a:ext cx="1465545" cy="131523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PH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7-Point Star 5">
            <a:extLst>
              <a:ext uri="{FF2B5EF4-FFF2-40B4-BE49-F238E27FC236}">
                <a16:creationId xmlns:a16="http://schemas.microsoft.com/office/drawing/2014/main" id="{CBDC5181-4CB6-6745-234F-F5EB9B2472D6}"/>
              </a:ext>
            </a:extLst>
          </p:cNvPr>
          <p:cNvSpPr/>
          <p:nvPr/>
        </p:nvSpPr>
        <p:spPr>
          <a:xfrm>
            <a:off x="4160174" y="3926149"/>
            <a:ext cx="3080423" cy="1905831"/>
          </a:xfrm>
          <a:prstGeom prst="star7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/>
              <a:t>Sorting Finished!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64737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F4E07-43BF-4783-6096-34DAFBBD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D1681A-6E37-B403-C5FB-20F5652FB5A9}"/>
              </a:ext>
            </a:extLst>
          </p:cNvPr>
          <p:cNvCxnSpPr/>
          <p:nvPr/>
        </p:nvCxnSpPr>
        <p:spPr>
          <a:xfrm>
            <a:off x="1968500" y="5486400"/>
            <a:ext cx="8020050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8A164E-E554-758C-D41B-001ED5F2D243}"/>
              </a:ext>
            </a:extLst>
          </p:cNvPr>
          <p:cNvCxnSpPr>
            <a:cxnSpLocks/>
          </p:cNvCxnSpPr>
          <p:nvPr/>
        </p:nvCxnSpPr>
        <p:spPr>
          <a:xfrm flipV="1">
            <a:off x="1968500" y="327025"/>
            <a:ext cx="0" cy="5197475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0A53B23-E3D0-DCAC-9C52-083686812B39}"/>
              </a:ext>
            </a:extLst>
          </p:cNvPr>
          <p:cNvSpPr txBox="1"/>
          <p:nvPr/>
        </p:nvSpPr>
        <p:spPr>
          <a:xfrm>
            <a:off x="5321935" y="5652964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043646-2501-A8E7-2C6B-E7AE6E51E8A1}"/>
              </a:ext>
            </a:extLst>
          </p:cNvPr>
          <p:cNvSpPr txBox="1"/>
          <p:nvPr/>
        </p:nvSpPr>
        <p:spPr>
          <a:xfrm rot="5400000" flipH="1">
            <a:off x="513467" y="2571819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chemeClr val="bg1"/>
                </a:solidFill>
                <a:latin typeface="Consolas" panose="020B0609020204030204" pitchFamily="49" charset="0"/>
              </a:rPr>
              <a:t>time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1BD8C5-A5C3-5001-642E-CD049E547871}"/>
              </a:ext>
            </a:extLst>
          </p:cNvPr>
          <p:cNvCxnSpPr>
            <a:cxnSpLocks/>
          </p:cNvCxnSpPr>
          <p:nvPr/>
        </p:nvCxnSpPr>
        <p:spPr>
          <a:xfrm flipV="1">
            <a:off x="1968500" y="2125981"/>
            <a:ext cx="5925820" cy="3322320"/>
          </a:xfrm>
          <a:prstGeom prst="straightConnector1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c 28">
            <a:extLst>
              <a:ext uri="{FF2B5EF4-FFF2-40B4-BE49-F238E27FC236}">
                <a16:creationId xmlns:a16="http://schemas.microsoft.com/office/drawing/2014/main" id="{8D3F06E4-7935-7677-2493-859651FAF411}"/>
              </a:ext>
            </a:extLst>
          </p:cNvPr>
          <p:cNvSpPr/>
          <p:nvPr/>
        </p:nvSpPr>
        <p:spPr>
          <a:xfrm rot="16200000">
            <a:off x="7532684" y="-1535115"/>
            <a:ext cx="2933704" cy="13852525"/>
          </a:xfrm>
          <a:prstGeom prst="arc">
            <a:avLst>
              <a:gd name="adj1" fmla="val 16200000"/>
              <a:gd name="adj2" fmla="val 228024"/>
            </a:avLst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63D60F-872C-B5FF-A26E-2ECF7EA9EAE3}"/>
              </a:ext>
            </a:extLst>
          </p:cNvPr>
          <p:cNvSpPr txBox="1"/>
          <p:nvPr/>
        </p:nvSpPr>
        <p:spPr>
          <a:xfrm>
            <a:off x="8179435" y="1667966"/>
            <a:ext cx="13131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FF00"/>
                </a:solidFill>
                <a:latin typeface="Consolas" panose="020B0609020204030204" pitchFamily="49" charset="0"/>
              </a:rPr>
              <a:t>O(n)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1624BB-FDFA-4F6D-1AAD-E1D01278BC77}"/>
              </a:ext>
            </a:extLst>
          </p:cNvPr>
          <p:cNvSpPr txBox="1"/>
          <p:nvPr/>
        </p:nvSpPr>
        <p:spPr>
          <a:xfrm>
            <a:off x="9447153" y="3489146"/>
            <a:ext cx="24416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92D050"/>
                </a:solidFill>
                <a:latin typeface="Consolas" panose="020B0609020204030204" pitchFamily="49" charset="0"/>
              </a:rPr>
              <a:t>O(log n)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FC42889-863A-CB83-ABEE-BD8B7EE2DC73}"/>
              </a:ext>
            </a:extLst>
          </p:cNvPr>
          <p:cNvSpPr/>
          <p:nvPr/>
        </p:nvSpPr>
        <p:spPr>
          <a:xfrm>
            <a:off x="2134419" y="721801"/>
            <a:ext cx="4856961" cy="4675239"/>
          </a:xfrm>
          <a:custGeom>
            <a:avLst/>
            <a:gdLst>
              <a:gd name="csX0" fmla="*/ 0 w 4856961"/>
              <a:gd name="csY0" fmla="*/ 4675239 h 4675239"/>
              <a:gd name="csX1" fmla="*/ 4100052 w 4856961"/>
              <a:gd name="csY1" fmla="*/ 1932039 h 4675239"/>
              <a:gd name="csX2" fmla="*/ 4844846 w 4856961"/>
              <a:gd name="csY2" fmla="*/ 0 h 4675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856961" h="4675239">
                <a:moveTo>
                  <a:pt x="0" y="4675239"/>
                </a:moveTo>
                <a:cubicBezTo>
                  <a:pt x="1646289" y="3693242"/>
                  <a:pt x="3292578" y="2711245"/>
                  <a:pt x="4100052" y="1932039"/>
                </a:cubicBezTo>
                <a:cubicBezTo>
                  <a:pt x="4907526" y="1152833"/>
                  <a:pt x="4876186" y="576416"/>
                  <a:pt x="4844846" y="0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80F293-BDBA-7B4D-944D-90FBB53F2101}"/>
              </a:ext>
            </a:extLst>
          </p:cNvPr>
          <p:cNvSpPr txBox="1"/>
          <p:nvPr/>
        </p:nvSpPr>
        <p:spPr>
          <a:xfrm>
            <a:off x="7106498" y="148493"/>
            <a:ext cx="30059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4000" b="1" dirty="0">
                <a:solidFill>
                  <a:srgbClr val="FFC000"/>
                </a:solidFill>
                <a:latin typeface="Consolas" panose="020B0609020204030204" pitchFamily="49" charset="0"/>
              </a:rPr>
              <a:t>O(n log n)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F130D37-5293-48E0-4D15-102E4E9E5B13}"/>
              </a:ext>
            </a:extLst>
          </p:cNvPr>
          <p:cNvSpPr/>
          <p:nvPr/>
        </p:nvSpPr>
        <p:spPr>
          <a:xfrm>
            <a:off x="2007843" y="549919"/>
            <a:ext cx="2034578" cy="4942875"/>
          </a:xfrm>
          <a:custGeom>
            <a:avLst/>
            <a:gdLst>
              <a:gd name="csX0" fmla="*/ 0 w 2034578"/>
              <a:gd name="csY0" fmla="*/ 4942875 h 4942875"/>
              <a:gd name="csX1" fmla="*/ 1796828 w 2034578"/>
              <a:gd name="csY1" fmla="*/ 2276408 h 4942875"/>
              <a:gd name="csX2" fmla="*/ 1963083 w 2034578"/>
              <a:gd name="csY2" fmla="*/ 0 h 4942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034578" h="4942875">
                <a:moveTo>
                  <a:pt x="0" y="4942875"/>
                </a:moveTo>
                <a:cubicBezTo>
                  <a:pt x="734824" y="4021547"/>
                  <a:pt x="1469648" y="3100220"/>
                  <a:pt x="1796828" y="2276408"/>
                </a:cubicBezTo>
                <a:cubicBezTo>
                  <a:pt x="2124008" y="1452596"/>
                  <a:pt x="2043545" y="726298"/>
                  <a:pt x="1963083" y="0"/>
                </a:cubicBezTo>
              </a:path>
            </a:pathLst>
          </a:custGeom>
          <a:noFill/>
          <a:ln w="76200"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6AEE080-E0DC-C2AD-823E-3EEB99232BAC}"/>
                  </a:ext>
                </a:extLst>
              </p:cNvPr>
              <p:cNvSpPr txBox="1"/>
              <p:nvPr/>
            </p:nvSpPr>
            <p:spPr>
              <a:xfrm>
                <a:off x="4042421" y="0"/>
                <a:ext cx="1608582" cy="721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40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PH" sz="40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6AEE080-E0DC-C2AD-823E-3EEB99232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421" y="0"/>
                <a:ext cx="1608582" cy="721801"/>
              </a:xfrm>
              <a:prstGeom prst="rect">
                <a:avLst/>
              </a:prstGeom>
              <a:blipFill>
                <a:blip r:embed="rId3"/>
                <a:stretch>
                  <a:fillRect l="-13258" t="-12712" r="-12500" b="-3644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5ED4AE-A7E3-574A-7895-BC9E9B9D9E65}"/>
                  </a:ext>
                </a:extLst>
              </p:cNvPr>
              <p:cNvSpPr txBox="1"/>
              <p:nvPr/>
            </p:nvSpPr>
            <p:spPr>
              <a:xfrm>
                <a:off x="4077495" y="627358"/>
                <a:ext cx="2426177" cy="103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PH" sz="1500" b="1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)= quadratic time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Insertion sort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Selection sort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PH" sz="1500" b="1" dirty="0">
                    <a:solidFill>
                      <a:srgbClr val="FF6600"/>
                    </a:solidFill>
                    <a:latin typeface="Consolas" panose="020B0609020204030204" pitchFamily="49" charset="0"/>
                  </a:rPr>
                  <a:t>Bubble sort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35ED4AE-A7E3-574A-7895-BC9E9B9D9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495" y="627358"/>
                <a:ext cx="2426177" cy="1036630"/>
              </a:xfrm>
              <a:prstGeom prst="rect">
                <a:avLst/>
              </a:prstGeom>
              <a:blipFill>
                <a:blip r:embed="rId4"/>
                <a:stretch>
                  <a:fillRect l="-1005" b="-4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34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/>
      <p:bldP spid="3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Constant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1920</TotalTime>
  <Words>124</Words>
  <Application>Microsoft Office PowerPoint</Application>
  <PresentationFormat>Widescreen</PresentationFormat>
  <Paragraphs>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(Body)</vt:lpstr>
      <vt:lpstr>Calibri Light</vt:lpstr>
      <vt:lpstr>Cambria</vt:lpstr>
      <vt:lpstr>Cambria Math</vt:lpstr>
      <vt:lpstr>Consolas</vt:lpstr>
      <vt:lpstr>Constantia</vt:lpstr>
      <vt:lpstr>Office Theme</vt:lpstr>
      <vt:lpstr>What is Selection Sort?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162</cp:revision>
  <dcterms:created xsi:type="dcterms:W3CDTF">2022-05-11T03:47:05Z</dcterms:created>
  <dcterms:modified xsi:type="dcterms:W3CDTF">2026-07-14T01:52:16Z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