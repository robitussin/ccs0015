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72" r:id="rId5"/>
    <p:sldId id="276" r:id="rId6"/>
    <p:sldId id="277" r:id="rId7"/>
    <p:sldId id="278" r:id="rId8"/>
    <p:sldId id="279" r:id="rId9"/>
    <p:sldId id="280" r:id="rId10"/>
    <p:sldId id="281" r:id="rId11"/>
    <p:sldId id="28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6" autoAdjust="0"/>
    <p:restoredTop sz="94081" autoAdjust="0"/>
  </p:normalViewPr>
  <p:slideViewPr>
    <p:cSldViewPr snapToGrid="0">
      <p:cViewPr varScale="1">
        <p:scale>
          <a:sx n="98" d="100"/>
          <a:sy n="98" d="100"/>
        </p:scale>
        <p:origin x="102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6093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81274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13227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46745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811283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E161C-8637-B88F-CE96-73F5AA8A1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B8AB97-E164-1D71-6B0F-9A2A61B2F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04E8E-2BFA-AF0C-6D07-A27FD92502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C94CD-5428-B94A-5447-DE1A01787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5918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What is Insertion Sort?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318581"/>
            <a:ext cx="10803698" cy="22291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700" dirty="0">
                <a:solidFill>
                  <a:schemeClr val="bg1"/>
                </a:solidFill>
                <a:latin typeface="Calibri (Body)"/>
              </a:rPr>
              <a:t>Insertion sort is a sorting algorithm that places an unsorted element at its suitable place in each iteration.</a:t>
            </a:r>
          </a:p>
          <a:p>
            <a:pPr algn="l"/>
            <a:endParaRPr lang="en-US" sz="2700" dirty="0">
              <a:solidFill>
                <a:schemeClr val="bg1"/>
              </a:solidFill>
              <a:latin typeface="Calibri (Body)"/>
            </a:endParaRPr>
          </a:p>
          <a:p>
            <a:pPr algn="l"/>
            <a:r>
              <a:rPr lang="en-US" sz="2700" b="0" i="1" dirty="0">
                <a:solidFill>
                  <a:schemeClr val="bg1"/>
                </a:solidFill>
                <a:effectLst/>
                <a:latin typeface="Calibri (Body)"/>
              </a:rPr>
              <a:t>The array is virtually split into a </a:t>
            </a:r>
            <a:r>
              <a:rPr lang="en-US" sz="2700" b="1" i="1" dirty="0">
                <a:solidFill>
                  <a:schemeClr val="bg1"/>
                </a:solidFill>
                <a:effectLst/>
                <a:latin typeface="Calibri (Body)"/>
              </a:rPr>
              <a:t>sorted</a:t>
            </a:r>
            <a:r>
              <a:rPr lang="en-US" sz="2700" b="0" i="1" dirty="0">
                <a:solidFill>
                  <a:schemeClr val="bg1"/>
                </a:solidFill>
                <a:effectLst/>
                <a:latin typeface="Calibri (Body)"/>
              </a:rPr>
              <a:t> and an </a:t>
            </a:r>
            <a:r>
              <a:rPr lang="en-US" sz="2700" b="1" i="1" dirty="0">
                <a:solidFill>
                  <a:schemeClr val="bg1"/>
                </a:solidFill>
                <a:effectLst/>
                <a:latin typeface="Calibri (Body)"/>
              </a:rPr>
              <a:t>unsorted part</a:t>
            </a:r>
            <a:r>
              <a:rPr lang="en-US" sz="2700" b="0" i="1" dirty="0">
                <a:solidFill>
                  <a:schemeClr val="bg1"/>
                </a:solidFill>
                <a:effectLst/>
                <a:latin typeface="Calibri (Body)"/>
              </a:rPr>
              <a:t>. Values from the unsorted part are picked and placed at the correct position in the sorted part.</a:t>
            </a:r>
            <a:endParaRPr lang="en-US" sz="2700" dirty="0">
              <a:solidFill>
                <a:schemeClr val="bg1"/>
              </a:solidFill>
              <a:latin typeface="Calibri (Body)"/>
            </a:endParaRPr>
          </a:p>
        </p:txBody>
      </p:sp>
      <p:pic>
        <p:nvPicPr>
          <p:cNvPr id="8" name="Picture 7" descr="A number line with black numbers&#10;&#10;Description automatically generated with medium confidence">
            <a:extLst>
              <a:ext uri="{FF2B5EF4-FFF2-40B4-BE49-F238E27FC236}">
                <a16:creationId xmlns:a16="http://schemas.microsoft.com/office/drawing/2014/main" id="{87B9ADBA-8CBE-4E63-AD02-DFBB370F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136" y="3429000"/>
            <a:ext cx="476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0425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4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747755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33333E-6 L 0.13633 3.7037E-7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2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-0.13633 3.33333E-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2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09976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33333E-6 L -0.11146 0.27037 C -0.13464 0.33194 -0.16954 0.36527 -0.20612 0.36527 C -0.24766 0.36527 -0.28099 0.33194 -0.30417 0.27037 L -0.4155 3.33333E-6 " pathEditMode="relative" rAng="0" ptsTypes="AAAAA">
                                      <p:cBhvr>
                                        <p:cTn id="1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781" y="18264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33333E-6 L 0.1362 -0.0023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10" y="-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1.85185E-6 L 0.1388 -1.85185E-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94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3.33333E-6 L 0.14428 3.33333E-6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  <p:bldP spid="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098422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767231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7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0.00046 L -0.07461 0.21343 C -0.0901 0.26204 -0.11341 0.28843 -0.13789 0.28843 C -0.16576 0.28843 -0.18802 0.26204 -0.20352 0.21343 L -0.27799 0.00046 " pathEditMode="relative" rAng="0" ptsTypes="AAAAA"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906" y="14398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3.33333E-6 L 0.1418 -0.0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070" y="-6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1.85185E-6 L 0.13646 0.0004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23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Insertion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6A00268A-AB37-940C-9597-BEF686D61529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47112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993288-AEF0-0BF0-2AF1-A31E1181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9905DA-E7F9-C9FC-42D9-9A5459A5B658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3541D8-54A7-C8E0-3B99-F0E7B57E2401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AAE8DB-EC92-78E3-A066-01C6A912BE27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05D701-7358-49A2-B696-3D72852585BA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6E18FD3-47D2-95CF-D069-8899251E160A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Arc 16">
            <a:extLst>
              <a:ext uri="{FF2B5EF4-FFF2-40B4-BE49-F238E27FC236}">
                <a16:creationId xmlns:a16="http://schemas.microsoft.com/office/drawing/2014/main" id="{8E9382A2-2392-4D0E-D3C0-611023B8BBBA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CA024-C385-FF44-6965-CAB317981D3A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32F35-4089-22A4-CFCE-042DD200DCE6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524C390-FF43-242F-328E-122275993B0F}"/>
              </a:ext>
            </a:extLst>
          </p:cNvPr>
          <p:cNvSpPr/>
          <p:nvPr/>
        </p:nvSpPr>
        <p:spPr>
          <a:xfrm>
            <a:off x="2134419" y="721801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A9E396-A6F6-0895-355B-02726DDD070E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D1C1DC-43DE-C824-7A99-B592D54ED2AC}"/>
              </a:ext>
            </a:extLst>
          </p:cNvPr>
          <p:cNvSpPr/>
          <p:nvPr/>
        </p:nvSpPr>
        <p:spPr>
          <a:xfrm>
            <a:off x="2007843" y="549919"/>
            <a:ext cx="2034578" cy="4942875"/>
          </a:xfrm>
          <a:custGeom>
            <a:avLst/>
            <a:gdLst>
              <a:gd name="csX0" fmla="*/ 0 w 2034578"/>
              <a:gd name="csY0" fmla="*/ 4942875 h 4942875"/>
              <a:gd name="csX1" fmla="*/ 1796828 w 2034578"/>
              <a:gd name="csY1" fmla="*/ 2276408 h 4942875"/>
              <a:gd name="csX2" fmla="*/ 1963083 w 2034578"/>
              <a:gd name="csY2" fmla="*/ 0 h 49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4578" h="4942875">
                <a:moveTo>
                  <a:pt x="0" y="4942875"/>
                </a:moveTo>
                <a:cubicBezTo>
                  <a:pt x="734824" y="4021547"/>
                  <a:pt x="1469648" y="3100220"/>
                  <a:pt x="1796828" y="2276408"/>
                </a:cubicBezTo>
                <a:cubicBezTo>
                  <a:pt x="2124008" y="1452596"/>
                  <a:pt x="2043545" y="726298"/>
                  <a:pt x="1963083" y="0"/>
                </a:cubicBezTo>
              </a:path>
            </a:pathLst>
          </a:custGeom>
          <a:noFill/>
          <a:ln w="762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0B2892-ED9C-49FE-EB7D-ABF7E0D57065}"/>
                  </a:ext>
                </a:extLst>
              </p:cNvPr>
              <p:cNvSpPr txBox="1"/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0B2892-ED9C-49FE-EB7D-ABF7E0D57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blipFill>
                <a:blip r:embed="rId3"/>
                <a:stretch>
                  <a:fillRect l="-13258" t="-12712" r="-12500" b="-364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F78667C-2355-F2F6-F3A6-751FA8A35B20}"/>
                  </a:ext>
                </a:extLst>
              </p:cNvPr>
              <p:cNvSpPr txBox="1"/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)= quadratic time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Insertion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Selection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Bubble sort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F78667C-2355-F2F6-F3A6-751FA8A35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blipFill>
                <a:blip r:embed="rId4"/>
                <a:stretch>
                  <a:fillRect l="-1005" b="-4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01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1188</TotalTime>
  <Words>141</Words>
  <Application>Microsoft Office PowerPoint</Application>
  <PresentationFormat>Widescreen</PresentationFormat>
  <Paragraphs>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(Body)</vt:lpstr>
      <vt:lpstr>Calibri Light</vt:lpstr>
      <vt:lpstr>Cambria Math</vt:lpstr>
      <vt:lpstr>Consolas</vt:lpstr>
      <vt:lpstr>Office Theme</vt:lpstr>
      <vt:lpstr>What is Insertion Sort?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160</cp:revision>
  <dcterms:created xsi:type="dcterms:W3CDTF">2022-05-11T03:47:05Z</dcterms:created>
  <dcterms:modified xsi:type="dcterms:W3CDTF">2026-07-14T01:46:47Z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