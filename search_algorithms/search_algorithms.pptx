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0"/>
  </p:notesMasterIdLst>
  <p:sldIdLst>
    <p:sldId id="381" r:id="rId5"/>
    <p:sldId id="382" r:id="rId6"/>
    <p:sldId id="383" r:id="rId7"/>
    <p:sldId id="384" r:id="rId8"/>
    <p:sldId id="385" r:id="rId9"/>
    <p:sldId id="386" r:id="rId10"/>
    <p:sldId id="387" r:id="rId11"/>
    <p:sldId id="388" r:id="rId12"/>
    <p:sldId id="389" r:id="rId13"/>
    <p:sldId id="390" r:id="rId14"/>
    <p:sldId id="391" r:id="rId15"/>
    <p:sldId id="392" r:id="rId16"/>
    <p:sldId id="393" r:id="rId17"/>
    <p:sldId id="394" r:id="rId18"/>
    <p:sldId id="401" r:id="rId19"/>
    <p:sldId id="396" r:id="rId20"/>
    <p:sldId id="397" r:id="rId21"/>
    <p:sldId id="398" r:id="rId22"/>
    <p:sldId id="399" r:id="rId23"/>
    <p:sldId id="400" r:id="rId24"/>
    <p:sldId id="402" r:id="rId25"/>
    <p:sldId id="404" r:id="rId26"/>
    <p:sldId id="406" r:id="rId27"/>
    <p:sldId id="405" r:id="rId28"/>
    <p:sldId id="371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5FF2ED-5567-445A-B3E0-3393544B04A6}" v="675" dt="2022-05-11T04:00:20.3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96" autoAdjust="0"/>
    <p:restoredTop sz="94131" autoAdjust="0"/>
  </p:normalViewPr>
  <p:slideViewPr>
    <p:cSldViewPr snapToGrid="0">
      <p:cViewPr>
        <p:scale>
          <a:sx n="125" d="100"/>
          <a:sy n="125" d="100"/>
        </p:scale>
        <p:origin x="1080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6E1FD-E7A0-497B-BBC0-740BAAC97C64}" type="datetimeFigureOut">
              <a:rPr lang="en-PH" smtClean="0"/>
              <a:t>06/07/2026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0CCE9-4AAE-4E1F-85AD-521A406D652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59855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B1E6E-2408-484E-8979-2DB96F2F8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7B426-68B8-4CB7-871C-5CC84E86C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52935-9451-4839-96FB-E9A8FCCD6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06/07/2026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8F784-7AF5-4560-BEFA-8C8096530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98F6B-191E-4E4B-BE34-C76137125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3193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87643-F5D7-48E2-ADAB-95C74CECF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FC6CC-B49B-452C-8E9C-808488E73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BF4EE-800F-479B-9D99-FD0B990C4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06/07/2026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3E0ED-BABB-43F4-8ACF-6AB1C583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6B210-80B8-4EC4-A5DD-626DF335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9668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20E17-7239-452C-8B6C-2DE99BB75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621D8-37ED-476B-884F-26990A946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FE869-1B16-425A-9EFF-D1D147E64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06/07/2026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7772C-84B9-4CA4-BC65-3D41F9D3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6E878-86EF-4ABF-A7AD-65B43A873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12625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D03AF-7534-49E0-B0A2-F0403B159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63158-1F78-4261-99A0-55F573DD04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B12B8E-1661-462B-A00C-FE1078E5F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763DF-E084-447E-A488-9F9D328A9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06/07/2026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6663E-C0B8-407A-9C08-AD7A14CD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44692-F2BB-4F15-9AC6-1D337C5F6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52483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24591-52D4-4A6A-81FF-CF9B69DD3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74561-7712-4BE5-B42C-1DF224123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6369D-C1D0-4A4F-85B0-DC21BD7E9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D26301-7EFA-4E2D-8E37-01989EDE45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68D5A3-0863-4C19-8CDF-E5F638009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1BD46F-0A9D-4A21-A809-A8A4915A7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06/07/2026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B3FE40-3AE1-4501-BD99-5BB30AA8E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9DB7BF-E7E2-4599-93C1-314862B4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5543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BA4B7-5BD0-45CE-A3AB-0BDAEBCB2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317F3A-B35D-4332-A083-A8EA82A8C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06/07/2026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D1BAA-3C55-422C-9DDB-C8FA2466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545CCC-0421-4BC8-A428-7D6891975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61049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A8D164-8317-4375-AC20-4E5ECFBC8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06/07/2026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E65B31-8161-47C0-B8D2-02FC9D063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A5A49-C1DE-4043-9C4E-CA88B7D93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4507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1128-45F1-4E37-A76C-48135B4B5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6B574-F2D0-4A1E-971A-951AD113F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4A9BF5-4AAF-46A8-9307-3E49D1DC7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4D477-7EF0-4092-A585-C8B452D86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06/07/2026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B03C4-61D6-4E97-BF6A-97F683277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C0268-0C31-4494-872A-FF14572B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44569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1858D-F4CE-4847-9F4E-96911B726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12DC33-E4BE-4D59-8A3E-E5C8C7FEA8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662A18-4E8B-44E0-95B0-48E49B06B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3A010-3289-4BEF-9BA6-B9291ECCA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06/07/2026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1841C-B8D0-4564-AB48-104684286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FD835-28F9-4C9B-8DEF-1C8AF7C1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69181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C9526-6B4B-4B7C-836C-CA5ECFEE1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D3F895-13B7-4F09-8F2B-7C7B281BD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D4FF3-605C-448B-ABE0-7A159B7B3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06/07/2026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10917-6EAA-48EE-AE32-E15F33FCA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51C44-2EAE-49AE-A864-682DEB3D8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69415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CFD600-C7E3-42EE-9735-2FE3EDE77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80727-2711-434B-AEFB-9E214673E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47950-A376-49E5-A09E-DEAA9AD5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06/07/2026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8641F-5631-4BB0-94A8-CB1A2D78F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56033-BC76-47F3-AA32-F159420D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68849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2D0B8-307D-483C-BA2C-9A8A459E4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5D10E-5C2B-4972-BF7B-F95754607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C434A-E16E-4577-B5A4-C633EF521A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CF0B81-6BD8-4C65-9459-815598C5F1F4}" type="datetimeFigureOut">
              <a:rPr lang="en-PH" smtClean="0"/>
              <a:t>06/07/2026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472F3-C75B-4412-A75D-AF542B82A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A6DE4-6572-40B4-8CEF-D76FDC9FDC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86813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42556-D0B8-DDB4-B8DD-908D400A4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65C5E-91E0-7CD0-D6F3-656CE54D1D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Autofit/>
          </a:bodyPr>
          <a:lstStyle/>
          <a:p>
            <a:r>
              <a:rPr lang="en-PH" sz="4500" b="1" dirty="0"/>
              <a:t>Binary Search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6F4FE5D-C730-3015-ECC1-3B04C28BD9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553954"/>
              </p:ext>
            </p:extLst>
          </p:nvPr>
        </p:nvGraphicFramePr>
        <p:xfrm>
          <a:off x="2032000" y="2896326"/>
          <a:ext cx="8127999" cy="70104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290299028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98500449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87235798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9662310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20427931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773129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54528511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42643056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2851297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83637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7E5231-296F-297A-9784-A5004A23D56E}"/>
                  </a:ext>
                </a:extLst>
              </p:cNvPr>
              <p:cNvSpPr txBox="1"/>
              <p:nvPr/>
            </p:nvSpPr>
            <p:spPr>
              <a:xfrm>
                <a:off x="2113462" y="3692072"/>
                <a:ext cx="6636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PH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𝟒𝟕</m:t>
                      </m:r>
                      <m:r>
                        <a:rPr lang="en-PH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PH" b="1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7E5231-296F-297A-9784-A5004A23D5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3462" y="3692072"/>
                <a:ext cx="663643" cy="276999"/>
              </a:xfrm>
              <a:prstGeom prst="rect">
                <a:avLst/>
              </a:prstGeom>
              <a:blipFill>
                <a:blip r:embed="rId2"/>
                <a:stretch>
                  <a:fillRect l="-3670" r="-8257" b="-666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row: Down 5">
            <a:extLst>
              <a:ext uri="{FF2B5EF4-FFF2-40B4-BE49-F238E27FC236}">
                <a16:creationId xmlns:a16="http://schemas.microsoft.com/office/drawing/2014/main" id="{CF699ACD-BF1A-D850-92DA-C4AA6FD3F2E0}"/>
              </a:ext>
            </a:extLst>
          </p:cNvPr>
          <p:cNvSpPr/>
          <p:nvPr/>
        </p:nvSpPr>
        <p:spPr>
          <a:xfrm>
            <a:off x="2202967" y="2174966"/>
            <a:ext cx="484632" cy="626654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C166A80-72D1-89C7-F53C-4D87A2ED72FB}"/>
              </a:ext>
            </a:extLst>
          </p:cNvPr>
          <p:cNvSpPr txBox="1">
            <a:spLocks/>
          </p:cNvSpPr>
          <p:nvPr/>
        </p:nvSpPr>
        <p:spPr>
          <a:xfrm>
            <a:off x="1676400" y="649550"/>
            <a:ext cx="9144000" cy="7184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B050"/>
                </a:solidFill>
              </a:rPr>
              <a:t>Linear/Sequential Search</a:t>
            </a:r>
            <a:endParaRPr lang="en-PH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9461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4A40B2-2362-9B8E-4F59-F4F5F599F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27919-5334-861E-927A-E177082E4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Autofit/>
          </a:bodyPr>
          <a:lstStyle/>
          <a:p>
            <a:r>
              <a:rPr lang="en-PH" sz="4500" b="1" dirty="0"/>
              <a:t>Binary Search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0A4471B-A895-4AAA-D324-5110D669E9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6670583"/>
              </p:ext>
            </p:extLst>
          </p:nvPr>
        </p:nvGraphicFramePr>
        <p:xfrm>
          <a:off x="2032000" y="2896326"/>
          <a:ext cx="8127999" cy="70104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290299028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98500449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87235798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9662310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20427931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773129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54528511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42643056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2851297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83637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F49C4BD-BF6D-8DCB-310A-ED80BEFD9047}"/>
                  </a:ext>
                </a:extLst>
              </p:cNvPr>
              <p:cNvSpPr txBox="1"/>
              <p:nvPr/>
            </p:nvSpPr>
            <p:spPr>
              <a:xfrm>
                <a:off x="2988674" y="3692072"/>
                <a:ext cx="6636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PH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𝟒𝟕</m:t>
                      </m:r>
                      <m:r>
                        <a:rPr lang="en-PH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PH" b="1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F49C4BD-BF6D-8DCB-310A-ED80BEFD9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8674" y="3692072"/>
                <a:ext cx="663643" cy="276999"/>
              </a:xfrm>
              <a:prstGeom prst="rect">
                <a:avLst/>
              </a:prstGeom>
              <a:blipFill>
                <a:blip r:embed="rId2"/>
                <a:stretch>
                  <a:fillRect l="-2752" r="-9174" b="-666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row: Down 5">
            <a:extLst>
              <a:ext uri="{FF2B5EF4-FFF2-40B4-BE49-F238E27FC236}">
                <a16:creationId xmlns:a16="http://schemas.microsoft.com/office/drawing/2014/main" id="{096D2ED6-8998-C9A3-32AB-28763D25FAEB}"/>
              </a:ext>
            </a:extLst>
          </p:cNvPr>
          <p:cNvSpPr/>
          <p:nvPr/>
        </p:nvSpPr>
        <p:spPr>
          <a:xfrm>
            <a:off x="3167685" y="2174966"/>
            <a:ext cx="484632" cy="626654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EC39DDA-397B-EF26-902C-37CF96000FCF}"/>
              </a:ext>
            </a:extLst>
          </p:cNvPr>
          <p:cNvSpPr txBox="1">
            <a:spLocks/>
          </p:cNvSpPr>
          <p:nvPr/>
        </p:nvSpPr>
        <p:spPr>
          <a:xfrm>
            <a:off x="1676400" y="649550"/>
            <a:ext cx="9144000" cy="7184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B050"/>
                </a:solidFill>
              </a:rPr>
              <a:t>Linear/Sequential Search</a:t>
            </a:r>
            <a:endParaRPr lang="en-PH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46266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9D569A-727C-2556-A66C-9891C4C04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54BA1-A77E-B040-3667-19B6B63F83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Autofit/>
          </a:bodyPr>
          <a:lstStyle/>
          <a:p>
            <a:r>
              <a:rPr lang="en-PH" sz="4500" b="1" dirty="0"/>
              <a:t>Binary Search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831CF4B-0CB3-3B85-F422-9078BDD9FD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101423"/>
              </p:ext>
            </p:extLst>
          </p:nvPr>
        </p:nvGraphicFramePr>
        <p:xfrm>
          <a:off x="2032000" y="2896326"/>
          <a:ext cx="8127999" cy="70104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290299028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98500449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87235798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9662310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20427931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773129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54528511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42643056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2851297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83637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9D396FE-B69F-5A48-FEC2-5F0789983314}"/>
                  </a:ext>
                </a:extLst>
              </p:cNvPr>
              <p:cNvSpPr txBox="1"/>
              <p:nvPr/>
            </p:nvSpPr>
            <p:spPr>
              <a:xfrm>
                <a:off x="3896543" y="3692072"/>
                <a:ext cx="6636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PH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𝟒𝟕</m:t>
                      </m:r>
                      <m:r>
                        <a:rPr lang="en-PH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PH" b="1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9D396FE-B69F-5A48-FEC2-5F0789983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6543" y="3692072"/>
                <a:ext cx="663643" cy="276999"/>
              </a:xfrm>
              <a:prstGeom prst="rect">
                <a:avLst/>
              </a:prstGeom>
              <a:blipFill>
                <a:blip r:embed="rId2"/>
                <a:stretch>
                  <a:fillRect l="-2752" r="-9174" b="-666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row: Down 5">
            <a:extLst>
              <a:ext uri="{FF2B5EF4-FFF2-40B4-BE49-F238E27FC236}">
                <a16:creationId xmlns:a16="http://schemas.microsoft.com/office/drawing/2014/main" id="{BECF9C75-BC86-3BE5-949C-B9BBA364B0B2}"/>
              </a:ext>
            </a:extLst>
          </p:cNvPr>
          <p:cNvSpPr/>
          <p:nvPr/>
        </p:nvSpPr>
        <p:spPr>
          <a:xfrm>
            <a:off x="4075554" y="2174966"/>
            <a:ext cx="484632" cy="626654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4F78DBD-35AC-97B4-1DE0-6AAFA595353C}"/>
              </a:ext>
            </a:extLst>
          </p:cNvPr>
          <p:cNvSpPr txBox="1">
            <a:spLocks/>
          </p:cNvSpPr>
          <p:nvPr/>
        </p:nvSpPr>
        <p:spPr>
          <a:xfrm>
            <a:off x="1676400" y="649550"/>
            <a:ext cx="9144000" cy="7184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B050"/>
                </a:solidFill>
              </a:rPr>
              <a:t>Linear/Sequential Search</a:t>
            </a:r>
            <a:endParaRPr lang="en-PH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97632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1A58E4-CB9F-E0EA-1518-93E174624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5C9A2-CF9E-DA12-C436-6EB461869B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Autofit/>
          </a:bodyPr>
          <a:lstStyle/>
          <a:p>
            <a:r>
              <a:rPr lang="en-PH" sz="4500" b="1" dirty="0"/>
              <a:t>Binary Search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0B80E3B-2A05-D985-B048-B9F2220E09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819923"/>
              </p:ext>
            </p:extLst>
          </p:nvPr>
        </p:nvGraphicFramePr>
        <p:xfrm>
          <a:off x="2032000" y="2896326"/>
          <a:ext cx="8127999" cy="70104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290299028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98500449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87235798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9662310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20427931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773129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54528511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42643056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2851297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83637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8BDD0C4-0F23-050A-7B64-8376390F0AD4}"/>
                  </a:ext>
                </a:extLst>
              </p:cNvPr>
              <p:cNvSpPr txBox="1"/>
              <p:nvPr/>
            </p:nvSpPr>
            <p:spPr>
              <a:xfrm>
                <a:off x="4778286" y="3692072"/>
                <a:ext cx="6636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PH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𝟒𝟕</m:t>
                      </m:r>
                      <m:r>
                        <a:rPr lang="en-PH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PH" b="1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8BDD0C4-0F23-050A-7B64-8376390F0A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8286" y="3692072"/>
                <a:ext cx="663643" cy="276999"/>
              </a:xfrm>
              <a:prstGeom prst="rect">
                <a:avLst/>
              </a:prstGeom>
              <a:blipFill>
                <a:blip r:embed="rId2"/>
                <a:stretch>
                  <a:fillRect l="-3670" r="-8257" b="-666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row: Down 5">
            <a:extLst>
              <a:ext uri="{FF2B5EF4-FFF2-40B4-BE49-F238E27FC236}">
                <a16:creationId xmlns:a16="http://schemas.microsoft.com/office/drawing/2014/main" id="{817DEAF4-DD18-078C-7518-41487F3BD0B9}"/>
              </a:ext>
            </a:extLst>
          </p:cNvPr>
          <p:cNvSpPr/>
          <p:nvPr/>
        </p:nvSpPr>
        <p:spPr>
          <a:xfrm>
            <a:off x="4957297" y="2174966"/>
            <a:ext cx="484632" cy="626654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97CF2DB-ABF6-9690-284D-A76151505CFE}"/>
              </a:ext>
            </a:extLst>
          </p:cNvPr>
          <p:cNvSpPr txBox="1">
            <a:spLocks/>
          </p:cNvSpPr>
          <p:nvPr/>
        </p:nvSpPr>
        <p:spPr>
          <a:xfrm>
            <a:off x="1676400" y="649550"/>
            <a:ext cx="9144000" cy="7184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B050"/>
                </a:solidFill>
              </a:rPr>
              <a:t>Linear/Sequential Search</a:t>
            </a:r>
            <a:endParaRPr lang="en-PH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73044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75882F-E3CC-FCF5-B624-41BB43D1D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CFA7C-07B4-CF1B-0F85-BC3B0BF6D9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Autofit/>
          </a:bodyPr>
          <a:lstStyle/>
          <a:p>
            <a:r>
              <a:rPr lang="en-PH" sz="4500" b="1" dirty="0"/>
              <a:t>Binary Search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AE85C35-9C06-0511-3DCE-8B1F1DFD02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9928570"/>
              </p:ext>
            </p:extLst>
          </p:nvPr>
        </p:nvGraphicFramePr>
        <p:xfrm>
          <a:off x="2032000" y="2896326"/>
          <a:ext cx="8127999" cy="70104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290299028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98500449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87235798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9662310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20427931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773129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54528511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42643056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2851297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83637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2B573E0-E5B3-28DE-F939-BC8623419345}"/>
                  </a:ext>
                </a:extLst>
              </p:cNvPr>
              <p:cNvSpPr txBox="1"/>
              <p:nvPr/>
            </p:nvSpPr>
            <p:spPr>
              <a:xfrm>
                <a:off x="5699217" y="3692072"/>
                <a:ext cx="6636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PH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𝟒𝟕</m:t>
                      </m:r>
                      <m:r>
                        <a:rPr lang="en-PH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PH" b="1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2B573E0-E5B3-28DE-F939-BC86234193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9217" y="3692072"/>
                <a:ext cx="663643" cy="276999"/>
              </a:xfrm>
              <a:prstGeom prst="rect">
                <a:avLst/>
              </a:prstGeom>
              <a:blipFill>
                <a:blip r:embed="rId2"/>
                <a:stretch>
                  <a:fillRect l="-3670" r="-8257" b="-666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row: Down 5">
            <a:extLst>
              <a:ext uri="{FF2B5EF4-FFF2-40B4-BE49-F238E27FC236}">
                <a16:creationId xmlns:a16="http://schemas.microsoft.com/office/drawing/2014/main" id="{137D667A-A8B1-FD59-D50E-EB87D02C4DFE}"/>
              </a:ext>
            </a:extLst>
          </p:cNvPr>
          <p:cNvSpPr/>
          <p:nvPr/>
        </p:nvSpPr>
        <p:spPr>
          <a:xfrm>
            <a:off x="5878228" y="2174966"/>
            <a:ext cx="484632" cy="626654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2A80528-0AF2-4039-EAA0-BAAA20553A58}"/>
              </a:ext>
            </a:extLst>
          </p:cNvPr>
          <p:cNvSpPr txBox="1">
            <a:spLocks/>
          </p:cNvSpPr>
          <p:nvPr/>
        </p:nvSpPr>
        <p:spPr>
          <a:xfrm>
            <a:off x="1676400" y="649550"/>
            <a:ext cx="9144000" cy="7184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B050"/>
                </a:solidFill>
              </a:rPr>
              <a:t>Linear/Sequential Search</a:t>
            </a:r>
            <a:endParaRPr lang="en-PH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01869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C788EF-8814-79EE-FBE1-3D776A9B6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98F09-D5AB-CEFD-FF95-0C09ADF0A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Autofit/>
          </a:bodyPr>
          <a:lstStyle/>
          <a:p>
            <a:r>
              <a:rPr lang="en-PH" sz="4500" b="1" dirty="0"/>
              <a:t>Binary Search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18AF609-5C0F-A178-3C9A-74615B658E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171665"/>
              </p:ext>
            </p:extLst>
          </p:nvPr>
        </p:nvGraphicFramePr>
        <p:xfrm>
          <a:off x="2032000" y="2896326"/>
          <a:ext cx="8127999" cy="70104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290299028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98500449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87235798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9662310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20427931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773129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54528511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42643056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2851297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83637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AECF520-3646-8F0D-3242-8B540C2F4B31}"/>
                  </a:ext>
                </a:extLst>
              </p:cNvPr>
              <p:cNvSpPr txBox="1"/>
              <p:nvPr/>
            </p:nvSpPr>
            <p:spPr>
              <a:xfrm>
                <a:off x="6613616" y="3692072"/>
                <a:ext cx="6636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PH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𝟒𝟕</m:t>
                      </m:r>
                      <m:r>
                        <a:rPr lang="en-PH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PH" b="1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AECF520-3646-8F0D-3242-8B540C2F4B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3616" y="3692072"/>
                <a:ext cx="663643" cy="276999"/>
              </a:xfrm>
              <a:prstGeom prst="rect">
                <a:avLst/>
              </a:prstGeom>
              <a:blipFill>
                <a:blip r:embed="rId2"/>
                <a:stretch>
                  <a:fillRect l="-3670" r="-8257" b="-666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row: Down 5">
            <a:extLst>
              <a:ext uri="{FF2B5EF4-FFF2-40B4-BE49-F238E27FC236}">
                <a16:creationId xmlns:a16="http://schemas.microsoft.com/office/drawing/2014/main" id="{B11213EE-D5D9-EC0C-F70D-5D591BFF577D}"/>
              </a:ext>
            </a:extLst>
          </p:cNvPr>
          <p:cNvSpPr/>
          <p:nvPr/>
        </p:nvSpPr>
        <p:spPr>
          <a:xfrm>
            <a:off x="6792627" y="2174966"/>
            <a:ext cx="484632" cy="626654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3D5DAFF-859B-B757-CCC3-B36B57A23B71}"/>
              </a:ext>
            </a:extLst>
          </p:cNvPr>
          <p:cNvSpPr txBox="1">
            <a:spLocks/>
          </p:cNvSpPr>
          <p:nvPr/>
        </p:nvSpPr>
        <p:spPr>
          <a:xfrm>
            <a:off x="1676400" y="649550"/>
            <a:ext cx="9144000" cy="7184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B050"/>
                </a:solidFill>
              </a:rPr>
              <a:t>Linear/Sequential Search</a:t>
            </a:r>
            <a:endParaRPr lang="en-PH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45165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E6E787-08B5-5CCE-CE94-9F84F7905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4D3E9-4933-DC24-B4FC-5231E82F3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Autofit/>
          </a:bodyPr>
          <a:lstStyle/>
          <a:p>
            <a:r>
              <a:rPr lang="en-PH" sz="4500" b="1" dirty="0"/>
              <a:t>Binary Search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B33D868-A1D6-AA88-B8AB-B09D6A3AF7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097858"/>
              </p:ext>
            </p:extLst>
          </p:nvPr>
        </p:nvGraphicFramePr>
        <p:xfrm>
          <a:off x="2032000" y="2896326"/>
          <a:ext cx="8127999" cy="70104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290299028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98500449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87235798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9662310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20427931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773129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54528511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42643056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2851297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83637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D3CBA77-5BF8-B8DA-3C22-A0599CC15373}"/>
                  </a:ext>
                </a:extLst>
              </p:cNvPr>
              <p:cNvSpPr txBox="1"/>
              <p:nvPr/>
            </p:nvSpPr>
            <p:spPr>
              <a:xfrm>
                <a:off x="7482297" y="3692072"/>
                <a:ext cx="6636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PH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𝟒𝟕</m:t>
                      </m:r>
                      <m:r>
                        <a:rPr lang="en-PH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PH" b="1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D3CBA77-5BF8-B8DA-3C22-A0599CC153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2297" y="3692072"/>
                <a:ext cx="663643" cy="276999"/>
              </a:xfrm>
              <a:prstGeom prst="rect">
                <a:avLst/>
              </a:prstGeom>
              <a:blipFill>
                <a:blip r:embed="rId2"/>
                <a:stretch>
                  <a:fillRect l="-2752" r="-9174" b="-666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row: Down 5">
            <a:extLst>
              <a:ext uri="{FF2B5EF4-FFF2-40B4-BE49-F238E27FC236}">
                <a16:creationId xmlns:a16="http://schemas.microsoft.com/office/drawing/2014/main" id="{A15D30D5-6778-DD3D-C358-3441132380FF}"/>
              </a:ext>
            </a:extLst>
          </p:cNvPr>
          <p:cNvSpPr/>
          <p:nvPr/>
        </p:nvSpPr>
        <p:spPr>
          <a:xfrm>
            <a:off x="7661308" y="2174966"/>
            <a:ext cx="484632" cy="626654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043FC4E-2234-C29C-E337-9D6C6AD3D824}"/>
              </a:ext>
            </a:extLst>
          </p:cNvPr>
          <p:cNvSpPr txBox="1">
            <a:spLocks/>
          </p:cNvSpPr>
          <p:nvPr/>
        </p:nvSpPr>
        <p:spPr>
          <a:xfrm>
            <a:off x="1676400" y="649550"/>
            <a:ext cx="9144000" cy="7184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B050"/>
                </a:solidFill>
              </a:rPr>
              <a:t>Linear/Sequential Search</a:t>
            </a:r>
            <a:endParaRPr lang="en-PH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89860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52BBF8-E519-1F6C-4D3E-08B031FA1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55065-C2ED-7D49-E2BA-91D4D0F416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Autofit/>
          </a:bodyPr>
          <a:lstStyle/>
          <a:p>
            <a:r>
              <a:rPr lang="en-PH" sz="4500" b="1" dirty="0"/>
              <a:t>Binary Search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B619BC0-0FD5-8141-4F76-63D445D0ED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060380"/>
              </p:ext>
            </p:extLst>
          </p:nvPr>
        </p:nvGraphicFramePr>
        <p:xfrm>
          <a:off x="2032000" y="2896326"/>
          <a:ext cx="8127999" cy="70104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290299028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98500449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87235798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9662310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20427931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773129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54528511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42643056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2851297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47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83637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1D2AB7C-3192-4E76-2E0F-2FBC59665515}"/>
                  </a:ext>
                </a:extLst>
              </p:cNvPr>
              <p:cNvSpPr txBox="1"/>
              <p:nvPr/>
            </p:nvSpPr>
            <p:spPr>
              <a:xfrm>
                <a:off x="8377102" y="3692072"/>
                <a:ext cx="6636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PH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𝟒𝟕</m:t>
                      </m:r>
                      <m:r>
                        <a:rPr lang="en-PH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PH" b="1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1D2AB7C-3192-4E76-2E0F-2FBC59665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7102" y="3692072"/>
                <a:ext cx="663643" cy="276999"/>
              </a:xfrm>
              <a:prstGeom prst="rect">
                <a:avLst/>
              </a:prstGeom>
              <a:blipFill>
                <a:blip r:embed="rId2"/>
                <a:stretch>
                  <a:fillRect l="-2752" r="-9174" b="-666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row: Down 5">
            <a:extLst>
              <a:ext uri="{FF2B5EF4-FFF2-40B4-BE49-F238E27FC236}">
                <a16:creationId xmlns:a16="http://schemas.microsoft.com/office/drawing/2014/main" id="{343EA8CE-DF03-A262-0EE7-EE9159914FBA}"/>
              </a:ext>
            </a:extLst>
          </p:cNvPr>
          <p:cNvSpPr/>
          <p:nvPr/>
        </p:nvSpPr>
        <p:spPr>
          <a:xfrm>
            <a:off x="8556113" y="2174966"/>
            <a:ext cx="484632" cy="626654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63877D2-FBAB-90BE-9784-F7E9688FEBAD}"/>
              </a:ext>
            </a:extLst>
          </p:cNvPr>
          <p:cNvSpPr txBox="1">
            <a:spLocks/>
          </p:cNvSpPr>
          <p:nvPr/>
        </p:nvSpPr>
        <p:spPr>
          <a:xfrm>
            <a:off x="1676400" y="649550"/>
            <a:ext cx="9144000" cy="7184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B050"/>
                </a:solidFill>
              </a:rPr>
              <a:t>Linear/Sequential Search</a:t>
            </a:r>
            <a:endParaRPr lang="en-PH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01191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8A8119-3BEF-D2A1-ED04-86D1DC427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392B7-AF63-3830-2281-102BA8A7FC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Autofit/>
          </a:bodyPr>
          <a:lstStyle/>
          <a:p>
            <a:r>
              <a:rPr lang="en-PH" sz="4500" b="1" dirty="0"/>
              <a:t>Binary Search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1FA7271-9AC8-0F90-C4FE-793945A81B76}"/>
              </a:ext>
            </a:extLst>
          </p:cNvPr>
          <p:cNvCxnSpPr/>
          <p:nvPr/>
        </p:nvCxnSpPr>
        <p:spPr>
          <a:xfrm>
            <a:off x="1968500" y="5486400"/>
            <a:ext cx="8020050" cy="0"/>
          </a:xfrm>
          <a:prstGeom prst="straightConnector1">
            <a:avLst/>
          </a:prstGeom>
          <a:ln w="762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F817948-A604-AD4B-B89E-E76D62AFED1B}"/>
              </a:ext>
            </a:extLst>
          </p:cNvPr>
          <p:cNvCxnSpPr>
            <a:cxnSpLocks/>
          </p:cNvCxnSpPr>
          <p:nvPr/>
        </p:nvCxnSpPr>
        <p:spPr>
          <a:xfrm flipV="1">
            <a:off x="1968500" y="327025"/>
            <a:ext cx="0" cy="5197475"/>
          </a:xfrm>
          <a:prstGeom prst="straightConnector1">
            <a:avLst/>
          </a:prstGeom>
          <a:ln w="762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8B03E23-E212-7330-934E-BFB827C0748B}"/>
              </a:ext>
            </a:extLst>
          </p:cNvPr>
          <p:cNvSpPr txBox="1"/>
          <p:nvPr/>
        </p:nvSpPr>
        <p:spPr>
          <a:xfrm>
            <a:off x="5321935" y="6858000"/>
            <a:ext cx="13131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chemeClr val="bg1"/>
                </a:solidFill>
                <a:latin typeface="Consolas" panose="020B0609020204030204" pitchFamily="49" charset="0"/>
              </a:rPr>
              <a:t>data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5BE913-F2B9-BDAE-7213-F7F0E9E64294}"/>
              </a:ext>
            </a:extLst>
          </p:cNvPr>
          <p:cNvSpPr txBox="1"/>
          <p:nvPr/>
        </p:nvSpPr>
        <p:spPr>
          <a:xfrm rot="5400000" flipH="1">
            <a:off x="-1075690" y="2571819"/>
            <a:ext cx="13131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chemeClr val="bg1"/>
                </a:solidFill>
                <a:latin typeface="Consolas" panose="020B0609020204030204" pitchFamily="49" charset="0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27979957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6D02F8-2DF7-E810-44DC-18D2389EA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EB97F-C54B-CCA9-EA91-2D22E9909B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Autofit/>
          </a:bodyPr>
          <a:lstStyle/>
          <a:p>
            <a:r>
              <a:rPr lang="en-PH" sz="4500" b="1" dirty="0"/>
              <a:t>Binary Search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98842C0-ADA3-926B-C6C6-81FA1614F628}"/>
              </a:ext>
            </a:extLst>
          </p:cNvPr>
          <p:cNvCxnSpPr/>
          <p:nvPr/>
        </p:nvCxnSpPr>
        <p:spPr>
          <a:xfrm>
            <a:off x="1968500" y="5486400"/>
            <a:ext cx="8020050" cy="0"/>
          </a:xfrm>
          <a:prstGeom prst="straightConnector1">
            <a:avLst/>
          </a:prstGeom>
          <a:ln w="762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CD70EF5-9D0A-39A3-68EC-A1B5469C2FC5}"/>
              </a:ext>
            </a:extLst>
          </p:cNvPr>
          <p:cNvCxnSpPr>
            <a:cxnSpLocks/>
          </p:cNvCxnSpPr>
          <p:nvPr/>
        </p:nvCxnSpPr>
        <p:spPr>
          <a:xfrm flipV="1">
            <a:off x="1968500" y="327025"/>
            <a:ext cx="0" cy="5197475"/>
          </a:xfrm>
          <a:prstGeom prst="straightConnector1">
            <a:avLst/>
          </a:prstGeom>
          <a:ln w="762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3D4AB0A-298D-2435-61C5-31B5AE3F5EC8}"/>
              </a:ext>
            </a:extLst>
          </p:cNvPr>
          <p:cNvSpPr txBox="1"/>
          <p:nvPr/>
        </p:nvSpPr>
        <p:spPr>
          <a:xfrm>
            <a:off x="5321935" y="5652964"/>
            <a:ext cx="13131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chemeClr val="bg1"/>
                </a:solidFill>
                <a:latin typeface="Consolas" panose="020B0609020204030204" pitchFamily="49" charset="0"/>
              </a:rPr>
              <a:t>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26B1A3-3A3C-CC50-CF6A-09B3B33AEFE3}"/>
              </a:ext>
            </a:extLst>
          </p:cNvPr>
          <p:cNvSpPr txBox="1"/>
          <p:nvPr/>
        </p:nvSpPr>
        <p:spPr>
          <a:xfrm rot="5400000" flipH="1">
            <a:off x="-1075690" y="2571819"/>
            <a:ext cx="13131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chemeClr val="bg1"/>
                </a:solidFill>
                <a:latin typeface="Consolas" panose="020B0609020204030204" pitchFamily="49" charset="0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20364994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3EAD41-8DDE-2C43-0636-4A39E182B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97839-07AF-AB65-B9FC-68934F3808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Autofit/>
          </a:bodyPr>
          <a:lstStyle/>
          <a:p>
            <a:r>
              <a:rPr lang="en-PH" sz="4500" b="1" dirty="0"/>
              <a:t>Binary Search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543868B-9BF7-3DD2-49AD-6DD8EDC65F13}"/>
              </a:ext>
            </a:extLst>
          </p:cNvPr>
          <p:cNvCxnSpPr/>
          <p:nvPr/>
        </p:nvCxnSpPr>
        <p:spPr>
          <a:xfrm>
            <a:off x="1968500" y="5486400"/>
            <a:ext cx="8020050" cy="0"/>
          </a:xfrm>
          <a:prstGeom prst="straightConnector1">
            <a:avLst/>
          </a:prstGeom>
          <a:ln w="762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D26EA76-5A9D-CCEE-291E-D0A778A16806}"/>
              </a:ext>
            </a:extLst>
          </p:cNvPr>
          <p:cNvCxnSpPr>
            <a:cxnSpLocks/>
          </p:cNvCxnSpPr>
          <p:nvPr/>
        </p:nvCxnSpPr>
        <p:spPr>
          <a:xfrm flipV="1">
            <a:off x="1968500" y="327025"/>
            <a:ext cx="0" cy="5197475"/>
          </a:xfrm>
          <a:prstGeom prst="straightConnector1">
            <a:avLst/>
          </a:prstGeom>
          <a:ln w="762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D77ECAD-C64E-1389-CA8D-264BF55A00EB}"/>
              </a:ext>
            </a:extLst>
          </p:cNvPr>
          <p:cNvSpPr txBox="1"/>
          <p:nvPr/>
        </p:nvSpPr>
        <p:spPr>
          <a:xfrm>
            <a:off x="5321935" y="5652964"/>
            <a:ext cx="13131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chemeClr val="bg1"/>
                </a:solidFill>
                <a:latin typeface="Consolas" panose="020B0609020204030204" pitchFamily="49" charset="0"/>
              </a:rPr>
              <a:t>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DC574B-CACA-FD9A-0CAB-B045BBEE088C}"/>
              </a:ext>
            </a:extLst>
          </p:cNvPr>
          <p:cNvSpPr txBox="1"/>
          <p:nvPr/>
        </p:nvSpPr>
        <p:spPr>
          <a:xfrm rot="5400000" flipH="1">
            <a:off x="513467" y="2571819"/>
            <a:ext cx="13131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chemeClr val="bg1"/>
                </a:solidFill>
                <a:latin typeface="Consolas" panose="020B0609020204030204" pitchFamily="49" charset="0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32356236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88103A-2D93-B4E7-34D3-445E7C1FA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8E1F7-2198-DBED-009C-B1560D2B3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Autofit/>
          </a:bodyPr>
          <a:lstStyle/>
          <a:p>
            <a:r>
              <a:rPr lang="en-PH" sz="4500" b="1" dirty="0"/>
              <a:t>Binary Search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9C0F26B-7260-91BD-F796-77E61D70EC6D}"/>
              </a:ext>
            </a:extLst>
          </p:cNvPr>
          <p:cNvCxnSpPr/>
          <p:nvPr/>
        </p:nvCxnSpPr>
        <p:spPr>
          <a:xfrm>
            <a:off x="1968500" y="5486400"/>
            <a:ext cx="8020050" cy="0"/>
          </a:xfrm>
          <a:prstGeom prst="straightConnector1">
            <a:avLst/>
          </a:prstGeom>
          <a:ln w="762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ABB8AF1-CF7F-4C1E-F44A-186F62338620}"/>
              </a:ext>
            </a:extLst>
          </p:cNvPr>
          <p:cNvCxnSpPr>
            <a:cxnSpLocks/>
          </p:cNvCxnSpPr>
          <p:nvPr/>
        </p:nvCxnSpPr>
        <p:spPr>
          <a:xfrm flipV="1">
            <a:off x="1968500" y="327025"/>
            <a:ext cx="0" cy="5197475"/>
          </a:xfrm>
          <a:prstGeom prst="straightConnector1">
            <a:avLst/>
          </a:prstGeom>
          <a:ln w="762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B49E47B-08EF-68F0-85B8-4D2C2DA8B21D}"/>
              </a:ext>
            </a:extLst>
          </p:cNvPr>
          <p:cNvSpPr txBox="1"/>
          <p:nvPr/>
        </p:nvSpPr>
        <p:spPr>
          <a:xfrm>
            <a:off x="5321935" y="5652964"/>
            <a:ext cx="13131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chemeClr val="bg1"/>
                </a:solidFill>
                <a:latin typeface="Consolas" panose="020B0609020204030204" pitchFamily="49" charset="0"/>
              </a:rPr>
              <a:t>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654514-C618-DF79-1F22-E5323E791655}"/>
              </a:ext>
            </a:extLst>
          </p:cNvPr>
          <p:cNvSpPr txBox="1"/>
          <p:nvPr/>
        </p:nvSpPr>
        <p:spPr>
          <a:xfrm rot="5400000" flipH="1">
            <a:off x="513467" y="2571819"/>
            <a:ext cx="13131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chemeClr val="bg1"/>
                </a:solidFill>
                <a:latin typeface="Consolas" panose="020B0609020204030204" pitchFamily="49" charset="0"/>
              </a:rPr>
              <a:t>time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170D54E-BEB0-9107-B8DB-7AE817A4242E}"/>
              </a:ext>
            </a:extLst>
          </p:cNvPr>
          <p:cNvCxnSpPr>
            <a:cxnSpLocks/>
          </p:cNvCxnSpPr>
          <p:nvPr/>
        </p:nvCxnSpPr>
        <p:spPr>
          <a:xfrm flipV="1">
            <a:off x="1968500" y="2125981"/>
            <a:ext cx="5925820" cy="3322320"/>
          </a:xfrm>
          <a:prstGeom prst="straightConnector1">
            <a:avLst/>
          </a:prstGeom>
          <a:ln w="76200"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525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E9E1FF-B495-463A-8163-6308DCB03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F1FCC-0BB4-A3DE-1601-FADF22ADEF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Autofit/>
          </a:bodyPr>
          <a:lstStyle/>
          <a:p>
            <a:r>
              <a:rPr lang="en-PH" sz="4500" b="1" dirty="0"/>
              <a:t>Binary Search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C40051B-D791-9C39-2717-08730BC86C5A}"/>
              </a:ext>
            </a:extLst>
          </p:cNvPr>
          <p:cNvCxnSpPr/>
          <p:nvPr/>
        </p:nvCxnSpPr>
        <p:spPr>
          <a:xfrm>
            <a:off x="1968500" y="5486400"/>
            <a:ext cx="8020050" cy="0"/>
          </a:xfrm>
          <a:prstGeom prst="straightConnector1">
            <a:avLst/>
          </a:prstGeom>
          <a:ln w="762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B78026A-3D4F-4C5B-638A-EEDAD67D57EC}"/>
              </a:ext>
            </a:extLst>
          </p:cNvPr>
          <p:cNvCxnSpPr>
            <a:cxnSpLocks/>
          </p:cNvCxnSpPr>
          <p:nvPr/>
        </p:nvCxnSpPr>
        <p:spPr>
          <a:xfrm flipV="1">
            <a:off x="1968500" y="327025"/>
            <a:ext cx="0" cy="5197475"/>
          </a:xfrm>
          <a:prstGeom prst="straightConnector1">
            <a:avLst/>
          </a:prstGeom>
          <a:ln w="762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E85FBC9-14A6-C327-2F92-C94F8C82786F}"/>
              </a:ext>
            </a:extLst>
          </p:cNvPr>
          <p:cNvSpPr txBox="1"/>
          <p:nvPr/>
        </p:nvSpPr>
        <p:spPr>
          <a:xfrm>
            <a:off x="5321935" y="5652964"/>
            <a:ext cx="13131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chemeClr val="bg1"/>
                </a:solidFill>
                <a:latin typeface="Consolas" panose="020B0609020204030204" pitchFamily="49" charset="0"/>
              </a:rPr>
              <a:t>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FB748E-2465-3C62-7D3D-C2C39071A6A6}"/>
              </a:ext>
            </a:extLst>
          </p:cNvPr>
          <p:cNvSpPr txBox="1"/>
          <p:nvPr/>
        </p:nvSpPr>
        <p:spPr>
          <a:xfrm rot="5400000" flipH="1">
            <a:off x="513467" y="2571819"/>
            <a:ext cx="13131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chemeClr val="bg1"/>
                </a:solidFill>
                <a:latin typeface="Consolas" panose="020B0609020204030204" pitchFamily="49" charset="0"/>
              </a:rPr>
              <a:t>time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F9A2FA9-AD73-5EB3-130F-8BCABB5F317A}"/>
              </a:ext>
            </a:extLst>
          </p:cNvPr>
          <p:cNvCxnSpPr>
            <a:cxnSpLocks/>
          </p:cNvCxnSpPr>
          <p:nvPr/>
        </p:nvCxnSpPr>
        <p:spPr>
          <a:xfrm flipV="1">
            <a:off x="1968500" y="2125981"/>
            <a:ext cx="5925820" cy="3322320"/>
          </a:xfrm>
          <a:prstGeom prst="straightConnector1">
            <a:avLst/>
          </a:prstGeom>
          <a:ln w="76200"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527389A-884B-AD0F-C3D9-455175497793}"/>
              </a:ext>
            </a:extLst>
          </p:cNvPr>
          <p:cNvSpPr txBox="1"/>
          <p:nvPr/>
        </p:nvSpPr>
        <p:spPr>
          <a:xfrm>
            <a:off x="8179435" y="1667966"/>
            <a:ext cx="13131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rgbClr val="FFFF00"/>
                </a:solidFill>
                <a:latin typeface="Consolas" panose="020B0609020204030204" pitchFamily="49" charset="0"/>
              </a:rPr>
              <a:t>O(n)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91E2BC-A330-1ECC-3E5D-57DE1AD4D8AE}"/>
              </a:ext>
            </a:extLst>
          </p:cNvPr>
          <p:cNvSpPr txBox="1"/>
          <p:nvPr/>
        </p:nvSpPr>
        <p:spPr>
          <a:xfrm>
            <a:off x="7351644" y="2753881"/>
            <a:ext cx="4281941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1500" b="1" dirty="0">
                <a:solidFill>
                  <a:srgbClr val="FFFF00"/>
                </a:solidFill>
                <a:latin typeface="Consolas" panose="020B0609020204030204" pitchFamily="49" charset="0"/>
              </a:rPr>
              <a:t>O(n)= linear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sz="1500" b="1" dirty="0">
                <a:solidFill>
                  <a:srgbClr val="FFFF00"/>
                </a:solidFill>
                <a:latin typeface="Consolas" panose="020B0609020204030204" pitchFamily="49" charset="0"/>
              </a:rPr>
              <a:t>Looping through elements in an array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sz="1500" b="1" dirty="0">
                <a:solidFill>
                  <a:srgbClr val="FFFF00"/>
                </a:solidFill>
                <a:latin typeface="Consolas" panose="020B0609020204030204" pitchFamily="49" charset="0"/>
              </a:rPr>
              <a:t>Searching through a </a:t>
            </a:r>
            <a:r>
              <a:rPr lang="en-PH" sz="1500" b="1" dirty="0" err="1">
                <a:solidFill>
                  <a:srgbClr val="FFFF00"/>
                </a:solidFill>
                <a:latin typeface="Consolas" panose="020B0609020204030204" pitchFamily="49" charset="0"/>
              </a:rPr>
              <a:t>linkedlist</a:t>
            </a:r>
            <a:endParaRPr lang="en-PH" sz="1500" b="1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42994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68E4C4-BC9C-5128-66D0-49A6A4D18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E9341-00B8-37B9-9A1B-4A1D7ADB3B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Autofit/>
          </a:bodyPr>
          <a:lstStyle/>
          <a:p>
            <a:r>
              <a:rPr lang="en-PH" sz="4500" b="1" dirty="0"/>
              <a:t>Binary Search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2CD59F7-E1C2-87D2-C8F7-5D64726DD8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784951"/>
              </p:ext>
            </p:extLst>
          </p:nvPr>
        </p:nvGraphicFramePr>
        <p:xfrm>
          <a:off x="2032000" y="2896326"/>
          <a:ext cx="8127999" cy="70104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290299028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98500449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87235798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9662310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20427931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773129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54528511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42643056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2851297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47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53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83637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B063D2E-0E03-F913-676E-7F78637CEE56}"/>
                  </a:ext>
                </a:extLst>
              </p:cNvPr>
              <p:cNvSpPr txBox="1"/>
              <p:nvPr/>
            </p:nvSpPr>
            <p:spPr>
              <a:xfrm>
                <a:off x="6167302" y="6983912"/>
                <a:ext cx="6636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PH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𝟒𝟕</m:t>
                      </m:r>
                      <m:r>
                        <a:rPr lang="en-PH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PH" b="1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B063D2E-0E03-F913-676E-7F78637CE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7302" y="6983912"/>
                <a:ext cx="663643" cy="276999"/>
              </a:xfrm>
              <a:prstGeom prst="rect">
                <a:avLst/>
              </a:prstGeom>
              <a:blipFill>
                <a:blip r:embed="rId2"/>
                <a:stretch>
                  <a:fillRect l="-3670" r="-8257" b="-666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A78C9054-71A2-B7D3-3F2A-380AB00E5E6D}"/>
              </a:ext>
            </a:extLst>
          </p:cNvPr>
          <p:cNvSpPr txBox="1">
            <a:spLocks/>
          </p:cNvSpPr>
          <p:nvPr/>
        </p:nvSpPr>
        <p:spPr>
          <a:xfrm>
            <a:off x="1676400" y="649550"/>
            <a:ext cx="9144000" cy="7184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B050"/>
                </a:solidFill>
              </a:rPr>
              <a:t>Binary Search</a:t>
            </a:r>
            <a:endParaRPr lang="en-PH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88434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78AF19-C7BE-0B8E-7BCB-0952EA650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DA81A-FBFD-3451-E6E5-F45525DA98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Autofit/>
          </a:bodyPr>
          <a:lstStyle/>
          <a:p>
            <a:r>
              <a:rPr lang="en-PH" sz="4500" b="1" dirty="0"/>
              <a:t>Binary Search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E00182C-74DA-BDFF-7F8C-2C83DCE28D3F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2896326"/>
          <a:ext cx="8127999" cy="70104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290299028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98500449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87235798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9662310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20427931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773129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54528511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42643056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2851297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47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53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83637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C98E190-CA1F-01C8-D1A8-9A71545C9544}"/>
                  </a:ext>
                </a:extLst>
              </p:cNvPr>
              <p:cNvSpPr txBox="1"/>
              <p:nvPr/>
            </p:nvSpPr>
            <p:spPr>
              <a:xfrm>
                <a:off x="6167302" y="6983912"/>
                <a:ext cx="6636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PH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𝟒𝟕</m:t>
                      </m:r>
                      <m:r>
                        <a:rPr lang="en-PH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PH" b="1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C98E190-CA1F-01C8-D1A8-9A71545C95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7302" y="6983912"/>
                <a:ext cx="663643" cy="276999"/>
              </a:xfrm>
              <a:prstGeom prst="rect">
                <a:avLst/>
              </a:prstGeom>
              <a:blipFill>
                <a:blip r:embed="rId2"/>
                <a:stretch>
                  <a:fillRect l="-3670" r="-8257" b="-666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D5B620E-7B1A-F650-93A8-DE440A9B1CE4}"/>
              </a:ext>
            </a:extLst>
          </p:cNvPr>
          <p:cNvSpPr txBox="1"/>
          <p:nvPr/>
        </p:nvSpPr>
        <p:spPr>
          <a:xfrm>
            <a:off x="4335780" y="5196840"/>
            <a:ext cx="35204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000" dirty="0">
                <a:solidFill>
                  <a:schemeClr val="bg1"/>
                </a:solidFill>
              </a:rPr>
              <a:t>Find the middle point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52C0C1B-30B8-6B2F-7134-1FE6202C99E1}"/>
              </a:ext>
            </a:extLst>
          </p:cNvPr>
          <p:cNvSpPr txBox="1">
            <a:spLocks/>
          </p:cNvSpPr>
          <p:nvPr/>
        </p:nvSpPr>
        <p:spPr>
          <a:xfrm>
            <a:off x="1676400" y="649550"/>
            <a:ext cx="9144000" cy="7184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B050"/>
                </a:solidFill>
              </a:rPr>
              <a:t>Binary Search</a:t>
            </a:r>
            <a:endParaRPr lang="en-PH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09688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D893A9-8237-8A26-AD0F-0517F37DD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5E8C0-C15B-EF9E-237D-AF2756F936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Autofit/>
          </a:bodyPr>
          <a:lstStyle/>
          <a:p>
            <a:r>
              <a:rPr lang="en-PH" sz="4500" b="1" dirty="0"/>
              <a:t>Binary Search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0F53D9-D58A-0688-C214-CD71004B7A55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2896326"/>
          <a:ext cx="8127999" cy="70104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290299028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98500449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87235798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9662310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20427931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773129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54528511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42643056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2851297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47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53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836372"/>
                  </a:ext>
                </a:extLst>
              </a:tr>
            </a:tbl>
          </a:graphicData>
        </a:graphic>
      </p:graphicFrame>
      <p:sp>
        <p:nvSpPr>
          <p:cNvPr id="6" name="Arrow: Down 5">
            <a:extLst>
              <a:ext uri="{FF2B5EF4-FFF2-40B4-BE49-F238E27FC236}">
                <a16:creationId xmlns:a16="http://schemas.microsoft.com/office/drawing/2014/main" id="{F450F8DE-89D2-7573-FF7C-6D9768EBA34E}"/>
              </a:ext>
            </a:extLst>
          </p:cNvPr>
          <p:cNvSpPr/>
          <p:nvPr/>
        </p:nvSpPr>
        <p:spPr>
          <a:xfrm>
            <a:off x="5924986" y="2197826"/>
            <a:ext cx="484632" cy="626654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FDCAA8-C707-4672-45E1-99D1993716D4}"/>
              </a:ext>
            </a:extLst>
          </p:cNvPr>
          <p:cNvSpPr txBox="1"/>
          <p:nvPr/>
        </p:nvSpPr>
        <p:spPr>
          <a:xfrm>
            <a:off x="4335779" y="5196840"/>
            <a:ext cx="35204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000" dirty="0">
                <a:solidFill>
                  <a:schemeClr val="bg1"/>
                </a:solidFill>
              </a:rPr>
              <a:t>Find the middle point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D58766D-87A1-B0F8-0B6E-2132A98C4EBC}"/>
              </a:ext>
            </a:extLst>
          </p:cNvPr>
          <p:cNvSpPr txBox="1">
            <a:spLocks/>
          </p:cNvSpPr>
          <p:nvPr/>
        </p:nvSpPr>
        <p:spPr>
          <a:xfrm>
            <a:off x="1676400" y="649550"/>
            <a:ext cx="9144000" cy="7184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B050"/>
                </a:solidFill>
              </a:rPr>
              <a:t>Binary Search</a:t>
            </a:r>
            <a:endParaRPr lang="en-PH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92359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9E18E4-CD30-F183-73AE-2DDD77D56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0C774-E5BB-3952-6D92-B7E264318B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Autofit/>
          </a:bodyPr>
          <a:lstStyle/>
          <a:p>
            <a:r>
              <a:rPr lang="en-PH" sz="4500" b="1" dirty="0"/>
              <a:t>Binary Search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138A9FC-44F4-8A9F-BC24-2604B1795A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404920"/>
              </p:ext>
            </p:extLst>
          </p:nvPr>
        </p:nvGraphicFramePr>
        <p:xfrm>
          <a:off x="2032000" y="2896326"/>
          <a:ext cx="8127999" cy="70104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290299028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98500449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87235798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9662310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20427931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773129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54528511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42643056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2851297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47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53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836372"/>
                  </a:ext>
                </a:extLst>
              </a:tr>
            </a:tbl>
          </a:graphicData>
        </a:graphic>
      </p:graphicFrame>
      <p:sp>
        <p:nvSpPr>
          <p:cNvPr id="6" name="Arrow: Down 5">
            <a:extLst>
              <a:ext uri="{FF2B5EF4-FFF2-40B4-BE49-F238E27FC236}">
                <a16:creationId xmlns:a16="http://schemas.microsoft.com/office/drawing/2014/main" id="{0D68ECE6-23C1-18D8-E954-67EAC2A31704}"/>
              </a:ext>
            </a:extLst>
          </p:cNvPr>
          <p:cNvSpPr/>
          <p:nvPr/>
        </p:nvSpPr>
        <p:spPr>
          <a:xfrm>
            <a:off x="5924986" y="2197826"/>
            <a:ext cx="484632" cy="626654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FDF192-FBA8-3E21-6FCE-3AF26C7B0BB6}"/>
              </a:ext>
            </a:extLst>
          </p:cNvPr>
          <p:cNvSpPr txBox="1"/>
          <p:nvPr/>
        </p:nvSpPr>
        <p:spPr>
          <a:xfrm>
            <a:off x="5330188" y="5196840"/>
            <a:ext cx="15316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000" dirty="0">
                <a:solidFill>
                  <a:schemeClr val="bg1"/>
                </a:solidFill>
              </a:rPr>
              <a:t>14 &lt; 47?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3B18880-FD25-5C59-F7EE-728F415F3EB3}"/>
              </a:ext>
            </a:extLst>
          </p:cNvPr>
          <p:cNvSpPr txBox="1">
            <a:spLocks/>
          </p:cNvSpPr>
          <p:nvPr/>
        </p:nvSpPr>
        <p:spPr>
          <a:xfrm>
            <a:off x="1676400" y="649550"/>
            <a:ext cx="9144000" cy="7184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B050"/>
                </a:solidFill>
              </a:rPr>
              <a:t>Binary Search</a:t>
            </a:r>
            <a:endParaRPr lang="en-PH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92675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1C751B-0589-D068-38B0-ABE9031DA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36E32-751B-6878-01EC-F6F97D3CFA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Autofit/>
          </a:bodyPr>
          <a:lstStyle/>
          <a:p>
            <a:r>
              <a:rPr lang="en-PH" sz="4500" b="1" dirty="0"/>
              <a:t>Binary Search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3836B6A-383E-3867-D786-96B0079A9D6F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2896326"/>
          <a:ext cx="8127999" cy="70104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290299028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98500449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87235798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9662310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20427931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773129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54528511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42643056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2851297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47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53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83637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8ED820-F0A3-CE8E-90A1-730538D25A71}"/>
                  </a:ext>
                </a:extLst>
              </p:cNvPr>
              <p:cNvSpPr txBox="1"/>
              <p:nvPr/>
            </p:nvSpPr>
            <p:spPr>
              <a:xfrm>
                <a:off x="6167302" y="6983912"/>
                <a:ext cx="6636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PH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𝟒𝟕</m:t>
                      </m:r>
                      <m:r>
                        <a:rPr lang="en-PH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PH" b="1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8ED820-F0A3-CE8E-90A1-730538D25A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7302" y="6983912"/>
                <a:ext cx="663643" cy="276999"/>
              </a:xfrm>
              <a:prstGeom prst="rect">
                <a:avLst/>
              </a:prstGeom>
              <a:blipFill>
                <a:blip r:embed="rId2"/>
                <a:stretch>
                  <a:fillRect l="-3670" r="-8257" b="-666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row: Down 5">
            <a:extLst>
              <a:ext uri="{FF2B5EF4-FFF2-40B4-BE49-F238E27FC236}">
                <a16:creationId xmlns:a16="http://schemas.microsoft.com/office/drawing/2014/main" id="{472E6CBC-97DB-9127-E09C-C941057EEF9D}"/>
              </a:ext>
            </a:extLst>
          </p:cNvPr>
          <p:cNvSpPr/>
          <p:nvPr/>
        </p:nvSpPr>
        <p:spPr>
          <a:xfrm>
            <a:off x="7685206" y="2197826"/>
            <a:ext cx="484632" cy="626654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8E9A95-1AC2-C4C3-9200-53BFFBC73353}"/>
              </a:ext>
            </a:extLst>
          </p:cNvPr>
          <p:cNvSpPr txBox="1"/>
          <p:nvPr/>
        </p:nvSpPr>
        <p:spPr>
          <a:xfrm>
            <a:off x="4335779" y="5196840"/>
            <a:ext cx="35204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000" dirty="0">
                <a:solidFill>
                  <a:schemeClr val="bg1"/>
                </a:solidFill>
              </a:rPr>
              <a:t>Find the middle point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2DF42F0-0E70-A0E8-AF93-99933A9A9281}"/>
              </a:ext>
            </a:extLst>
          </p:cNvPr>
          <p:cNvSpPr txBox="1">
            <a:spLocks/>
          </p:cNvSpPr>
          <p:nvPr/>
        </p:nvSpPr>
        <p:spPr>
          <a:xfrm>
            <a:off x="1676400" y="649550"/>
            <a:ext cx="9144000" cy="7184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B050"/>
                </a:solidFill>
              </a:rPr>
              <a:t>Binary Search</a:t>
            </a:r>
            <a:endParaRPr lang="en-PH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30900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4DC63E-EF0D-F238-F2DC-68FBEEB30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BF888-2C66-B911-25F0-A7EFF64C09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Autofit/>
          </a:bodyPr>
          <a:lstStyle/>
          <a:p>
            <a:r>
              <a:rPr lang="en-PH" sz="4500" b="1" dirty="0"/>
              <a:t>Binary Search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4DC7F7B-722D-E43C-D761-9B0A7886F3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821063"/>
              </p:ext>
            </p:extLst>
          </p:nvPr>
        </p:nvGraphicFramePr>
        <p:xfrm>
          <a:off x="2032000" y="2896326"/>
          <a:ext cx="8127999" cy="70104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290299028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98500449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87235798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9662310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20427931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773129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54528511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42643056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2851297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47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53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83637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D8436C-A0C7-6414-ACD8-80D963380BC3}"/>
                  </a:ext>
                </a:extLst>
              </p:cNvPr>
              <p:cNvSpPr txBox="1"/>
              <p:nvPr/>
            </p:nvSpPr>
            <p:spPr>
              <a:xfrm>
                <a:off x="6167302" y="6983912"/>
                <a:ext cx="6636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PH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𝟒𝟕</m:t>
                      </m:r>
                      <m:r>
                        <a:rPr lang="en-PH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PH" b="1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D8436C-A0C7-6414-ACD8-80D963380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7302" y="6983912"/>
                <a:ext cx="663643" cy="276999"/>
              </a:xfrm>
              <a:prstGeom prst="rect">
                <a:avLst/>
              </a:prstGeom>
              <a:blipFill>
                <a:blip r:embed="rId2"/>
                <a:stretch>
                  <a:fillRect l="-3670" r="-8257" b="-666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row: Down 5">
            <a:extLst>
              <a:ext uri="{FF2B5EF4-FFF2-40B4-BE49-F238E27FC236}">
                <a16:creationId xmlns:a16="http://schemas.microsoft.com/office/drawing/2014/main" id="{92F597D6-98B2-0F19-2963-8D62AAE7D7D4}"/>
              </a:ext>
            </a:extLst>
          </p:cNvPr>
          <p:cNvSpPr/>
          <p:nvPr/>
        </p:nvSpPr>
        <p:spPr>
          <a:xfrm>
            <a:off x="7685206" y="2197826"/>
            <a:ext cx="484632" cy="626654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4137CD-414D-F283-F3DE-B0A3B7F355AF}"/>
              </a:ext>
            </a:extLst>
          </p:cNvPr>
          <p:cNvSpPr txBox="1"/>
          <p:nvPr/>
        </p:nvSpPr>
        <p:spPr>
          <a:xfrm>
            <a:off x="5330188" y="5196840"/>
            <a:ext cx="15316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000" dirty="0">
                <a:solidFill>
                  <a:schemeClr val="bg1"/>
                </a:solidFill>
              </a:rPr>
              <a:t>45 &lt; 47?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C435695-7D66-F546-0274-2BC3A57119FD}"/>
              </a:ext>
            </a:extLst>
          </p:cNvPr>
          <p:cNvSpPr txBox="1">
            <a:spLocks/>
          </p:cNvSpPr>
          <p:nvPr/>
        </p:nvSpPr>
        <p:spPr>
          <a:xfrm>
            <a:off x="1676400" y="649550"/>
            <a:ext cx="9144000" cy="7184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B050"/>
                </a:solidFill>
              </a:rPr>
              <a:t>Binary Search</a:t>
            </a:r>
            <a:endParaRPr lang="en-PH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90585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C7F7CB-9994-8A12-F81F-58E946286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D6F95-AEFB-E605-46B6-C857D0A8E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Autofit/>
          </a:bodyPr>
          <a:lstStyle/>
          <a:p>
            <a:r>
              <a:rPr lang="en-PH" sz="4500" b="1" dirty="0"/>
              <a:t>Binary Search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4A1E9ED-70B7-31D5-4A28-06DCBCE376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999506"/>
              </p:ext>
            </p:extLst>
          </p:nvPr>
        </p:nvGraphicFramePr>
        <p:xfrm>
          <a:off x="2032000" y="2896326"/>
          <a:ext cx="8127999" cy="70104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290299028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98500449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87235798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9662310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20427931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773129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54528511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42643056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2851297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47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bg1"/>
                          </a:solidFill>
                        </a:rPr>
                        <a:t>53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83637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9F88096-1F52-800B-3C61-7281DE4ADE5E}"/>
                  </a:ext>
                </a:extLst>
              </p:cNvPr>
              <p:cNvSpPr txBox="1"/>
              <p:nvPr/>
            </p:nvSpPr>
            <p:spPr>
              <a:xfrm>
                <a:off x="6167302" y="6983912"/>
                <a:ext cx="6636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PH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𝟒𝟕</m:t>
                      </m:r>
                      <m:r>
                        <a:rPr lang="en-PH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PH" b="1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9F88096-1F52-800B-3C61-7281DE4ADE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7302" y="6983912"/>
                <a:ext cx="663643" cy="276999"/>
              </a:xfrm>
              <a:prstGeom prst="rect">
                <a:avLst/>
              </a:prstGeom>
              <a:blipFill>
                <a:blip r:embed="rId2"/>
                <a:stretch>
                  <a:fillRect l="-3670" r="-8257" b="-666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row: Down 5">
            <a:extLst>
              <a:ext uri="{FF2B5EF4-FFF2-40B4-BE49-F238E27FC236}">
                <a16:creationId xmlns:a16="http://schemas.microsoft.com/office/drawing/2014/main" id="{7C9B0B19-7845-4742-B703-4200D9FB183F}"/>
              </a:ext>
            </a:extLst>
          </p:cNvPr>
          <p:cNvSpPr/>
          <p:nvPr/>
        </p:nvSpPr>
        <p:spPr>
          <a:xfrm>
            <a:off x="8584366" y="2197826"/>
            <a:ext cx="484632" cy="626654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E61F4B7-3032-B401-6B50-642A676A629A}"/>
              </a:ext>
            </a:extLst>
          </p:cNvPr>
          <p:cNvSpPr txBox="1">
            <a:spLocks/>
          </p:cNvSpPr>
          <p:nvPr/>
        </p:nvSpPr>
        <p:spPr>
          <a:xfrm>
            <a:off x="1676400" y="649550"/>
            <a:ext cx="9144000" cy="7184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B050"/>
                </a:solidFill>
              </a:rPr>
              <a:t>Binary Search</a:t>
            </a:r>
            <a:endParaRPr lang="en-PH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19050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DB15E6-99BF-3FB7-8D40-4163EE850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73C0F-14AD-7DF5-955D-D0AD7EA847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Autofit/>
          </a:bodyPr>
          <a:lstStyle/>
          <a:p>
            <a:r>
              <a:rPr lang="en-PH" sz="4500" b="1" dirty="0"/>
              <a:t>Binary Search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67AB9FC-1184-9E5B-E201-5F3A2EFA59EB}"/>
              </a:ext>
            </a:extLst>
          </p:cNvPr>
          <p:cNvCxnSpPr/>
          <p:nvPr/>
        </p:nvCxnSpPr>
        <p:spPr>
          <a:xfrm>
            <a:off x="1968500" y="5486400"/>
            <a:ext cx="8020050" cy="0"/>
          </a:xfrm>
          <a:prstGeom prst="straightConnector1">
            <a:avLst/>
          </a:prstGeom>
          <a:ln w="762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B2F8C72-0051-26E6-B5E7-B792ACECF229}"/>
              </a:ext>
            </a:extLst>
          </p:cNvPr>
          <p:cNvCxnSpPr>
            <a:cxnSpLocks/>
          </p:cNvCxnSpPr>
          <p:nvPr/>
        </p:nvCxnSpPr>
        <p:spPr>
          <a:xfrm flipV="1">
            <a:off x="1968500" y="327025"/>
            <a:ext cx="0" cy="5197475"/>
          </a:xfrm>
          <a:prstGeom prst="straightConnector1">
            <a:avLst/>
          </a:prstGeom>
          <a:ln w="762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1B28C1C-1F1F-25D2-CB91-51390F88A4FE}"/>
              </a:ext>
            </a:extLst>
          </p:cNvPr>
          <p:cNvSpPr txBox="1"/>
          <p:nvPr/>
        </p:nvSpPr>
        <p:spPr>
          <a:xfrm>
            <a:off x="5321935" y="5652964"/>
            <a:ext cx="13131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chemeClr val="bg1"/>
                </a:solidFill>
                <a:latin typeface="Consolas" panose="020B0609020204030204" pitchFamily="49" charset="0"/>
              </a:rPr>
              <a:t>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7C1E08-FD8E-46E9-FF45-DD6CBAE8DABA}"/>
              </a:ext>
            </a:extLst>
          </p:cNvPr>
          <p:cNvSpPr txBox="1"/>
          <p:nvPr/>
        </p:nvSpPr>
        <p:spPr>
          <a:xfrm rot="5400000" flipH="1">
            <a:off x="513467" y="2571819"/>
            <a:ext cx="13131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chemeClr val="bg1"/>
                </a:solidFill>
                <a:latin typeface="Consolas" panose="020B0609020204030204" pitchFamily="49" charset="0"/>
              </a:rPr>
              <a:t>time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DBC09F6-DE8A-74E3-A4E8-992EF4E2E7F9}"/>
              </a:ext>
            </a:extLst>
          </p:cNvPr>
          <p:cNvCxnSpPr>
            <a:cxnSpLocks/>
          </p:cNvCxnSpPr>
          <p:nvPr/>
        </p:nvCxnSpPr>
        <p:spPr>
          <a:xfrm flipV="1">
            <a:off x="1968500" y="2125981"/>
            <a:ext cx="5925820" cy="3322320"/>
          </a:xfrm>
          <a:prstGeom prst="straightConnector1">
            <a:avLst/>
          </a:prstGeom>
          <a:ln w="76200"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0B567ED-7AB5-9477-7BD6-D6B113D8053D}"/>
              </a:ext>
            </a:extLst>
          </p:cNvPr>
          <p:cNvSpPr txBox="1"/>
          <p:nvPr/>
        </p:nvSpPr>
        <p:spPr>
          <a:xfrm>
            <a:off x="8179435" y="1667966"/>
            <a:ext cx="13131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rgbClr val="FFFF00"/>
                </a:solidFill>
                <a:latin typeface="Consolas" panose="020B0609020204030204" pitchFamily="49" charset="0"/>
              </a:rPr>
              <a:t>O(n)</a:t>
            </a:r>
          </a:p>
        </p:txBody>
      </p:sp>
    </p:spTree>
    <p:extLst>
      <p:ext uri="{BB962C8B-B14F-4D97-AF65-F5344CB8AC3E}">
        <p14:creationId xmlns:p14="http://schemas.microsoft.com/office/powerpoint/2010/main" val="20633277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9CF388-8F16-DA0D-5C75-B02EC2BD4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77B76-7F62-0578-AD74-F3A957E439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Autofit/>
          </a:bodyPr>
          <a:lstStyle/>
          <a:p>
            <a:r>
              <a:rPr lang="en-PH" sz="4500" b="1" dirty="0"/>
              <a:t>Binary Search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764726D-0D83-5BE2-D0EC-DFCCD4FD1F8F}"/>
              </a:ext>
            </a:extLst>
          </p:cNvPr>
          <p:cNvCxnSpPr/>
          <p:nvPr/>
        </p:nvCxnSpPr>
        <p:spPr>
          <a:xfrm>
            <a:off x="1968500" y="5486400"/>
            <a:ext cx="8020050" cy="0"/>
          </a:xfrm>
          <a:prstGeom prst="straightConnector1">
            <a:avLst/>
          </a:prstGeom>
          <a:ln w="762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6E2F991-9C5A-A691-661D-D96070E0C467}"/>
              </a:ext>
            </a:extLst>
          </p:cNvPr>
          <p:cNvCxnSpPr>
            <a:cxnSpLocks/>
          </p:cNvCxnSpPr>
          <p:nvPr/>
        </p:nvCxnSpPr>
        <p:spPr>
          <a:xfrm flipV="1">
            <a:off x="1968500" y="327025"/>
            <a:ext cx="0" cy="5197475"/>
          </a:xfrm>
          <a:prstGeom prst="straightConnector1">
            <a:avLst/>
          </a:prstGeom>
          <a:ln w="762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A426A99-ABF9-FCE2-6FD7-70D6D4E72465}"/>
              </a:ext>
            </a:extLst>
          </p:cNvPr>
          <p:cNvSpPr txBox="1"/>
          <p:nvPr/>
        </p:nvSpPr>
        <p:spPr>
          <a:xfrm>
            <a:off x="5321935" y="5652964"/>
            <a:ext cx="13131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chemeClr val="bg1"/>
                </a:solidFill>
                <a:latin typeface="Consolas" panose="020B0609020204030204" pitchFamily="49" charset="0"/>
              </a:rPr>
              <a:t>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E3804B-4A1B-4A56-5F8B-AA028F166025}"/>
              </a:ext>
            </a:extLst>
          </p:cNvPr>
          <p:cNvSpPr txBox="1"/>
          <p:nvPr/>
        </p:nvSpPr>
        <p:spPr>
          <a:xfrm rot="5400000" flipH="1">
            <a:off x="513467" y="2571819"/>
            <a:ext cx="13131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chemeClr val="bg1"/>
                </a:solidFill>
                <a:latin typeface="Consolas" panose="020B0609020204030204" pitchFamily="49" charset="0"/>
              </a:rPr>
              <a:t>time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BF1AEE8-CA50-C40C-83DF-697C3F6AF591}"/>
              </a:ext>
            </a:extLst>
          </p:cNvPr>
          <p:cNvCxnSpPr>
            <a:cxnSpLocks/>
          </p:cNvCxnSpPr>
          <p:nvPr/>
        </p:nvCxnSpPr>
        <p:spPr>
          <a:xfrm flipV="1">
            <a:off x="1968500" y="2125981"/>
            <a:ext cx="5925820" cy="3322320"/>
          </a:xfrm>
          <a:prstGeom prst="straightConnector1">
            <a:avLst/>
          </a:prstGeom>
          <a:ln w="76200"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Arc 9">
            <a:extLst>
              <a:ext uri="{FF2B5EF4-FFF2-40B4-BE49-F238E27FC236}">
                <a16:creationId xmlns:a16="http://schemas.microsoft.com/office/drawing/2014/main" id="{705119E9-3F8D-B37B-3C46-D0A522AADB7E}"/>
              </a:ext>
            </a:extLst>
          </p:cNvPr>
          <p:cNvSpPr/>
          <p:nvPr/>
        </p:nvSpPr>
        <p:spPr>
          <a:xfrm rot="16200000">
            <a:off x="7532684" y="-1535115"/>
            <a:ext cx="2933704" cy="13852525"/>
          </a:xfrm>
          <a:prstGeom prst="arc">
            <a:avLst>
              <a:gd name="adj1" fmla="val 16200000"/>
              <a:gd name="adj2" fmla="val 228024"/>
            </a:avLst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AB0187-E154-5E5A-3C58-BE65C1FC431E}"/>
              </a:ext>
            </a:extLst>
          </p:cNvPr>
          <p:cNvSpPr txBox="1"/>
          <p:nvPr/>
        </p:nvSpPr>
        <p:spPr>
          <a:xfrm>
            <a:off x="8179435" y="1667966"/>
            <a:ext cx="13131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rgbClr val="FFFF00"/>
                </a:solidFill>
                <a:latin typeface="Consolas" panose="020B0609020204030204" pitchFamily="49" charset="0"/>
              </a:rPr>
              <a:t>O(n)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FD6B1D-8543-396C-CFDC-5B4D44795569}"/>
              </a:ext>
            </a:extLst>
          </p:cNvPr>
          <p:cNvSpPr txBox="1"/>
          <p:nvPr/>
        </p:nvSpPr>
        <p:spPr>
          <a:xfrm>
            <a:off x="12578490" y="4310244"/>
            <a:ext cx="293541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1500" b="1" dirty="0">
                <a:solidFill>
                  <a:srgbClr val="92D050"/>
                </a:solidFill>
                <a:latin typeface="Consolas" panose="020B0609020204030204" pitchFamily="49" charset="0"/>
              </a:rPr>
              <a:t>O(log n)= logarithmic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sz="1500" b="1" dirty="0">
                <a:solidFill>
                  <a:srgbClr val="92D050"/>
                </a:solidFill>
                <a:latin typeface="Consolas" panose="020B0609020204030204" pitchFamily="49" charset="0"/>
              </a:rPr>
              <a:t>Binary Search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6210FC-3D25-3713-4273-4BC93BC648F9}"/>
              </a:ext>
            </a:extLst>
          </p:cNvPr>
          <p:cNvSpPr txBox="1"/>
          <p:nvPr/>
        </p:nvSpPr>
        <p:spPr>
          <a:xfrm>
            <a:off x="12507595" y="3489146"/>
            <a:ext cx="24416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rgbClr val="92D050"/>
                </a:solidFill>
                <a:latin typeface="Consolas" panose="020B0609020204030204" pitchFamily="49" charset="0"/>
              </a:rPr>
              <a:t>O(log n)</a:t>
            </a:r>
          </a:p>
        </p:txBody>
      </p:sp>
    </p:spTree>
    <p:extLst>
      <p:ext uri="{BB962C8B-B14F-4D97-AF65-F5344CB8AC3E}">
        <p14:creationId xmlns:p14="http://schemas.microsoft.com/office/powerpoint/2010/main" val="36889806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CB5B00-995F-3EDF-FFB5-F6EA67E42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133E6-2D76-9A94-40E5-BAD5D4483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Autofit/>
          </a:bodyPr>
          <a:lstStyle/>
          <a:p>
            <a:r>
              <a:rPr lang="en-PH" sz="4500" b="1" dirty="0"/>
              <a:t>Binary Search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20164E8-64F4-0E7E-DDB2-983ADC0CEA29}"/>
              </a:ext>
            </a:extLst>
          </p:cNvPr>
          <p:cNvCxnSpPr/>
          <p:nvPr/>
        </p:nvCxnSpPr>
        <p:spPr>
          <a:xfrm>
            <a:off x="1968500" y="5486400"/>
            <a:ext cx="8020050" cy="0"/>
          </a:xfrm>
          <a:prstGeom prst="straightConnector1">
            <a:avLst/>
          </a:prstGeom>
          <a:ln w="762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D4A2F68-176D-8301-CA84-7624FAC8E940}"/>
              </a:ext>
            </a:extLst>
          </p:cNvPr>
          <p:cNvCxnSpPr>
            <a:cxnSpLocks/>
          </p:cNvCxnSpPr>
          <p:nvPr/>
        </p:nvCxnSpPr>
        <p:spPr>
          <a:xfrm flipV="1">
            <a:off x="1968500" y="327025"/>
            <a:ext cx="0" cy="5197475"/>
          </a:xfrm>
          <a:prstGeom prst="straightConnector1">
            <a:avLst/>
          </a:prstGeom>
          <a:ln w="762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0F6AD8A-C348-7175-5EEE-24772B9781DA}"/>
              </a:ext>
            </a:extLst>
          </p:cNvPr>
          <p:cNvSpPr txBox="1"/>
          <p:nvPr/>
        </p:nvSpPr>
        <p:spPr>
          <a:xfrm>
            <a:off x="5321935" y="5652964"/>
            <a:ext cx="13131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chemeClr val="bg1"/>
                </a:solidFill>
                <a:latin typeface="Consolas" panose="020B0609020204030204" pitchFamily="49" charset="0"/>
              </a:rPr>
              <a:t>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4CC80D-D3D9-CCF8-E5A6-261614B9A852}"/>
              </a:ext>
            </a:extLst>
          </p:cNvPr>
          <p:cNvSpPr txBox="1"/>
          <p:nvPr/>
        </p:nvSpPr>
        <p:spPr>
          <a:xfrm rot="5400000" flipH="1">
            <a:off x="513467" y="2571819"/>
            <a:ext cx="13131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chemeClr val="bg1"/>
                </a:solidFill>
                <a:latin typeface="Consolas" panose="020B0609020204030204" pitchFamily="49" charset="0"/>
              </a:rPr>
              <a:t>time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4AB0797-66D2-0512-7DE4-4773EE8B7818}"/>
              </a:ext>
            </a:extLst>
          </p:cNvPr>
          <p:cNvCxnSpPr>
            <a:cxnSpLocks/>
          </p:cNvCxnSpPr>
          <p:nvPr/>
        </p:nvCxnSpPr>
        <p:spPr>
          <a:xfrm flipV="1">
            <a:off x="1968500" y="2125981"/>
            <a:ext cx="5925820" cy="3322320"/>
          </a:xfrm>
          <a:prstGeom prst="straightConnector1">
            <a:avLst/>
          </a:prstGeom>
          <a:ln w="76200"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Arc 9">
            <a:extLst>
              <a:ext uri="{FF2B5EF4-FFF2-40B4-BE49-F238E27FC236}">
                <a16:creationId xmlns:a16="http://schemas.microsoft.com/office/drawing/2014/main" id="{FA7FB153-067D-4116-DD6C-12DD0E8D78C5}"/>
              </a:ext>
            </a:extLst>
          </p:cNvPr>
          <p:cNvSpPr/>
          <p:nvPr/>
        </p:nvSpPr>
        <p:spPr>
          <a:xfrm rot="16200000">
            <a:off x="7532684" y="-1535115"/>
            <a:ext cx="2933704" cy="13852525"/>
          </a:xfrm>
          <a:prstGeom prst="arc">
            <a:avLst>
              <a:gd name="adj1" fmla="val 16200000"/>
              <a:gd name="adj2" fmla="val 228024"/>
            </a:avLst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949989-8DAF-CD6C-8664-774F1F9F937F}"/>
              </a:ext>
            </a:extLst>
          </p:cNvPr>
          <p:cNvSpPr txBox="1"/>
          <p:nvPr/>
        </p:nvSpPr>
        <p:spPr>
          <a:xfrm>
            <a:off x="8179435" y="1667966"/>
            <a:ext cx="13131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rgbClr val="FFFF00"/>
                </a:solidFill>
                <a:latin typeface="Consolas" panose="020B0609020204030204" pitchFamily="49" charset="0"/>
              </a:rPr>
              <a:t>O(n)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FC6AEB-7444-53FB-C4AB-524A22A00C9C}"/>
              </a:ext>
            </a:extLst>
          </p:cNvPr>
          <p:cNvSpPr txBox="1"/>
          <p:nvPr/>
        </p:nvSpPr>
        <p:spPr>
          <a:xfrm>
            <a:off x="12578490" y="4310244"/>
            <a:ext cx="293541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1500" b="1" dirty="0">
                <a:solidFill>
                  <a:srgbClr val="92D050"/>
                </a:solidFill>
                <a:latin typeface="Consolas" panose="020B0609020204030204" pitchFamily="49" charset="0"/>
              </a:rPr>
              <a:t>O(log n)= logarithmic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sz="1500" b="1" dirty="0">
                <a:solidFill>
                  <a:srgbClr val="92D050"/>
                </a:solidFill>
                <a:latin typeface="Consolas" panose="020B0609020204030204" pitchFamily="49" charset="0"/>
              </a:rPr>
              <a:t>Binary Search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1E6421-E893-E551-167A-E0E2F54D39CD}"/>
              </a:ext>
            </a:extLst>
          </p:cNvPr>
          <p:cNvSpPr txBox="1"/>
          <p:nvPr/>
        </p:nvSpPr>
        <p:spPr>
          <a:xfrm>
            <a:off x="9447153" y="3489146"/>
            <a:ext cx="24416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rgbClr val="92D050"/>
                </a:solidFill>
                <a:latin typeface="Consolas" panose="020B0609020204030204" pitchFamily="49" charset="0"/>
              </a:rPr>
              <a:t>O(log n)</a:t>
            </a:r>
          </a:p>
        </p:txBody>
      </p:sp>
    </p:spTree>
    <p:extLst>
      <p:ext uri="{BB962C8B-B14F-4D97-AF65-F5344CB8AC3E}">
        <p14:creationId xmlns:p14="http://schemas.microsoft.com/office/powerpoint/2010/main" val="29812900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A77C59-55B5-9729-5976-7E81A470C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B31A1-E353-2152-D953-D94FADB438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Autofit/>
          </a:bodyPr>
          <a:lstStyle/>
          <a:p>
            <a:r>
              <a:rPr lang="en-PH" sz="4500" b="1" dirty="0"/>
              <a:t>Binary Search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A659FAF-B6BE-BB06-2BCB-50505503323E}"/>
              </a:ext>
            </a:extLst>
          </p:cNvPr>
          <p:cNvCxnSpPr/>
          <p:nvPr/>
        </p:nvCxnSpPr>
        <p:spPr>
          <a:xfrm>
            <a:off x="1968500" y="5486400"/>
            <a:ext cx="8020050" cy="0"/>
          </a:xfrm>
          <a:prstGeom prst="straightConnector1">
            <a:avLst/>
          </a:prstGeom>
          <a:ln w="762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18EC2F3-9758-7CD1-CC6B-3669C21FB2CA}"/>
              </a:ext>
            </a:extLst>
          </p:cNvPr>
          <p:cNvCxnSpPr>
            <a:cxnSpLocks/>
          </p:cNvCxnSpPr>
          <p:nvPr/>
        </p:nvCxnSpPr>
        <p:spPr>
          <a:xfrm flipV="1">
            <a:off x="1968500" y="327025"/>
            <a:ext cx="0" cy="5197475"/>
          </a:xfrm>
          <a:prstGeom prst="straightConnector1">
            <a:avLst/>
          </a:prstGeom>
          <a:ln w="762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816ABB3-330D-20DC-8D71-21A3B6257820}"/>
              </a:ext>
            </a:extLst>
          </p:cNvPr>
          <p:cNvSpPr txBox="1"/>
          <p:nvPr/>
        </p:nvSpPr>
        <p:spPr>
          <a:xfrm>
            <a:off x="5321935" y="5652964"/>
            <a:ext cx="13131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chemeClr val="bg1"/>
                </a:solidFill>
                <a:latin typeface="Consolas" panose="020B0609020204030204" pitchFamily="49" charset="0"/>
              </a:rPr>
              <a:t>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D32E5D-8EA7-9E69-6AF1-270C99CCE078}"/>
              </a:ext>
            </a:extLst>
          </p:cNvPr>
          <p:cNvSpPr txBox="1"/>
          <p:nvPr/>
        </p:nvSpPr>
        <p:spPr>
          <a:xfrm rot="5400000" flipH="1">
            <a:off x="513467" y="2571819"/>
            <a:ext cx="13131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chemeClr val="bg1"/>
                </a:solidFill>
                <a:latin typeface="Consolas" panose="020B0609020204030204" pitchFamily="49" charset="0"/>
              </a:rPr>
              <a:t>time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6FDB4B5-0788-46E0-6417-EFF707ADE947}"/>
              </a:ext>
            </a:extLst>
          </p:cNvPr>
          <p:cNvCxnSpPr>
            <a:cxnSpLocks/>
          </p:cNvCxnSpPr>
          <p:nvPr/>
        </p:nvCxnSpPr>
        <p:spPr>
          <a:xfrm flipV="1">
            <a:off x="1968500" y="2125981"/>
            <a:ext cx="5925820" cy="3322320"/>
          </a:xfrm>
          <a:prstGeom prst="straightConnector1">
            <a:avLst/>
          </a:prstGeom>
          <a:ln w="76200"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Arc 9">
            <a:extLst>
              <a:ext uri="{FF2B5EF4-FFF2-40B4-BE49-F238E27FC236}">
                <a16:creationId xmlns:a16="http://schemas.microsoft.com/office/drawing/2014/main" id="{3419D778-E496-9889-26EA-D3698236D74B}"/>
              </a:ext>
            </a:extLst>
          </p:cNvPr>
          <p:cNvSpPr/>
          <p:nvPr/>
        </p:nvSpPr>
        <p:spPr>
          <a:xfrm rot="16200000">
            <a:off x="7532684" y="-1535115"/>
            <a:ext cx="2933704" cy="13852525"/>
          </a:xfrm>
          <a:prstGeom prst="arc">
            <a:avLst>
              <a:gd name="adj1" fmla="val 16200000"/>
              <a:gd name="adj2" fmla="val 228024"/>
            </a:avLst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DAD636-96DE-1223-D729-1F3AB300B7AF}"/>
              </a:ext>
            </a:extLst>
          </p:cNvPr>
          <p:cNvSpPr txBox="1"/>
          <p:nvPr/>
        </p:nvSpPr>
        <p:spPr>
          <a:xfrm>
            <a:off x="8179435" y="1667966"/>
            <a:ext cx="13131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rgbClr val="FFFF00"/>
                </a:solidFill>
                <a:latin typeface="Consolas" panose="020B0609020204030204" pitchFamily="49" charset="0"/>
              </a:rPr>
              <a:t>O(n)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6012D6-6164-5211-BA21-85FE82AF2F86}"/>
              </a:ext>
            </a:extLst>
          </p:cNvPr>
          <p:cNvSpPr txBox="1"/>
          <p:nvPr/>
        </p:nvSpPr>
        <p:spPr>
          <a:xfrm>
            <a:off x="9198610" y="4310244"/>
            <a:ext cx="293541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1500" b="1" dirty="0">
                <a:solidFill>
                  <a:srgbClr val="92D050"/>
                </a:solidFill>
                <a:latin typeface="Consolas" panose="020B0609020204030204" pitchFamily="49" charset="0"/>
              </a:rPr>
              <a:t>O(log n)= logarithmic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sz="1500" b="1" dirty="0">
                <a:solidFill>
                  <a:srgbClr val="92D050"/>
                </a:solidFill>
                <a:latin typeface="Consolas" panose="020B0609020204030204" pitchFamily="49" charset="0"/>
              </a:rPr>
              <a:t>Binary Search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ED114F-99C4-F16D-EAF3-4CC5E87C63AE}"/>
              </a:ext>
            </a:extLst>
          </p:cNvPr>
          <p:cNvSpPr txBox="1"/>
          <p:nvPr/>
        </p:nvSpPr>
        <p:spPr>
          <a:xfrm>
            <a:off x="9447153" y="3489146"/>
            <a:ext cx="24416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rgbClr val="92D050"/>
                </a:solidFill>
                <a:latin typeface="Consolas" panose="020B0609020204030204" pitchFamily="49" charset="0"/>
              </a:rPr>
              <a:t>O(log n)</a:t>
            </a:r>
          </a:p>
        </p:txBody>
      </p:sp>
    </p:spTree>
    <p:extLst>
      <p:ext uri="{BB962C8B-B14F-4D97-AF65-F5344CB8AC3E}">
        <p14:creationId xmlns:p14="http://schemas.microsoft.com/office/powerpoint/2010/main" val="34654057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D50262F-BA13-5602-ACE6-D882BF0DDA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3" t="15673" r="612" b="1396"/>
          <a:stretch>
            <a:fillRect/>
          </a:stretch>
        </p:blipFill>
        <p:spPr>
          <a:xfrm>
            <a:off x="360190" y="1269000"/>
            <a:ext cx="11471619" cy="4320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80743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88BDCA587B344BBA6CB1A93FAE6998" ma:contentTypeVersion="2" ma:contentTypeDescription="Create a new document." ma:contentTypeScope="" ma:versionID="7a8e4b6720badb2566a0cfeddfaf2856">
  <xsd:schema xmlns:xsd="http://www.w3.org/2001/XMLSchema" xmlns:xs="http://www.w3.org/2001/XMLSchema" xmlns:p="http://schemas.microsoft.com/office/2006/metadata/properties" xmlns:ns2="ba111d12-426d-4af0-bcb6-460e36974645" targetNamespace="http://schemas.microsoft.com/office/2006/metadata/properties" ma:root="true" ma:fieldsID="989b05398519136c88ba0a8d54e3c3da" ns2:_="">
    <xsd:import namespace="ba111d12-426d-4af0-bcb6-460e369746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111d12-426d-4af0-bcb6-460e369746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51370AF-26B9-4AFA-BA9D-5D4A7E1A672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D61E20B-708A-4719-8C02-DA91A478A7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111d12-426d-4af0-bcb6-460e3697464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A3362E2-FA54-4262-AE94-2FA98FF8142D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1178</TotalTime>
  <Words>384</Words>
  <Application>Microsoft Office PowerPoint</Application>
  <PresentationFormat>Widescreen</PresentationFormat>
  <Paragraphs>227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Consolas</vt:lpstr>
      <vt:lpstr>Office Theme</vt:lpstr>
      <vt:lpstr>Binary Search</vt:lpstr>
      <vt:lpstr>Binary Search</vt:lpstr>
      <vt:lpstr>Binary Search</vt:lpstr>
      <vt:lpstr>Binary Search</vt:lpstr>
      <vt:lpstr>Binary Search</vt:lpstr>
      <vt:lpstr>Binary Search</vt:lpstr>
      <vt:lpstr>Binary Search</vt:lpstr>
      <vt:lpstr>Binary Search</vt:lpstr>
      <vt:lpstr>Binary Search</vt:lpstr>
      <vt:lpstr>Binary Search</vt:lpstr>
      <vt:lpstr>Binary Search</vt:lpstr>
      <vt:lpstr>Binary Search</vt:lpstr>
      <vt:lpstr>Binary Search</vt:lpstr>
      <vt:lpstr>Binary Search</vt:lpstr>
      <vt:lpstr>Binary Search</vt:lpstr>
      <vt:lpstr>Binary Search</vt:lpstr>
      <vt:lpstr>Binary Search</vt:lpstr>
      <vt:lpstr>Binary Search</vt:lpstr>
      <vt:lpstr>Binary Search</vt:lpstr>
      <vt:lpstr>Binary Search</vt:lpstr>
      <vt:lpstr>Binary Search</vt:lpstr>
      <vt:lpstr>Binary Search</vt:lpstr>
      <vt:lpstr>Binary Search</vt:lpstr>
      <vt:lpstr>Binary Search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SLY Ponio</dc:creator>
  <cp:lastModifiedBy>SLY Ponio</cp:lastModifiedBy>
  <cp:revision>136</cp:revision>
  <dcterms:created xsi:type="dcterms:W3CDTF">2022-05-11T03:47:05Z</dcterms:created>
  <dcterms:modified xsi:type="dcterms:W3CDTF">2026-07-06T14:41:12Z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0x0101007188BDCA587B344BBA6CB1A93FAE6998</vt:lpwstr>
  </property>
</Properties>
</file>