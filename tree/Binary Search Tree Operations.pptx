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341" r:id="rId5"/>
    <p:sldId id="293" r:id="rId6"/>
    <p:sldId id="343" r:id="rId7"/>
    <p:sldId id="342" r:id="rId8"/>
    <p:sldId id="344" r:id="rId9"/>
    <p:sldId id="345" r:id="rId10"/>
    <p:sldId id="346" r:id="rId11"/>
    <p:sldId id="375" r:id="rId12"/>
    <p:sldId id="347" r:id="rId13"/>
    <p:sldId id="348" r:id="rId14"/>
    <p:sldId id="349" r:id="rId15"/>
    <p:sldId id="350" r:id="rId16"/>
    <p:sldId id="352" r:id="rId17"/>
    <p:sldId id="355" r:id="rId18"/>
    <p:sldId id="358" r:id="rId19"/>
    <p:sldId id="377" r:id="rId20"/>
    <p:sldId id="360" r:id="rId21"/>
    <p:sldId id="361" r:id="rId22"/>
    <p:sldId id="362" r:id="rId23"/>
    <p:sldId id="363" r:id="rId24"/>
    <p:sldId id="376" r:id="rId25"/>
    <p:sldId id="367" r:id="rId26"/>
    <p:sldId id="365" r:id="rId27"/>
    <p:sldId id="368" r:id="rId28"/>
    <p:sldId id="369" r:id="rId29"/>
    <p:sldId id="370" r:id="rId30"/>
    <p:sldId id="371" r:id="rId31"/>
    <p:sldId id="372" r:id="rId32"/>
    <p:sldId id="374" r:id="rId33"/>
    <p:sldId id="37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6AB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9" autoAdjust="0"/>
    <p:restoredTop sz="93653" autoAdjust="0"/>
  </p:normalViewPr>
  <p:slideViewPr>
    <p:cSldViewPr snapToGrid="0">
      <p:cViewPr varScale="1">
        <p:scale>
          <a:sx n="149" d="100"/>
          <a:sy n="149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622F-8F92-218A-49E8-FEB827A1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627AF-0210-3562-C413-6C73E8159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4A2BC-6C4D-0EA1-C911-C961C27BB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9D646-D4E3-6AAF-AE86-0CBA31CEA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6316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457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65ED-8251-D26B-73AD-ED38C841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FAC85-DD78-0957-B4AA-E52751FAD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7D08A-E6B7-F39D-639F-85B4A2637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8C7A6-B800-3BD5-A0F1-6E9A27791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46481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BC5F-EF71-7E19-B2BF-E56355BA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CE711-33B3-506E-21AF-E0F358468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12695-EEDA-1D01-4FD2-F608A4FB4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474B6-E328-F7DD-795B-189F6A9A0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6214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E6B5-F0AA-0F44-0766-D755DBC43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52618-0C2C-7E02-882B-6CC5C85FB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37F36-B4AE-B271-5444-14701A535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C4483-2F9C-0180-9CD3-A83C3E335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6151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0110-006C-71DE-B91B-ABE65449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441F4-E0B1-070D-382F-257781C48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D41EC-D38C-48DB-C5D2-2E230F13E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5E70-702A-F4EE-C0AC-F52B3C5D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6612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8122-B6C0-DF79-D8C8-F7F02285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31306-B6F9-B778-5D49-8BE0D22ED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1457B-5D7E-8849-17E4-4B0E926ED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B505D-11D8-C69B-16CA-263D5BCF2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158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CEDD-185B-2814-9046-2E00D645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5B92A-1C41-C01E-7B56-44A9EE8C2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AFEC5-EB7E-E41E-3630-1B901204E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4BEF3-BFFE-396F-3BCA-C8B76646D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518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08784-BA31-4741-04D2-6718F7146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1F19A-1F3E-56AA-86B7-C7FADE1E9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611C2-1D6F-42B7-FC14-C45B66B55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66D82-6A0E-61AB-C8C1-D6C53505A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9087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FB1C-4420-D2D8-6954-F571AD0B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77ABE-C4CE-1913-06FE-B5B6090B6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C2836-B676-3DBD-7F56-968390021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B974-F5C4-75B0-1332-A65C33E55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2647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9ACB-F798-336D-203A-83B8DE12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C1F07-AA28-C6C4-2A1C-ED428EA27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3F56-D7E3-53CC-F8D5-51C179DE9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A641E-CC4A-1518-1001-BE3DF755E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23991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734E-F8CE-BB65-2208-A250D4B3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3AF9B-B826-1FFD-ED03-C4B6977FF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634C-F9FC-D575-36C7-1B8468BBA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D42C9-6111-1707-2DF9-3B816BC77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0176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BD2C-2D40-FD82-9F18-ACA18D4B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D1010-EE52-690A-30D5-440AF0DF3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5F2A2-F6B0-D47C-7E72-D40A33F49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227E5-07D6-B5C9-CEF6-F7490CA88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3263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E1CE-E800-1342-BD24-51867CD47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E9FE6-8E4D-2AF0-98BD-AD6B06F7E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B2304-3D0B-BBB0-F90F-8EE19D909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F96C8-227D-459B-2BEC-04065BB87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472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8DA67-291B-FE17-C38B-E8A2CBCF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AC7BA-75B7-098F-213E-DEAD0A5B8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7CDA6-6C9F-CDB8-BF52-B9C21C5B8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40C14-9129-8931-4EFF-8F2DBFCAD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8000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55C0-36D1-C1FA-3076-1EDEE34C6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2F443-E748-6C44-0041-92FFA0A0E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87A12-9B83-DD33-BE10-353BB8B13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B8464-BB23-9A06-F629-CF4E7F579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6799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4B10-24F6-C1AA-00C2-5AA501A7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E2894-5FCC-FCAB-E572-16A442C51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64A9F-01AB-D11C-86C8-2DCB5D15A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E0CC7-9FEC-36EE-0222-17C1148EB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0105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043D-0DBF-8DEF-03A8-FA0F45D4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F5BF2-C670-9951-6634-54A12E9D2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F3960-4121-1BAE-B936-DE2C57CFE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FA70-65B5-CEDC-D764-0E7EE5D0A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9591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401B-D937-54CA-CCF9-7140FCFA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19BE8-2A5A-34AD-9D42-CEF6F0DB0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97A26-F592-7135-39C2-02726E00A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5C1DC-2CBB-A930-6015-EBA65C39F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1269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FCA8-DE8A-653F-511F-8493E85F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BCB06-5BDB-19EB-F2B4-FFC0BF46E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E86D8-68F5-4B84-E63B-AE3B46FC2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E9CC2-29D5-0C5E-92DE-EBFEB3F32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3043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5B990-255E-C1C7-B8F0-67E6D080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CDF80-4839-2BCE-14E5-1860F0C66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EB817-08C7-EEDC-5EF8-FC3004DDE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5B68-C89E-141C-F119-0A1C9D0F7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50158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C7579-AEE8-5A38-E6C7-D26A6B23C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BF4E6-784C-EC32-50B7-90E863F10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BC045-8F3B-77DE-64BC-560C3A638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A2E5A-4F00-309D-C059-19B7EA903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20047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A8A1-FC90-9A8A-98DA-B8ED7437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4BC55-5FD5-7FDA-9A2F-643906BBE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0C4F9-4FBF-12AC-EF50-958DF8DA4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60ED0-8FCD-4EA8-5AD2-4826257EF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06514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7249-4198-1712-C09D-A6E5CF95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C95C8-FAA8-F7F8-D084-E99D5436A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2DD87-740B-205C-3E25-39239867A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8FE6F-3424-E8C8-30AF-64F7A2AB3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603199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D114-FDDB-C196-D5AB-3E82CA40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326A5-AA75-3949-02EB-E384AA7C7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B1635-3C99-1933-53C1-8B4727148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26B39-7507-E9F7-CCC6-F6BD01304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2841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718FE-B336-7976-3556-0EB4B7E8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432A5-F362-5B59-3ED0-1F7B32B6F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1D082-6612-FFEA-6406-191AE5C7E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567F5-5C0C-2163-55AB-D0F51DE83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71780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48582-AE02-8769-C2B2-B58FAAC7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836AA-B608-102A-912D-4D5E835BD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B9C22-3A88-13BF-C735-A562A08D2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B70E1-BF40-F362-CE99-E358CCB0E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2639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EC4B-CAB3-E5D0-6B62-F0F56A6A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22505-B16C-1B66-8877-0272D3D8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0FBC4-9E16-0196-52E2-0B5EB2F59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8580-5A5C-41B2-061D-497947BCD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70083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B8A3-4588-0C94-5304-A4769CC5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43A78-5940-03DC-3CDB-27D0137DE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E7048-DCFE-062B-6B1D-68FEEDE93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3BE1-6D8C-33BE-2E1A-D68BB884F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74129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8331-2FC1-206B-53A1-F712A398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49613-0E15-1639-1E5B-CEF0F90F6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732B3-2E46-CAF7-D252-00E648ABE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890C-859B-4AFC-110D-255D1C868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6294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23/06/2026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744AF-DA71-F5F9-36A7-5CDC1EB6E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1AEDA62-094B-FBBE-E395-382117D81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 err="1">
                <a:solidFill>
                  <a:srgbClr val="00B050"/>
                </a:solidFill>
                <a:effectLst/>
              </a:rPr>
              <a:t>TreeNode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4B476-DFE7-1FC7-8408-B8101B2765C8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Each node in a </a:t>
            </a:r>
            <a:r>
              <a:rPr lang="en-PH" sz="2500" dirty="0">
                <a:solidFill>
                  <a:srgbClr val="00B0F0"/>
                </a:solidFill>
              </a:rPr>
              <a:t>binary tree </a:t>
            </a:r>
            <a:r>
              <a:rPr lang="en-PH" sz="2500" dirty="0">
                <a:solidFill>
                  <a:schemeClr val="bg1"/>
                </a:solidFill>
              </a:rPr>
              <a:t>has a </a:t>
            </a:r>
            <a:r>
              <a:rPr lang="en-PH" sz="2500" b="1" dirty="0">
                <a:solidFill>
                  <a:schemeClr val="bg1"/>
                </a:solidFill>
              </a:rPr>
              <a:t>value</a:t>
            </a:r>
            <a:r>
              <a:rPr lang="en-PH" sz="2500" dirty="0">
                <a:solidFill>
                  <a:schemeClr val="bg1"/>
                </a:solidFill>
              </a:rPr>
              <a:t> and a </a:t>
            </a:r>
            <a:r>
              <a:rPr lang="en-PH" sz="2500" b="1" dirty="0">
                <a:solidFill>
                  <a:schemeClr val="bg1"/>
                </a:solidFill>
              </a:rPr>
              <a:t>left</a:t>
            </a:r>
            <a:r>
              <a:rPr lang="en-PH" sz="2500" dirty="0">
                <a:solidFill>
                  <a:schemeClr val="bg1"/>
                </a:solidFill>
              </a:rPr>
              <a:t> and </a:t>
            </a:r>
            <a:r>
              <a:rPr lang="en-PH" sz="2500" b="1" dirty="0">
                <a:solidFill>
                  <a:schemeClr val="bg1"/>
                </a:solidFill>
              </a:rPr>
              <a:t>right pointer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B0BD4-8758-2596-64E8-953AD64BFB56}"/>
              </a:ext>
            </a:extLst>
          </p:cNvPr>
          <p:cNvSpPr/>
          <p:nvPr/>
        </p:nvSpPr>
        <p:spPr>
          <a:xfrm>
            <a:off x="5371142" y="2442714"/>
            <a:ext cx="1800000" cy="180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FF0E3B-C7C8-30DC-7740-8DCD8C7847B3}"/>
              </a:ext>
            </a:extLst>
          </p:cNvPr>
          <p:cNvSpPr/>
          <p:nvPr/>
        </p:nvSpPr>
        <p:spPr>
          <a:xfrm>
            <a:off x="3571142" y="2442714"/>
            <a:ext cx="1800000" cy="180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CBFDE-2FD0-BF4F-44D6-267789B39644}"/>
              </a:ext>
            </a:extLst>
          </p:cNvPr>
          <p:cNvSpPr/>
          <p:nvPr/>
        </p:nvSpPr>
        <p:spPr>
          <a:xfrm>
            <a:off x="7171142" y="2442714"/>
            <a:ext cx="1800000" cy="180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Right</a:t>
            </a:r>
          </a:p>
          <a:p>
            <a:pPr algn="ctr"/>
            <a:r>
              <a:rPr lang="en-US" sz="4000" b="1" dirty="0"/>
              <a:t>Pointer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8E708-C839-A39B-1DD4-CC6E910A2613}"/>
              </a:ext>
            </a:extLst>
          </p:cNvPr>
          <p:cNvSpPr txBox="1"/>
          <p:nvPr/>
        </p:nvSpPr>
        <p:spPr>
          <a:xfrm>
            <a:off x="8971142" y="382345"/>
            <a:ext cx="3048495" cy="17543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value;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left;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right;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};  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03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59A545-5E0C-E6E5-274C-D470E99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TreeNode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121B2-8C34-C723-AA30-2A804B79DD2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node in a tree has a value, and a left and right pointer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48833F-CA0E-8DDE-F7CE-0789C8A2C001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5F0CD-9B66-12B7-3CAB-E65F729BD19C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E60267-87A9-5C01-0B32-657549E1BE34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C577992-DB1B-F2C7-097E-925D799D9F55}"/>
              </a:ext>
            </a:extLst>
          </p:cNvPr>
          <p:cNvSpPr txBox="1"/>
          <p:nvPr/>
        </p:nvSpPr>
        <p:spPr>
          <a:xfrm>
            <a:off x="8971142" y="382345"/>
            <a:ext cx="3048495" cy="17543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value;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left;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right;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};  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016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4B763-0D9B-5461-69C0-39C704F0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451F85-7493-B35F-FDBC-644A3480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TreeNode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88BF8-92F1-F7F7-8B9E-1754C6A0FA5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An implementation of a binary tree is </a:t>
            </a:r>
            <a:r>
              <a:rPr lang="en-PH" sz="2500">
                <a:solidFill>
                  <a:schemeClr val="bg1"/>
                </a:solidFill>
              </a:rPr>
              <a:t>a non-linear linked list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5B58E-E56E-D5B2-F979-AEDABFE4EA4A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A009C-85B1-F720-27D3-4180E15A9C7B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9F5DA-E232-EB49-B2CB-6A93CED76164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8E187FB-5008-35C6-669F-25AAD7549486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4206001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19ADAB8-B729-A132-1024-46A974AED851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6402772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1689E5D-2681-B5D6-7D3D-681242ED8C10}"/>
              </a:ext>
            </a:extLst>
          </p:cNvPr>
          <p:cNvCxnSpPr>
            <a:cxnSpLocks/>
            <a:stCxn id="90" idx="0"/>
            <a:endCxn id="88" idx="2"/>
          </p:cNvCxnSpPr>
          <p:nvPr/>
        </p:nvCxnSpPr>
        <p:spPr>
          <a:xfrm flipV="1">
            <a:off x="2884791" y="3405845"/>
            <a:ext cx="769998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AA04C5F-E7F4-32AE-FC13-2EB4A200AE4D}"/>
              </a:ext>
            </a:extLst>
          </p:cNvPr>
          <p:cNvCxnSpPr>
            <a:cxnSpLocks/>
            <a:stCxn id="86" idx="2"/>
            <a:endCxn id="87" idx="0"/>
          </p:cNvCxnSpPr>
          <p:nvPr/>
        </p:nvCxnSpPr>
        <p:spPr>
          <a:xfrm>
            <a:off x="8177213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7CE02771-8B46-D850-868D-AF850E6DC330}"/>
              </a:ext>
            </a:extLst>
          </p:cNvPr>
          <p:cNvSpPr/>
          <p:nvPr/>
        </p:nvSpPr>
        <p:spPr>
          <a:xfrm>
            <a:off x="3936001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Value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A6B1BBB-CE61-A267-E9EB-0E6821F2AEE7}"/>
              </a:ext>
            </a:extLst>
          </p:cNvPr>
          <p:cNvSpPr/>
          <p:nvPr/>
        </p:nvSpPr>
        <p:spPr>
          <a:xfrm>
            <a:off x="3390395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FB5394D-667B-9B98-CEF0-4067AAE74213}"/>
              </a:ext>
            </a:extLst>
          </p:cNvPr>
          <p:cNvSpPr/>
          <p:nvPr/>
        </p:nvSpPr>
        <p:spPr>
          <a:xfrm>
            <a:off x="4476001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B4024BB-E862-81BB-61DD-2264DFA22725}"/>
              </a:ext>
            </a:extLst>
          </p:cNvPr>
          <p:cNvSpPr/>
          <p:nvPr/>
        </p:nvSpPr>
        <p:spPr>
          <a:xfrm>
            <a:off x="7367213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Value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38ED40E-C8CC-759A-0FF8-211CF22AC6AF}"/>
              </a:ext>
            </a:extLst>
          </p:cNvPr>
          <p:cNvSpPr/>
          <p:nvPr/>
        </p:nvSpPr>
        <p:spPr>
          <a:xfrm>
            <a:off x="682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9813463-08CE-395C-AFF8-7294B566D184}"/>
              </a:ext>
            </a:extLst>
          </p:cNvPr>
          <p:cNvSpPr/>
          <p:nvPr/>
        </p:nvSpPr>
        <p:spPr>
          <a:xfrm>
            <a:off x="790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7026A71-666B-5DA4-B700-9FF7BE81204B}"/>
              </a:ext>
            </a:extLst>
          </p:cNvPr>
          <p:cNvSpPr/>
          <p:nvPr/>
        </p:nvSpPr>
        <p:spPr>
          <a:xfrm>
            <a:off x="8438984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Value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FAC2B21-A147-E092-5358-1B29D9AD08F0}"/>
              </a:ext>
            </a:extLst>
          </p:cNvPr>
          <p:cNvSpPr/>
          <p:nvPr/>
        </p:nvSpPr>
        <p:spPr>
          <a:xfrm>
            <a:off x="3384789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B359543-5504-DD22-0386-4F6D60B385C1}"/>
              </a:ext>
            </a:extLst>
          </p:cNvPr>
          <p:cNvSpPr/>
          <p:nvPr/>
        </p:nvSpPr>
        <p:spPr>
          <a:xfrm>
            <a:off x="8978984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153B788-DFA0-137D-F656-04DDFE0194B1}"/>
              </a:ext>
            </a:extLst>
          </p:cNvPr>
          <p:cNvSpPr/>
          <p:nvPr/>
        </p:nvSpPr>
        <p:spPr>
          <a:xfrm>
            <a:off x="2614791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Value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06A7970-24C8-7343-33C8-BF0A80B86D05}"/>
              </a:ext>
            </a:extLst>
          </p:cNvPr>
          <p:cNvSpPr/>
          <p:nvPr/>
        </p:nvSpPr>
        <p:spPr>
          <a:xfrm>
            <a:off x="2074791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BA15602-1E89-DCB8-B0B3-3AF10120C860}"/>
              </a:ext>
            </a:extLst>
          </p:cNvPr>
          <p:cNvSpPr/>
          <p:nvPr/>
        </p:nvSpPr>
        <p:spPr>
          <a:xfrm>
            <a:off x="3154791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57CFA-06BE-5E89-FB7A-C7A11E2FF38A}"/>
              </a:ext>
            </a:extLst>
          </p:cNvPr>
          <p:cNvSpPr txBox="1"/>
          <p:nvPr/>
        </p:nvSpPr>
        <p:spPr>
          <a:xfrm>
            <a:off x="8971142" y="382345"/>
            <a:ext cx="3048495" cy="17543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value;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left;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PH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right;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};  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726CA4-E7AE-8BA0-FA50-67C26B7F2BC5}"/>
              </a:ext>
            </a:extLst>
          </p:cNvPr>
          <p:cNvSpPr/>
          <p:nvPr/>
        </p:nvSpPr>
        <p:spPr>
          <a:xfrm>
            <a:off x="7907213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AF8C38-CF79-6340-E4CB-0B618932233E}"/>
              </a:ext>
            </a:extLst>
          </p:cNvPr>
          <p:cNvSpPr/>
          <p:nvPr/>
        </p:nvSpPr>
        <p:spPr>
          <a:xfrm>
            <a:off x="5006888" y="382496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3E0D11-54E8-C4AD-4CF5-3BB2D1A5914C}"/>
              </a:ext>
            </a:extLst>
          </p:cNvPr>
          <p:cNvSpPr/>
          <p:nvPr/>
        </p:nvSpPr>
        <p:spPr>
          <a:xfrm>
            <a:off x="5546888" y="382496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72D703-F8E7-007F-4212-07833D9BA806}"/>
              </a:ext>
            </a:extLst>
          </p:cNvPr>
          <p:cNvSpPr/>
          <p:nvPr/>
        </p:nvSpPr>
        <p:spPr>
          <a:xfrm>
            <a:off x="4475117" y="382496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5F6DC8-128C-A596-4819-37B438B4DF5F}"/>
              </a:ext>
            </a:extLst>
          </p:cNvPr>
          <p:cNvCxnSpPr>
            <a:cxnSpLocks/>
            <a:stCxn id="12" idx="0"/>
            <a:endCxn id="83" idx="2"/>
          </p:cNvCxnSpPr>
          <p:nvPr/>
        </p:nvCxnSpPr>
        <p:spPr>
          <a:xfrm flipH="1" flipV="1">
            <a:off x="4746001" y="3405845"/>
            <a:ext cx="530887" cy="41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036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271A6-AEF1-7772-A6AC-AF644108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42D1DA-64F5-B06C-4B70-C3DE2F150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 err="1">
                <a:solidFill>
                  <a:srgbClr val="00B050"/>
                </a:solidFill>
                <a:effectLst/>
              </a:rPr>
              <a:t>insertNode</a:t>
            </a:r>
            <a:r>
              <a:rPr lang="en-US" sz="6000" b="1" i="0" dirty="0">
                <a:solidFill>
                  <a:srgbClr val="00B050"/>
                </a:solidFill>
                <a:effectLst/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9C170-FB5E-884B-2F8A-2C2F1331EDD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Here is our binary search tree after we insert </a:t>
            </a:r>
            <a:r>
              <a:rPr lang="en-PH" sz="2500" b="1" dirty="0">
                <a:solidFill>
                  <a:srgbClr val="00B0F0"/>
                </a:solidFill>
              </a:rPr>
              <a:t>5, 8, 3, 12, 9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A47858-B784-B60B-8544-57127EC70D34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915C1-EDD8-F588-F542-CCBC618EA160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F736F2-17E4-47D6-F0C2-E410F319A754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FD2278E-02A7-0C6F-44D5-EB7A128F4BA9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206001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D7FF8D-E4B4-2DE7-3AB0-DC738963EE7E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402772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34CBE3-7420-4713-D8EE-F7B82F3EB801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>
          <a:xfrm flipV="1">
            <a:off x="7628984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D31B88-4B36-89CD-EE41-2545888C7875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8177213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4954919-C12B-BDAB-5EF7-DA3CC1FC8869}"/>
              </a:ext>
            </a:extLst>
          </p:cNvPr>
          <p:cNvSpPr/>
          <p:nvPr/>
        </p:nvSpPr>
        <p:spPr>
          <a:xfrm>
            <a:off x="3936001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E98BD4-9144-6E7A-6766-8980E9F306A8}"/>
              </a:ext>
            </a:extLst>
          </p:cNvPr>
          <p:cNvSpPr/>
          <p:nvPr/>
        </p:nvSpPr>
        <p:spPr>
          <a:xfrm>
            <a:off x="3390395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8D25EB-96C4-2797-8EF7-64717D023769}"/>
              </a:ext>
            </a:extLst>
          </p:cNvPr>
          <p:cNvSpPr/>
          <p:nvPr/>
        </p:nvSpPr>
        <p:spPr>
          <a:xfrm>
            <a:off x="4476001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8CA783-50D6-9083-C182-53C7593426DA}"/>
              </a:ext>
            </a:extLst>
          </p:cNvPr>
          <p:cNvSpPr/>
          <p:nvPr/>
        </p:nvSpPr>
        <p:spPr>
          <a:xfrm>
            <a:off x="7367213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9BB4C9-E287-0BA2-59A3-6408416392EA}"/>
              </a:ext>
            </a:extLst>
          </p:cNvPr>
          <p:cNvSpPr/>
          <p:nvPr/>
        </p:nvSpPr>
        <p:spPr>
          <a:xfrm>
            <a:off x="682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C2BB9-A453-99F8-62B2-1698010AED9C}"/>
              </a:ext>
            </a:extLst>
          </p:cNvPr>
          <p:cNvSpPr/>
          <p:nvPr/>
        </p:nvSpPr>
        <p:spPr>
          <a:xfrm>
            <a:off x="790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784410-803A-5FD0-4ADC-6AF87799F029}"/>
              </a:ext>
            </a:extLst>
          </p:cNvPr>
          <p:cNvSpPr/>
          <p:nvPr/>
        </p:nvSpPr>
        <p:spPr>
          <a:xfrm>
            <a:off x="8438984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2928DE-99AA-7973-864C-DFA863939ED0}"/>
              </a:ext>
            </a:extLst>
          </p:cNvPr>
          <p:cNvSpPr/>
          <p:nvPr/>
        </p:nvSpPr>
        <p:spPr>
          <a:xfrm>
            <a:off x="7907213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43BEB5-0BCB-CCC6-EAA8-8F05D70607D3}"/>
              </a:ext>
            </a:extLst>
          </p:cNvPr>
          <p:cNvSpPr/>
          <p:nvPr/>
        </p:nvSpPr>
        <p:spPr>
          <a:xfrm>
            <a:off x="8978984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F15A04-2520-C43C-0075-2DC7812689D6}"/>
              </a:ext>
            </a:extLst>
          </p:cNvPr>
          <p:cNvSpPr/>
          <p:nvPr/>
        </p:nvSpPr>
        <p:spPr>
          <a:xfrm>
            <a:off x="7358984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022C4D-D2CE-CC1C-EA65-2B6354147239}"/>
              </a:ext>
            </a:extLst>
          </p:cNvPr>
          <p:cNvSpPr/>
          <p:nvPr/>
        </p:nvSpPr>
        <p:spPr>
          <a:xfrm>
            <a:off x="6818984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5AEC46-82BF-DE12-E7C2-549E79A44F23}"/>
              </a:ext>
            </a:extLst>
          </p:cNvPr>
          <p:cNvSpPr/>
          <p:nvPr/>
        </p:nvSpPr>
        <p:spPr>
          <a:xfrm>
            <a:off x="7898984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DA1179-6626-D48C-73E7-724D3A9F2C94}"/>
              </a:ext>
            </a:extLst>
          </p:cNvPr>
          <p:cNvSpPr txBox="1"/>
          <p:nvPr/>
        </p:nvSpPr>
        <p:spPr>
          <a:xfrm>
            <a:off x="8447213" y="493910"/>
            <a:ext cx="3529931" cy="156966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"Inserting nodes. . ."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insertNode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insertNode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insertNode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     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insertNode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insertNode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"Done. . ."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6237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921F4-6BFB-CED8-DF43-563C8654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21EB22-F17D-4A99-5950-4906D0A7C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 err="1">
                <a:solidFill>
                  <a:srgbClr val="00B050"/>
                </a:solidFill>
                <a:effectLst/>
              </a:rPr>
              <a:t>insertNode</a:t>
            </a:r>
            <a:r>
              <a:rPr lang="en-US" sz="6000" b="1" i="0" dirty="0">
                <a:solidFill>
                  <a:srgbClr val="00B050"/>
                </a:solidFill>
                <a:effectLst/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7BA3E-E87A-07E0-0246-857987A23A27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Let us go through the </a:t>
            </a:r>
            <a:r>
              <a:rPr lang="en-PH" sz="2500" b="1" dirty="0" err="1">
                <a:solidFill>
                  <a:srgbClr val="00B0F0"/>
                </a:solidFill>
              </a:rPr>
              <a:t>insertNode</a:t>
            </a:r>
            <a:r>
              <a:rPr lang="en-PH" sz="2500" b="1" dirty="0">
                <a:solidFill>
                  <a:srgbClr val="00B0F0"/>
                </a:solidFill>
              </a:rPr>
              <a:t>() </a:t>
            </a:r>
            <a:r>
              <a:rPr lang="en-PH" sz="2500" dirty="0">
                <a:solidFill>
                  <a:schemeClr val="bg1"/>
                </a:solidFill>
              </a:rPr>
              <a:t>function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AC45E-8F6C-2365-22F7-82E631BDDC41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DBA899-0D6D-0495-3198-7CC349EA3FC5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DE878C-E7B8-75D9-8C93-0CA4D1BDFA7C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A71594-6300-1D1D-261B-46486A672E8B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206001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324FFF-E43C-D441-BB41-B64537DE19E2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402772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6FF393-E4F9-1F8E-7F49-6206DD5ECED4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>
          <a:xfrm flipV="1">
            <a:off x="7628984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91A270-E8A7-DDC4-10ED-AC543D88DCE2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8177213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27347BA-2273-B72E-14A9-32C346D55731}"/>
              </a:ext>
            </a:extLst>
          </p:cNvPr>
          <p:cNvSpPr/>
          <p:nvPr/>
        </p:nvSpPr>
        <p:spPr>
          <a:xfrm>
            <a:off x="3936001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8FC050-F71B-FBD4-A07B-29568CFACDB4}"/>
              </a:ext>
            </a:extLst>
          </p:cNvPr>
          <p:cNvSpPr/>
          <p:nvPr/>
        </p:nvSpPr>
        <p:spPr>
          <a:xfrm>
            <a:off x="3390395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31B8A-3B32-F2F3-F094-5F4C94A8ACC4}"/>
              </a:ext>
            </a:extLst>
          </p:cNvPr>
          <p:cNvSpPr/>
          <p:nvPr/>
        </p:nvSpPr>
        <p:spPr>
          <a:xfrm>
            <a:off x="4476001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18206D-39BF-61F6-865B-042F665B0383}"/>
              </a:ext>
            </a:extLst>
          </p:cNvPr>
          <p:cNvSpPr/>
          <p:nvPr/>
        </p:nvSpPr>
        <p:spPr>
          <a:xfrm>
            <a:off x="7367213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D6BAC9-0EB7-C1D6-AFE5-6A7068E06223}"/>
              </a:ext>
            </a:extLst>
          </p:cNvPr>
          <p:cNvSpPr/>
          <p:nvPr/>
        </p:nvSpPr>
        <p:spPr>
          <a:xfrm>
            <a:off x="682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7D1312-F061-6285-D991-B0A95E426C75}"/>
              </a:ext>
            </a:extLst>
          </p:cNvPr>
          <p:cNvSpPr/>
          <p:nvPr/>
        </p:nvSpPr>
        <p:spPr>
          <a:xfrm>
            <a:off x="790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06D432-D8E3-D535-36A1-17F674825AF7}"/>
              </a:ext>
            </a:extLst>
          </p:cNvPr>
          <p:cNvSpPr/>
          <p:nvPr/>
        </p:nvSpPr>
        <p:spPr>
          <a:xfrm>
            <a:off x="8438984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0E91B-BB18-99FA-7010-BEE3D40386DB}"/>
              </a:ext>
            </a:extLst>
          </p:cNvPr>
          <p:cNvSpPr/>
          <p:nvPr/>
        </p:nvSpPr>
        <p:spPr>
          <a:xfrm>
            <a:off x="7907213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24D795-25C6-07B3-7D60-85722437E0FC}"/>
              </a:ext>
            </a:extLst>
          </p:cNvPr>
          <p:cNvSpPr/>
          <p:nvPr/>
        </p:nvSpPr>
        <p:spPr>
          <a:xfrm>
            <a:off x="8978984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3D1E5B-0D97-7D67-5D38-350F9585B3C5}"/>
              </a:ext>
            </a:extLst>
          </p:cNvPr>
          <p:cNvSpPr/>
          <p:nvPr/>
        </p:nvSpPr>
        <p:spPr>
          <a:xfrm>
            <a:off x="7358984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40F925-9BC6-E55B-E704-8D2630CF6C24}"/>
              </a:ext>
            </a:extLst>
          </p:cNvPr>
          <p:cNvSpPr/>
          <p:nvPr/>
        </p:nvSpPr>
        <p:spPr>
          <a:xfrm>
            <a:off x="6818984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F87CF5-FB8A-7634-8B75-B19457A816DE}"/>
              </a:ext>
            </a:extLst>
          </p:cNvPr>
          <p:cNvSpPr/>
          <p:nvPr/>
        </p:nvSpPr>
        <p:spPr>
          <a:xfrm>
            <a:off x="7898984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065D3F-C349-60A0-7D3F-4625FB3EF50F}"/>
              </a:ext>
            </a:extLst>
          </p:cNvPr>
          <p:cNvSpPr txBox="1"/>
          <p:nvPr/>
        </p:nvSpPr>
        <p:spPr>
          <a:xfrm>
            <a:off x="8522031" y="497150"/>
            <a:ext cx="3509708" cy="21236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insertNode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   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48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3EF52-EF74-3C65-82C7-A0212BFA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1D48594-1852-9B1F-43DA-AC65CDCE7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insertNode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B0BF7-8B68-B12B-31FF-47CC01622830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Initially, the first node will have a </a:t>
            </a:r>
            <a:r>
              <a:rPr lang="en-PH" sz="2500" b="1" dirty="0">
                <a:solidFill>
                  <a:srgbClr val="00B0F0"/>
                </a:solidFill>
              </a:rPr>
              <a:t>null value </a:t>
            </a:r>
            <a:r>
              <a:rPr lang="en-PH" sz="2500" dirty="0">
                <a:solidFill>
                  <a:schemeClr val="bg1"/>
                </a:solidFill>
              </a:rPr>
              <a:t>for both </a:t>
            </a:r>
            <a:r>
              <a:rPr lang="en-PH" sz="2500" b="1" dirty="0">
                <a:solidFill>
                  <a:schemeClr val="bg1"/>
                </a:solidFill>
              </a:rPr>
              <a:t>left</a:t>
            </a:r>
            <a:r>
              <a:rPr lang="en-PH" sz="2500" dirty="0">
                <a:solidFill>
                  <a:schemeClr val="bg1"/>
                </a:solidFill>
              </a:rPr>
              <a:t> and </a:t>
            </a:r>
            <a:r>
              <a:rPr lang="en-PH" sz="2500" b="1" dirty="0">
                <a:solidFill>
                  <a:schemeClr val="bg1"/>
                </a:solidFill>
              </a:rPr>
              <a:t>right</a:t>
            </a:r>
            <a:r>
              <a:rPr lang="en-PH" sz="2500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chemeClr val="bg1"/>
                </a:solidFill>
              </a:rPr>
              <a:t>pointers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D65AE9-8E63-2227-A834-7CF9ADFD4E02}"/>
              </a:ext>
            </a:extLst>
          </p:cNvPr>
          <p:cNvSpPr txBox="1"/>
          <p:nvPr/>
        </p:nvSpPr>
        <p:spPr>
          <a:xfrm>
            <a:off x="8522031" y="497150"/>
            <a:ext cx="3509708" cy="21236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insertNode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   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82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9BC24-481D-64FA-40B7-46442841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0715F5-7254-90DC-6AAC-258C6E162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insertNode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FB838-AD21-3582-6E42-005810C8886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Initially, the first node will have a </a:t>
            </a:r>
            <a:r>
              <a:rPr lang="en-PH" sz="2500" b="1" dirty="0">
                <a:solidFill>
                  <a:srgbClr val="00B0F0"/>
                </a:solidFill>
              </a:rPr>
              <a:t>null value </a:t>
            </a:r>
            <a:r>
              <a:rPr lang="en-PH" sz="2500" dirty="0">
                <a:solidFill>
                  <a:schemeClr val="bg1"/>
                </a:solidFill>
              </a:rPr>
              <a:t>for both </a:t>
            </a:r>
            <a:r>
              <a:rPr lang="en-PH" sz="2500" b="1" dirty="0">
                <a:solidFill>
                  <a:schemeClr val="bg1"/>
                </a:solidFill>
              </a:rPr>
              <a:t>left</a:t>
            </a:r>
            <a:r>
              <a:rPr lang="en-PH" sz="2500" dirty="0">
                <a:solidFill>
                  <a:schemeClr val="bg1"/>
                </a:solidFill>
              </a:rPr>
              <a:t> and </a:t>
            </a:r>
            <a:r>
              <a:rPr lang="en-PH" sz="2500" b="1" dirty="0">
                <a:solidFill>
                  <a:schemeClr val="bg1"/>
                </a:solidFill>
              </a:rPr>
              <a:t>right</a:t>
            </a:r>
            <a:r>
              <a:rPr lang="en-PH" sz="2500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chemeClr val="bg1"/>
                </a:solidFill>
              </a:rPr>
              <a:t>pointers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A34567-D4A4-1A8A-7521-FB5EBBC91CB1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ABC3B2-B982-9B98-C032-2529578D6C49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46BB66-B481-0F52-F187-E85BC475F499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13421F-86BF-39E4-8C83-28420D70B918}"/>
              </a:ext>
            </a:extLst>
          </p:cNvPr>
          <p:cNvSpPr txBox="1"/>
          <p:nvPr/>
        </p:nvSpPr>
        <p:spPr>
          <a:xfrm>
            <a:off x="8409214" y="497150"/>
            <a:ext cx="3276105" cy="20313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root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root;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7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15EBF-49C7-15B2-20EA-A63A21CC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38A6C9-B007-F4E5-C8F8-CAAAC1D14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insertNode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019DA-5A10-01E5-B287-249B3DC637B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first node will always be the </a:t>
            </a:r>
            <a:r>
              <a:rPr lang="en-PH" sz="2500" b="1" dirty="0">
                <a:solidFill>
                  <a:srgbClr val="00B0F0"/>
                </a:solidFill>
              </a:rPr>
              <a:t>root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1D74D7-2263-263A-A6C7-3816A4BCE904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E612F-AC08-EE46-0978-841311DC37DA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5AE06E-EED8-2C65-2E44-8F17C65C05E1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67E1CF-37DD-AE1D-5A71-2CFB5D7E8779}"/>
              </a:ext>
            </a:extLst>
          </p:cNvPr>
          <p:cNvSpPr txBox="1"/>
          <p:nvPr/>
        </p:nvSpPr>
        <p:spPr>
          <a:xfrm>
            <a:off x="8409214" y="497150"/>
            <a:ext cx="3276105" cy="20313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root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root;</a:t>
            </a:r>
            <a:endParaRPr lang="en-PH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838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CB720-A6EF-FB6C-E5F0-A44E1A7A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00BD23C-3EDC-500D-AF5A-ACB6EC4B3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insertNode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EC25B-1F1F-22BB-E72C-6E77DB74C8F0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we insert another node in this case node 3, we assign it as the </a:t>
            </a:r>
            <a:r>
              <a:rPr lang="en-PH" sz="2500" b="1" dirty="0">
                <a:solidFill>
                  <a:srgbClr val="00B0F0"/>
                </a:solidFill>
              </a:rPr>
              <a:t>left child of node 5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1ABBB4-1E9C-B336-9217-2A67DD67E16A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805B9-DD47-4FDC-D7F3-0CF3BAEFE7B9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35198-5922-5C45-63A5-7B7577C2541E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175899-CBF0-F008-57B6-8F88816E2C4A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206001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3E64630-480E-4F12-4AEF-4D6ABE7F3EB3}"/>
              </a:ext>
            </a:extLst>
          </p:cNvPr>
          <p:cNvSpPr/>
          <p:nvPr/>
        </p:nvSpPr>
        <p:spPr>
          <a:xfrm>
            <a:off x="3936001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145CA-66E7-4A4B-79DA-6B8A51B5B48F}"/>
              </a:ext>
            </a:extLst>
          </p:cNvPr>
          <p:cNvSpPr/>
          <p:nvPr/>
        </p:nvSpPr>
        <p:spPr>
          <a:xfrm>
            <a:off x="3390395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47B70-3615-B654-2A62-B73D9876EA36}"/>
              </a:ext>
            </a:extLst>
          </p:cNvPr>
          <p:cNvSpPr/>
          <p:nvPr/>
        </p:nvSpPr>
        <p:spPr>
          <a:xfrm>
            <a:off x="4476001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3A0E1-B1C5-7ED3-48E8-A238A97BA43A}"/>
              </a:ext>
            </a:extLst>
          </p:cNvPr>
          <p:cNvSpPr txBox="1"/>
          <p:nvPr/>
        </p:nvSpPr>
        <p:spPr>
          <a:xfrm>
            <a:off x="8389422" y="497150"/>
            <a:ext cx="3258293" cy="286232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(num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-&gt;value)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247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41BD4-9E98-3185-B4C7-19A369A1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4DBE37-8F5A-5CE3-1ABD-FE56C4A3E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insertNode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DD62E-51AF-C8DA-F9BC-4411FB62413D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we insert node 8, we assign it as the </a:t>
            </a:r>
            <a:r>
              <a:rPr lang="en-PH" sz="2500" b="1" dirty="0">
                <a:solidFill>
                  <a:srgbClr val="00B0F0"/>
                </a:solidFill>
              </a:rPr>
              <a:t>right child of node 5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5522C4-5048-E04C-AF47-EA2AFD38BEF1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185F33-57A1-8D82-E91E-24B72918A7B6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9A696-0715-7DF6-B0D2-D9B64B70DED7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64180D-0402-C9A0-51DE-683E63F9C071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206001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D8BC576-B52F-ECE6-A492-9DC7B3778A8B}"/>
              </a:ext>
            </a:extLst>
          </p:cNvPr>
          <p:cNvSpPr/>
          <p:nvPr/>
        </p:nvSpPr>
        <p:spPr>
          <a:xfrm>
            <a:off x="3936001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921898-2913-6B91-2D48-1CFE77FC086C}"/>
              </a:ext>
            </a:extLst>
          </p:cNvPr>
          <p:cNvSpPr/>
          <p:nvPr/>
        </p:nvSpPr>
        <p:spPr>
          <a:xfrm>
            <a:off x="3390395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93E84-F07A-B6B6-FFDB-E17D6D3AF62D}"/>
              </a:ext>
            </a:extLst>
          </p:cNvPr>
          <p:cNvSpPr/>
          <p:nvPr/>
        </p:nvSpPr>
        <p:spPr>
          <a:xfrm>
            <a:off x="4476001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36D785-E973-873C-8C45-D65ACEE26B52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402772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80D49E4-2236-6A50-6709-D2D083AF787B}"/>
              </a:ext>
            </a:extLst>
          </p:cNvPr>
          <p:cNvSpPr/>
          <p:nvPr/>
        </p:nvSpPr>
        <p:spPr>
          <a:xfrm>
            <a:off x="7367213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3E920B-BDD6-4724-0268-237954E44A85}"/>
              </a:ext>
            </a:extLst>
          </p:cNvPr>
          <p:cNvSpPr/>
          <p:nvPr/>
        </p:nvSpPr>
        <p:spPr>
          <a:xfrm>
            <a:off x="682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A8649-68EA-CF26-8DC8-538E77FB20C3}"/>
              </a:ext>
            </a:extLst>
          </p:cNvPr>
          <p:cNvSpPr/>
          <p:nvPr/>
        </p:nvSpPr>
        <p:spPr>
          <a:xfrm>
            <a:off x="790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9F04A9-DAA9-CC38-3657-F7118B3A4DFB}"/>
              </a:ext>
            </a:extLst>
          </p:cNvPr>
          <p:cNvSpPr txBox="1"/>
          <p:nvPr/>
        </p:nvSpPr>
        <p:spPr>
          <a:xfrm>
            <a:off x="8605157" y="497150"/>
            <a:ext cx="3239708" cy="23083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(num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-&gt;value)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433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21C94-63D1-7870-1A7C-D30FD6F32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4A4692A-DC03-11ED-983B-9284BEAEC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insertNode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C6F3A-276B-3166-D813-8A06E9218CBD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we insert node 12, we assign it as the </a:t>
            </a:r>
            <a:r>
              <a:rPr lang="en-PH" sz="2500" b="1" dirty="0">
                <a:solidFill>
                  <a:srgbClr val="00B0F0"/>
                </a:solidFill>
              </a:rPr>
              <a:t>right child of node 8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7D5B9-2ED1-6ED7-DBDD-FD6FAA41952E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B481F7-BBC7-4A0D-7455-8D7C233E9535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12927-B0A0-EE7E-EC4E-B92D27A17096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0873BF-7B49-CCC2-A707-D7C4E95EAD74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206001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D41ECB5-B519-CA52-D982-54D602E34C05}"/>
              </a:ext>
            </a:extLst>
          </p:cNvPr>
          <p:cNvSpPr/>
          <p:nvPr/>
        </p:nvSpPr>
        <p:spPr>
          <a:xfrm>
            <a:off x="3936001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4ECE37-CBED-60F2-6648-D502D4A9885E}"/>
              </a:ext>
            </a:extLst>
          </p:cNvPr>
          <p:cNvSpPr/>
          <p:nvPr/>
        </p:nvSpPr>
        <p:spPr>
          <a:xfrm>
            <a:off x="3390395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2C84C0-D384-7831-3974-2AB5C6A8C7DC}"/>
              </a:ext>
            </a:extLst>
          </p:cNvPr>
          <p:cNvSpPr/>
          <p:nvPr/>
        </p:nvSpPr>
        <p:spPr>
          <a:xfrm>
            <a:off x="4476001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2B1307-5B59-6299-031E-ACA9CD3324D0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402772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4DE7F4-5DC3-3715-DC15-706089812EB1}"/>
              </a:ext>
            </a:extLst>
          </p:cNvPr>
          <p:cNvSpPr/>
          <p:nvPr/>
        </p:nvSpPr>
        <p:spPr>
          <a:xfrm>
            <a:off x="7367213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DF73DE-B2A7-C1B9-22F1-60FFFE952C75}"/>
              </a:ext>
            </a:extLst>
          </p:cNvPr>
          <p:cNvSpPr/>
          <p:nvPr/>
        </p:nvSpPr>
        <p:spPr>
          <a:xfrm>
            <a:off x="682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92F20C-F0F9-09B1-FC89-F510D63A437A}"/>
              </a:ext>
            </a:extLst>
          </p:cNvPr>
          <p:cNvSpPr/>
          <p:nvPr/>
        </p:nvSpPr>
        <p:spPr>
          <a:xfrm>
            <a:off x="790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9B65C6-5475-0541-E85A-E12934B091D9}"/>
              </a:ext>
            </a:extLst>
          </p:cNvPr>
          <p:cNvSpPr txBox="1"/>
          <p:nvPr/>
        </p:nvSpPr>
        <p:spPr>
          <a:xfrm>
            <a:off x="8605157" y="497150"/>
            <a:ext cx="3239708" cy="23083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(num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-&gt;value)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801DFC-8E80-A7B6-F3EE-6A018B95FB36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8177213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058789B-B3C5-B7F3-E604-FB741CB5C27D}"/>
              </a:ext>
            </a:extLst>
          </p:cNvPr>
          <p:cNvSpPr/>
          <p:nvPr/>
        </p:nvSpPr>
        <p:spPr>
          <a:xfrm>
            <a:off x="8438984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788F2C-C084-60DC-50D1-AC1D790DED21}"/>
              </a:ext>
            </a:extLst>
          </p:cNvPr>
          <p:cNvSpPr/>
          <p:nvPr/>
        </p:nvSpPr>
        <p:spPr>
          <a:xfrm>
            <a:off x="7907213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1C0729-1D94-B14B-1A98-01CC308F1A55}"/>
              </a:ext>
            </a:extLst>
          </p:cNvPr>
          <p:cNvSpPr/>
          <p:nvPr/>
        </p:nvSpPr>
        <p:spPr>
          <a:xfrm>
            <a:off x="8978984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2371513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56AB1-6C07-FBC1-2A66-DD6903E01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4EA474B-8C93-91DF-B940-4B0CA6BEC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insertNode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34B3F-9477-2E26-AAA1-2285F7FF4C21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we insert node 9, we assign it as the </a:t>
            </a:r>
            <a:r>
              <a:rPr lang="en-PH" sz="2500" b="1" dirty="0">
                <a:solidFill>
                  <a:srgbClr val="00B0F0"/>
                </a:solidFill>
              </a:rPr>
              <a:t>right child of node 9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629AFF-4CCF-2C2C-FB13-85934DC965C6}"/>
              </a:ext>
            </a:extLst>
          </p:cNvPr>
          <p:cNvSpPr/>
          <p:nvPr/>
        </p:nvSpPr>
        <p:spPr>
          <a:xfrm>
            <a:off x="5614586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35CF0-A9F1-2506-A711-BA6263FB5751}"/>
              </a:ext>
            </a:extLst>
          </p:cNvPr>
          <p:cNvSpPr/>
          <p:nvPr/>
        </p:nvSpPr>
        <p:spPr>
          <a:xfrm>
            <a:off x="5074586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F4EB06-3003-7861-96AD-8C6E0047DAC3}"/>
              </a:ext>
            </a:extLst>
          </p:cNvPr>
          <p:cNvSpPr/>
          <p:nvPr/>
        </p:nvSpPr>
        <p:spPr>
          <a:xfrm>
            <a:off x="6132772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8C22FA-A557-09BA-2CFD-0077B45E1D76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206001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DDE5A2-FD85-895D-50BF-294ED96D7530}"/>
              </a:ext>
            </a:extLst>
          </p:cNvPr>
          <p:cNvSpPr/>
          <p:nvPr/>
        </p:nvSpPr>
        <p:spPr>
          <a:xfrm>
            <a:off x="3936001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C91833-E339-31C0-4973-154D996A768C}"/>
              </a:ext>
            </a:extLst>
          </p:cNvPr>
          <p:cNvSpPr/>
          <p:nvPr/>
        </p:nvSpPr>
        <p:spPr>
          <a:xfrm>
            <a:off x="3390395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351F93-63F2-740C-C141-6A52D2891063}"/>
              </a:ext>
            </a:extLst>
          </p:cNvPr>
          <p:cNvSpPr/>
          <p:nvPr/>
        </p:nvSpPr>
        <p:spPr>
          <a:xfrm>
            <a:off x="4476001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8FFCAD-D8BB-CA8B-DA40-F0A962254A94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402772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E2B6DB1-C1CB-8ED0-23F6-82FC313C070D}"/>
              </a:ext>
            </a:extLst>
          </p:cNvPr>
          <p:cNvSpPr/>
          <p:nvPr/>
        </p:nvSpPr>
        <p:spPr>
          <a:xfrm>
            <a:off x="7367213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16CF94-2559-78B7-4E61-E9D74B92DA52}"/>
              </a:ext>
            </a:extLst>
          </p:cNvPr>
          <p:cNvSpPr/>
          <p:nvPr/>
        </p:nvSpPr>
        <p:spPr>
          <a:xfrm>
            <a:off x="682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18D00A-2F81-800B-23D7-B54214F2A57A}"/>
              </a:ext>
            </a:extLst>
          </p:cNvPr>
          <p:cNvSpPr/>
          <p:nvPr/>
        </p:nvSpPr>
        <p:spPr>
          <a:xfrm>
            <a:off x="7907213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539966-D42C-4A02-D71A-D89B74591947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8177213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B0681F5-EB4D-11A7-A621-566D4AD3884F}"/>
              </a:ext>
            </a:extLst>
          </p:cNvPr>
          <p:cNvSpPr/>
          <p:nvPr/>
        </p:nvSpPr>
        <p:spPr>
          <a:xfrm>
            <a:off x="8438984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A2BC5-1F73-278B-7705-9A7F376DF01A}"/>
              </a:ext>
            </a:extLst>
          </p:cNvPr>
          <p:cNvSpPr/>
          <p:nvPr/>
        </p:nvSpPr>
        <p:spPr>
          <a:xfrm>
            <a:off x="7907213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A70998-B610-DF2A-497F-6A9C87894A24}"/>
              </a:ext>
            </a:extLst>
          </p:cNvPr>
          <p:cNvSpPr/>
          <p:nvPr/>
        </p:nvSpPr>
        <p:spPr>
          <a:xfrm>
            <a:off x="8978984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A45274-3269-E241-94AF-9D9C34411CAD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7628984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07BAFA3-5698-E3A7-5665-5C1B493C834F}"/>
              </a:ext>
            </a:extLst>
          </p:cNvPr>
          <p:cNvSpPr/>
          <p:nvPr/>
        </p:nvSpPr>
        <p:spPr>
          <a:xfrm>
            <a:off x="7358984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75E8F1-A875-7A64-4ABB-CABBCB886E27}"/>
              </a:ext>
            </a:extLst>
          </p:cNvPr>
          <p:cNvSpPr/>
          <p:nvPr/>
        </p:nvSpPr>
        <p:spPr>
          <a:xfrm>
            <a:off x="6818984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1D4B0B-5734-4F5B-BF83-FDACABF2631A}"/>
              </a:ext>
            </a:extLst>
          </p:cNvPr>
          <p:cNvSpPr/>
          <p:nvPr/>
        </p:nvSpPr>
        <p:spPr>
          <a:xfrm>
            <a:off x="7898984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B95A3-41E7-7410-7B59-87B8DBBE911B}"/>
              </a:ext>
            </a:extLst>
          </p:cNvPr>
          <p:cNvSpPr txBox="1"/>
          <p:nvPr/>
        </p:nvSpPr>
        <p:spPr>
          <a:xfrm>
            <a:off x="8573489" y="497150"/>
            <a:ext cx="3258293" cy="286232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(num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-&gt;value)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newNode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52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87881-B1B1-C112-BE69-95B5C60A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72C609-7931-D2F5-C7F5-AA5C41725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displayInOrder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D751A-80D5-B6B8-CEED-687C5794D959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we traverse our tree in-order, we display the </a:t>
            </a:r>
            <a:r>
              <a:rPr lang="en-PH" sz="2500" b="1" dirty="0">
                <a:solidFill>
                  <a:srgbClr val="00B0F0"/>
                </a:solidFill>
              </a:rPr>
              <a:t>left subtree</a:t>
            </a:r>
            <a:r>
              <a:rPr lang="en-PH" sz="2500" dirty="0">
                <a:solidFill>
                  <a:schemeClr val="bg1"/>
                </a:solidFill>
              </a:rPr>
              <a:t>, the </a:t>
            </a:r>
            <a:r>
              <a:rPr lang="en-PH" sz="2500" b="1" dirty="0">
                <a:solidFill>
                  <a:srgbClr val="00B0F0"/>
                </a:solidFill>
              </a:rPr>
              <a:t>root</a:t>
            </a:r>
            <a:r>
              <a:rPr lang="en-PH" sz="2500" dirty="0">
                <a:solidFill>
                  <a:schemeClr val="bg1"/>
                </a:solidFill>
              </a:rPr>
              <a:t> and then the</a:t>
            </a:r>
            <a:r>
              <a:rPr lang="en-PH" sz="2500" b="1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rgbClr val="00B0F0"/>
                </a:solidFill>
              </a:rPr>
              <a:t>right subtree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7EB9B4-10A7-6F7A-3BE4-3B6F85DCE041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96045A-6E54-D158-44FF-0982CFC4B4FD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2A4C1E-59FB-C5F3-4285-59B54C160D34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042440-9212-1802-944C-981EF5B5C918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A790E9F-2107-55F3-3019-2385658428BD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5B5157-9CB4-77EB-B160-58AA312DD1C3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AA8152-D074-0816-BE94-9FD248148387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AEBBC5-462A-89E8-B8F9-2B0A61FD3352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3621977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8304E-8B8E-DCBF-731C-6174F2DD80AF}"/>
              </a:ext>
            </a:extLst>
          </p:cNvPr>
          <p:cNvSpPr/>
          <p:nvPr/>
        </p:nvSpPr>
        <p:spPr>
          <a:xfrm>
            <a:off x="458641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4DD20A-7E21-795A-EC19-D1F57CFF7B1B}"/>
              </a:ext>
            </a:extLst>
          </p:cNvPr>
          <p:cNvSpPr/>
          <p:nvPr/>
        </p:nvSpPr>
        <p:spPr>
          <a:xfrm>
            <a:off x="404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5E811-E55A-BC5A-CE1E-C5C60787D4D5}"/>
              </a:ext>
            </a:extLst>
          </p:cNvPr>
          <p:cNvSpPr/>
          <p:nvPr/>
        </p:nvSpPr>
        <p:spPr>
          <a:xfrm>
            <a:off x="512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8042FF-9304-BBAB-FB6F-5872FCA69477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396418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2843370-77B5-D08E-44C2-4A49FE4661C3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5AFF1A-98DB-D380-DBFF-7C9421DF8499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129297-5EAA-ECAD-2DB0-8B644EACA948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7CFE48-0DC9-860C-36A5-E33F7A898F3C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5EBA751-2440-39C4-254D-C82FD40CFFB8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DFC8BF-6CF5-F5B0-FCC5-380273C93C70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1EDA21-4A3D-2302-EB48-0BD2E1F650DC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0E42AA-195F-6651-3988-101924BF7ADF}"/>
              </a:ext>
            </a:extLst>
          </p:cNvPr>
          <p:cNvSpPr txBox="1"/>
          <p:nvPr/>
        </p:nvSpPr>
        <p:spPr>
          <a:xfrm>
            <a:off x="7358439" y="3232249"/>
            <a:ext cx="4712797" cy="46166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"In-order traversal. . ."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showNodesInOrder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E9BC77-E32D-AE97-250B-A84F3E5A3A0B}"/>
              </a:ext>
            </a:extLst>
          </p:cNvPr>
          <p:cNvSpPr txBox="1"/>
          <p:nvPr/>
        </p:nvSpPr>
        <p:spPr>
          <a:xfrm>
            <a:off x="9001157" y="3855189"/>
            <a:ext cx="3070079" cy="138499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Output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In-order traversal. . .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8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9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8E1147-16E2-93B8-82C5-8035E5D74170}"/>
              </a:ext>
            </a:extLst>
          </p:cNvPr>
          <p:cNvSpPr txBox="1"/>
          <p:nvPr/>
        </p:nvSpPr>
        <p:spPr>
          <a:xfrm>
            <a:off x="7358439" y="1316648"/>
            <a:ext cx="4712798" cy="17543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displayInOrder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displayInOrder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-&gt;left);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-&gt;value </a:t>
            </a:r>
            <a:r>
              <a:rPr lang="en-PH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displayInOrder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-&gt;right);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0" name="Graphic 29" descr="Badge 1 with solid fill">
            <a:extLst>
              <a:ext uri="{FF2B5EF4-FFF2-40B4-BE49-F238E27FC236}">
                <a16:creationId xmlns:a16="http://schemas.microsoft.com/office/drawing/2014/main" id="{9F7E2095-4F76-24B4-4477-4B038AF28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3084" y="2865252"/>
            <a:ext cx="540000" cy="540000"/>
          </a:xfrm>
          <a:prstGeom prst="rect">
            <a:avLst/>
          </a:prstGeom>
        </p:spPr>
      </p:pic>
      <p:pic>
        <p:nvPicPr>
          <p:cNvPr id="33" name="Graphic 32" descr="Badge with solid fill">
            <a:extLst>
              <a:ext uri="{FF2B5EF4-FFF2-40B4-BE49-F238E27FC236}">
                <a16:creationId xmlns:a16="http://schemas.microsoft.com/office/drawing/2014/main" id="{C24E587B-0497-48EC-FAD3-EA2EA8521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0163" y="1634725"/>
            <a:ext cx="540000" cy="540000"/>
          </a:xfrm>
          <a:prstGeom prst="rect">
            <a:avLst/>
          </a:prstGeom>
        </p:spPr>
      </p:pic>
      <p:pic>
        <p:nvPicPr>
          <p:cNvPr id="35" name="Graphic 34" descr="Badge 3 with solid fill">
            <a:extLst>
              <a:ext uri="{FF2B5EF4-FFF2-40B4-BE49-F238E27FC236}">
                <a16:creationId xmlns:a16="http://schemas.microsoft.com/office/drawing/2014/main" id="{3444ACC0-DC01-3A93-A0D7-7EE0E6AF1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5003" y="2865845"/>
            <a:ext cx="540000" cy="540000"/>
          </a:xfrm>
          <a:prstGeom prst="rect">
            <a:avLst/>
          </a:prstGeom>
        </p:spPr>
      </p:pic>
      <p:pic>
        <p:nvPicPr>
          <p:cNvPr id="37" name="Graphic 36" descr="Badge 4 with solid fill">
            <a:extLst>
              <a:ext uri="{FF2B5EF4-FFF2-40B4-BE49-F238E27FC236}">
                <a16:creationId xmlns:a16="http://schemas.microsoft.com/office/drawing/2014/main" id="{1836D8F5-6FF9-055F-7967-8F920084B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2309" y="4758562"/>
            <a:ext cx="540000" cy="540000"/>
          </a:xfrm>
          <a:prstGeom prst="rect">
            <a:avLst/>
          </a:prstGeom>
        </p:spPr>
      </p:pic>
      <p:pic>
        <p:nvPicPr>
          <p:cNvPr id="39" name="Graphic 38" descr="Badge 5 with solid fill">
            <a:extLst>
              <a:ext uri="{FF2B5EF4-FFF2-40B4-BE49-F238E27FC236}">
                <a16:creationId xmlns:a16="http://schemas.microsoft.com/office/drawing/2014/main" id="{8BD7C22B-6289-1D38-E2F7-047CFBE58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9673" y="3825963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14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C7879-6587-8E62-2122-6EB61A76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6E54F2C-10D9-A4B2-CFFB-41CE87F42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displayPreOrder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0C980-AD3C-1FAD-C776-B9EB507A95A8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we traverse our tree in-order, we display the </a:t>
            </a:r>
            <a:r>
              <a:rPr lang="en-PH" sz="2500" b="1" dirty="0">
                <a:solidFill>
                  <a:srgbClr val="00B0F0"/>
                </a:solidFill>
              </a:rPr>
              <a:t>root</a:t>
            </a:r>
            <a:r>
              <a:rPr lang="en-PH" sz="2500" dirty="0">
                <a:solidFill>
                  <a:schemeClr val="bg1"/>
                </a:solidFill>
              </a:rPr>
              <a:t> , the </a:t>
            </a:r>
            <a:r>
              <a:rPr lang="en-PH" sz="2500" b="1" dirty="0">
                <a:solidFill>
                  <a:srgbClr val="00B0F0"/>
                </a:solidFill>
              </a:rPr>
              <a:t>left subtree</a:t>
            </a:r>
            <a:r>
              <a:rPr lang="en-PH" sz="2500" dirty="0">
                <a:solidFill>
                  <a:schemeClr val="bg1"/>
                </a:solidFill>
              </a:rPr>
              <a:t>, and then the</a:t>
            </a:r>
            <a:r>
              <a:rPr lang="en-PH" sz="2500" b="1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rgbClr val="00B0F0"/>
                </a:solidFill>
              </a:rPr>
              <a:t>right subtree</a:t>
            </a:r>
            <a:endParaRPr lang="en-US" sz="2500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08CF31-7CF2-C577-98AC-0D20A4D5FF71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51755-4915-9E28-5122-9C3197061EBB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3681F-5B0D-DD1C-63AB-5D8B63BDB28A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829771-E9DC-694F-066C-A42E423D4525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47C5E7D-BD7C-76FE-40DA-1B382E450C5D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F62483-D1FE-2F37-B796-8DD49E45DD18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F9553E-96A4-24E4-C268-1A36B91B90BD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F1034A-2A2B-C45F-B035-837714E8559F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3621977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CB12442-B2F6-A9FC-EC61-3AD95D6CD928}"/>
              </a:ext>
            </a:extLst>
          </p:cNvPr>
          <p:cNvSpPr/>
          <p:nvPr/>
        </p:nvSpPr>
        <p:spPr>
          <a:xfrm>
            <a:off x="458641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1C7B36-E060-5ECB-F086-BABEF9AD94AC}"/>
              </a:ext>
            </a:extLst>
          </p:cNvPr>
          <p:cNvSpPr/>
          <p:nvPr/>
        </p:nvSpPr>
        <p:spPr>
          <a:xfrm>
            <a:off x="404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3E1CF4-A59E-B932-5C36-893323D93F5A}"/>
              </a:ext>
            </a:extLst>
          </p:cNvPr>
          <p:cNvSpPr/>
          <p:nvPr/>
        </p:nvSpPr>
        <p:spPr>
          <a:xfrm>
            <a:off x="512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8A417E-717D-C300-B5EB-D542A2B66C84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396418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B109086-3A0B-7E3E-D653-A03C9B64AC7B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23F716-1786-3D48-174B-F2DF768AFA30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FA7791-6E05-B4D8-F3E3-05A339F8C9D3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974759-331F-B0DF-07A6-6C4567547F06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E9A2EC5-755D-E109-6629-9C86BBBCF90B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AB5760-CD9D-9A8B-D3C7-35669202B736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507AE0-6CA9-2160-2C56-6AD4F151365C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923135-6300-B7FF-032D-B4BE11074FF9}"/>
              </a:ext>
            </a:extLst>
          </p:cNvPr>
          <p:cNvSpPr txBox="1"/>
          <p:nvPr/>
        </p:nvSpPr>
        <p:spPr>
          <a:xfrm>
            <a:off x="8205281" y="3232749"/>
            <a:ext cx="3887660" cy="46166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cout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A5D6FF"/>
                </a:solidFill>
                <a:latin typeface="Consolas" panose="020B0609020204030204" pitchFamily="49" charset="0"/>
              </a:rPr>
              <a:t>“Pre-order traversal. . ."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endl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tree</a:t>
            </a:r>
            <a:r>
              <a:rPr lang="en-PH" sz="120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showNodesPreOrder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061268-E369-801E-6032-0D515ED4FF76}"/>
              </a:ext>
            </a:extLst>
          </p:cNvPr>
          <p:cNvSpPr txBox="1"/>
          <p:nvPr/>
        </p:nvSpPr>
        <p:spPr>
          <a:xfrm>
            <a:off x="9022862" y="3873272"/>
            <a:ext cx="3070079" cy="138499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Output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In-order traversal. . .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8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7200C2-BB45-8737-B2D3-0075AFDE498A}"/>
              </a:ext>
            </a:extLst>
          </p:cNvPr>
          <p:cNvSpPr txBox="1"/>
          <p:nvPr/>
        </p:nvSpPr>
        <p:spPr>
          <a:xfrm>
            <a:off x="7335585" y="1299566"/>
            <a:ext cx="4757356" cy="17543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Pre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dirty="0">
              <a:solidFill>
                <a:srgbClr val="FFA657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       </a:t>
            </a: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cout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nodePtr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-&gt;value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endl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displayInOrder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-&gt;left);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displayInOrder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-&gt;right);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0F0DAF0A-08D7-352E-9FF6-341068618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197" y="1615598"/>
            <a:ext cx="540000" cy="540000"/>
          </a:xfrm>
          <a:prstGeom prst="rect">
            <a:avLst/>
          </a:prstGeom>
        </p:spPr>
      </p:pic>
      <p:pic>
        <p:nvPicPr>
          <p:cNvPr id="26" name="Graphic 25" descr="Badge with solid fill">
            <a:extLst>
              <a:ext uri="{FF2B5EF4-FFF2-40B4-BE49-F238E27FC236}">
                <a16:creationId xmlns:a16="http://schemas.microsoft.com/office/drawing/2014/main" id="{BF88D4D8-449D-EBA9-C15F-5F46E69C1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5521" y="2871481"/>
            <a:ext cx="540000" cy="540000"/>
          </a:xfrm>
          <a:prstGeom prst="rect">
            <a:avLst/>
          </a:prstGeom>
        </p:spPr>
      </p:pic>
      <p:pic>
        <p:nvPicPr>
          <p:cNvPr id="28" name="Graphic 27" descr="Badge 3 with solid fill">
            <a:extLst>
              <a:ext uri="{FF2B5EF4-FFF2-40B4-BE49-F238E27FC236}">
                <a16:creationId xmlns:a16="http://schemas.microsoft.com/office/drawing/2014/main" id="{7341B5F7-5F9F-EB48-FDB0-A0E9B65ED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5003" y="2865845"/>
            <a:ext cx="540000" cy="540000"/>
          </a:xfrm>
          <a:prstGeom prst="rect">
            <a:avLst/>
          </a:prstGeom>
        </p:spPr>
      </p:pic>
      <p:pic>
        <p:nvPicPr>
          <p:cNvPr id="29" name="Graphic 28" descr="Badge 4 with solid fill">
            <a:extLst>
              <a:ext uri="{FF2B5EF4-FFF2-40B4-BE49-F238E27FC236}">
                <a16:creationId xmlns:a16="http://schemas.microsoft.com/office/drawing/2014/main" id="{FD079356-116C-A34C-EF4B-C2EBFD19A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66977" y="3825963"/>
            <a:ext cx="540000" cy="540000"/>
          </a:xfrm>
          <a:prstGeom prst="rect">
            <a:avLst/>
          </a:prstGeom>
        </p:spPr>
      </p:pic>
      <p:pic>
        <p:nvPicPr>
          <p:cNvPr id="30" name="Graphic 29" descr="Badge 5 with solid fill">
            <a:extLst>
              <a:ext uri="{FF2B5EF4-FFF2-40B4-BE49-F238E27FC236}">
                <a16:creationId xmlns:a16="http://schemas.microsoft.com/office/drawing/2014/main" id="{C3A09D1C-2D25-70B7-CEB9-80F5A8BF7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1091" y="4786081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6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D395A-FC04-434A-01B4-2F419097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052983-591A-50F5-6CB4-516399A92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displayPostOrder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B1F65C-D6AB-F358-9DAB-E7740AE07074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we traverse our tree in-order, we display the </a:t>
            </a:r>
            <a:r>
              <a:rPr lang="en-PH" sz="2500" b="1" dirty="0">
                <a:solidFill>
                  <a:srgbClr val="00B0F0"/>
                </a:solidFill>
              </a:rPr>
              <a:t>left subtree</a:t>
            </a:r>
            <a:r>
              <a:rPr lang="en-PH" sz="2500" dirty="0">
                <a:solidFill>
                  <a:schemeClr val="bg1"/>
                </a:solidFill>
              </a:rPr>
              <a:t>, the</a:t>
            </a:r>
            <a:r>
              <a:rPr lang="en-PH" sz="2500" b="1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rgbClr val="00B0F0"/>
                </a:solidFill>
              </a:rPr>
              <a:t>right subtree </a:t>
            </a:r>
            <a:r>
              <a:rPr lang="en-PH" sz="2500" dirty="0">
                <a:solidFill>
                  <a:schemeClr val="bg1"/>
                </a:solidFill>
              </a:rPr>
              <a:t>and</a:t>
            </a:r>
            <a:r>
              <a:rPr lang="en-PH" sz="2500" b="1" dirty="0">
                <a:solidFill>
                  <a:schemeClr val="bg1"/>
                </a:solidFill>
              </a:rPr>
              <a:t> </a:t>
            </a:r>
            <a:r>
              <a:rPr lang="en-PH" sz="2500" dirty="0">
                <a:solidFill>
                  <a:schemeClr val="bg1"/>
                </a:solidFill>
              </a:rPr>
              <a:t>then</a:t>
            </a:r>
            <a:r>
              <a:rPr lang="en-PH" sz="2500" b="1" dirty="0">
                <a:solidFill>
                  <a:schemeClr val="bg1"/>
                </a:solidFill>
              </a:rPr>
              <a:t> </a:t>
            </a:r>
            <a:r>
              <a:rPr lang="en-PH" sz="2500" b="1" dirty="0">
                <a:solidFill>
                  <a:srgbClr val="00B0F0"/>
                </a:solidFill>
              </a:rPr>
              <a:t>the root</a:t>
            </a:r>
            <a:r>
              <a:rPr lang="en-PH" sz="2500" dirty="0">
                <a:solidFill>
                  <a:schemeClr val="bg1"/>
                </a:solidFill>
              </a:rPr>
              <a:t>.</a:t>
            </a:r>
            <a:endParaRPr lang="en-US" sz="2500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964FC5-8307-8FD8-6710-994E5AA8C740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39FB59-42D9-A8B3-89A9-B1F3813CC4D0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A0BBE0-45A6-54E4-2EA7-B0521D1F04DF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4FDB3A-C577-2EDD-5416-E4EBB12B3E1D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1393419-F89C-F13F-DBBD-678E9557015F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ABD4B-3274-2C14-A4A7-C333AF040AE2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A56F73-7318-1A95-2368-438E3AEC7DE0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E06CEF-6515-F470-3C23-3184E8622591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3621977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3B827-DC35-6F24-B644-D2C3F4A9CC09}"/>
              </a:ext>
            </a:extLst>
          </p:cNvPr>
          <p:cNvSpPr/>
          <p:nvPr/>
        </p:nvSpPr>
        <p:spPr>
          <a:xfrm>
            <a:off x="458641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2773B-A470-F20E-2C49-27ED90888CF8}"/>
              </a:ext>
            </a:extLst>
          </p:cNvPr>
          <p:cNvSpPr/>
          <p:nvPr/>
        </p:nvSpPr>
        <p:spPr>
          <a:xfrm>
            <a:off x="404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63BEF8-2731-DB99-B6B4-494F6E8E8159}"/>
              </a:ext>
            </a:extLst>
          </p:cNvPr>
          <p:cNvSpPr/>
          <p:nvPr/>
        </p:nvSpPr>
        <p:spPr>
          <a:xfrm>
            <a:off x="512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7B3D8D-AB0E-8B44-9D17-BB3BF69FB29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396418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D054241-15FD-5410-A1DB-1D148B361B5B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094DD-B9A3-F2E4-CD74-A405F7615AAA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3A41C2-807F-AE63-0D96-EB383667C5B1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71701B-D3B4-AF28-80A5-6D50622DD0D7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F0930B2-560C-9FCA-2254-87E3FDF4AEF4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1F2612-F447-49B4-08B4-1F5FA396C406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5C68DD-DB1C-EBB8-0591-9EA48D78C772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0D4A7D-EECD-D15F-E213-3ED531FA3FC9}"/>
              </a:ext>
            </a:extLst>
          </p:cNvPr>
          <p:cNvSpPr txBox="1"/>
          <p:nvPr/>
        </p:nvSpPr>
        <p:spPr>
          <a:xfrm>
            <a:off x="8205925" y="3241467"/>
            <a:ext cx="3955752" cy="46166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cout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A5D6FF"/>
                </a:solidFill>
                <a:latin typeface="Consolas" panose="020B0609020204030204" pitchFamily="49" charset="0"/>
              </a:rPr>
              <a:t>“Post-order traversal. . ."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endl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tree</a:t>
            </a:r>
            <a:r>
              <a:rPr lang="en-PH" sz="1200" dirty="0" err="1">
                <a:solidFill>
                  <a:srgbClr val="BBBEBF"/>
                </a:solidFill>
                <a:latin typeface="Consolas" panose="020B0609020204030204" pitchFamily="49" charset="0"/>
              </a:rPr>
              <a:t>.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showNodesPostOrder</a:t>
            </a:r>
            <a:r>
              <a:rPr lang="en-PH" sz="1200" dirty="0">
                <a:solidFill>
                  <a:srgbClr val="BBBEBF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B3B6C8-8E90-9059-E308-F45050488A0E}"/>
              </a:ext>
            </a:extLst>
          </p:cNvPr>
          <p:cNvSpPr txBox="1"/>
          <p:nvPr/>
        </p:nvSpPr>
        <p:spPr>
          <a:xfrm>
            <a:off x="9091598" y="3914630"/>
            <a:ext cx="3070079" cy="138499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Output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Post-order traversal. . .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9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12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8</a:t>
            </a:r>
          </a:p>
          <a:p>
            <a:r>
              <a:rPr lang="en-PH" sz="1200" dirty="0">
                <a:solidFill>
                  <a:schemeClr val="bg1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EB40D3-F8A9-ACF7-1A46-F31EAFB1C5FC}"/>
              </a:ext>
            </a:extLst>
          </p:cNvPr>
          <p:cNvSpPr txBox="1"/>
          <p:nvPr/>
        </p:nvSpPr>
        <p:spPr>
          <a:xfrm>
            <a:off x="7159626" y="1275643"/>
            <a:ext cx="5002051" cy="17543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Post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       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displayInOrder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(</a:t>
            </a: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nodePtr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-&gt;left);</a:t>
            </a:r>
            <a:endParaRPr lang="en-PH" sz="120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        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displayInOrder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(</a:t>
            </a: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nodePtr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-&gt;right);</a:t>
            </a: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       </a:t>
            </a: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cout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 err="1">
                <a:solidFill>
                  <a:srgbClr val="FFA657"/>
                </a:solidFill>
                <a:latin typeface="Consolas" panose="020B0609020204030204" pitchFamily="49" charset="0"/>
              </a:rPr>
              <a:t>nodePtr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-&gt;value </a:t>
            </a:r>
            <a:r>
              <a:rPr lang="en-PH" sz="1200" dirty="0">
                <a:solidFill>
                  <a:srgbClr val="D2A8FF"/>
                </a:solidFill>
                <a:latin typeface="Consolas" panose="020B0609020204030204" pitchFamily="49" charset="0"/>
              </a:rPr>
              <a:t>&lt;&lt;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</a:t>
            </a:r>
            <a:r>
              <a:rPr lang="en-PH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endl</a:t>
            </a: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61A9E379-5FCE-E70C-2A4D-54281EECB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0812" y="2885405"/>
            <a:ext cx="540000" cy="540000"/>
          </a:xfrm>
          <a:prstGeom prst="rect">
            <a:avLst/>
          </a:prstGeom>
        </p:spPr>
      </p:pic>
      <p:pic>
        <p:nvPicPr>
          <p:cNvPr id="26" name="Graphic 25" descr="Badge with solid fill">
            <a:extLst>
              <a:ext uri="{FF2B5EF4-FFF2-40B4-BE49-F238E27FC236}">
                <a16:creationId xmlns:a16="http://schemas.microsoft.com/office/drawing/2014/main" id="{067A35A6-9EA6-7A35-3A1E-DB37804A8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2922" y="4786081"/>
            <a:ext cx="540000" cy="540000"/>
          </a:xfrm>
          <a:prstGeom prst="rect">
            <a:avLst/>
          </a:prstGeom>
        </p:spPr>
      </p:pic>
      <p:pic>
        <p:nvPicPr>
          <p:cNvPr id="28" name="Graphic 27" descr="Badge 3 with solid fill">
            <a:extLst>
              <a:ext uri="{FF2B5EF4-FFF2-40B4-BE49-F238E27FC236}">
                <a16:creationId xmlns:a16="http://schemas.microsoft.com/office/drawing/2014/main" id="{6AF4C0AB-BBCF-938F-5B4D-FD7AC3F26F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4893" y="3825963"/>
            <a:ext cx="540000" cy="540000"/>
          </a:xfrm>
          <a:prstGeom prst="rect">
            <a:avLst/>
          </a:prstGeom>
        </p:spPr>
      </p:pic>
      <p:pic>
        <p:nvPicPr>
          <p:cNvPr id="29" name="Graphic 28" descr="Badge 4 with solid fill">
            <a:extLst>
              <a:ext uri="{FF2B5EF4-FFF2-40B4-BE49-F238E27FC236}">
                <a16:creationId xmlns:a16="http://schemas.microsoft.com/office/drawing/2014/main" id="{9963762E-3E28-49BA-5ED3-5C4242F6C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5286" y="2884570"/>
            <a:ext cx="540000" cy="540000"/>
          </a:xfrm>
          <a:prstGeom prst="rect">
            <a:avLst/>
          </a:prstGeom>
        </p:spPr>
      </p:pic>
      <p:pic>
        <p:nvPicPr>
          <p:cNvPr id="30" name="Graphic 29" descr="Badge 5 with solid fill">
            <a:extLst>
              <a:ext uri="{FF2B5EF4-FFF2-40B4-BE49-F238E27FC236}">
                <a16:creationId xmlns:a16="http://schemas.microsoft.com/office/drawing/2014/main" id="{83FECD4C-17BC-9C9A-6AE4-1971F00D4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8189" y="163472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24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BD08B-CB88-ED03-4352-3E910B43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D232155-38AF-ADEA-B212-EF5E423AF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searchNode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34B19-0FDA-6E78-FC2B-9099068B43D0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searching for a node, we simply loop through our linked list</a:t>
            </a:r>
            <a:endParaRPr lang="en-US" sz="2500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C2E8D-5DF1-C67F-F104-70AFEF4C36F9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DF154-2E52-8E4D-F15B-FB2BAF08D1DD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8185B3-FC7D-5882-8889-EFD87A2E7798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768A40-71F6-6F02-5027-54912F6FFAD6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ED6CB47-55D2-ABC5-5E74-86345F90074F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0839D-E2CC-EBC0-512C-E3AF0F179EBB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77771A-BCC1-C451-6C02-F2D28B60AF91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FA2524-BAC4-F9D6-1856-583B5BB293D0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3621977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6F6B3-4970-602A-379E-8AE69EE5D51B}"/>
              </a:ext>
            </a:extLst>
          </p:cNvPr>
          <p:cNvSpPr/>
          <p:nvPr/>
        </p:nvSpPr>
        <p:spPr>
          <a:xfrm>
            <a:off x="458641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8A06BD-2F47-63E7-7A33-34BAE61DAFAD}"/>
              </a:ext>
            </a:extLst>
          </p:cNvPr>
          <p:cNvSpPr/>
          <p:nvPr/>
        </p:nvSpPr>
        <p:spPr>
          <a:xfrm>
            <a:off x="404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ECADC5-5C92-8095-6A62-5EB3FAE92C2B}"/>
              </a:ext>
            </a:extLst>
          </p:cNvPr>
          <p:cNvSpPr/>
          <p:nvPr/>
        </p:nvSpPr>
        <p:spPr>
          <a:xfrm>
            <a:off x="512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348D5C-B041-EDCA-397F-1305CD6F8E1E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396418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1BA68-1468-0C90-F781-E561721B56F1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44B92A-6B6D-A1A2-0E47-38DFD4BC1992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ADF70D-56D0-3CAA-FA5F-A9D5CC986A44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693EFE-F4CC-8573-0016-7EB0B3BC9FA1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FEDF704-547E-2155-18FA-E052CA85448A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5FBB8-2593-C7A7-D535-0F337AF698AC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2A232A-45CB-D4B8-3AB7-E63391BAA8DC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18DC68-96AB-E629-10FD-EA1E7E872549}"/>
              </a:ext>
            </a:extLst>
          </p:cNvPr>
          <p:cNvSpPr txBox="1"/>
          <p:nvPr/>
        </p:nvSpPr>
        <p:spPr>
          <a:xfrm>
            <a:off x="8044226" y="1499501"/>
            <a:ext cx="378636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searchNode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(num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-&gt;value)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(num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-&gt;value)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0348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67AA1-2D05-974E-D36C-0E20D94E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884F2C-5C32-F79D-2421-D7328E7F9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01515-743E-10D0-C4F3-39A8F93FBBD4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When </a:t>
            </a:r>
            <a:r>
              <a:rPr lang="en-US" sz="2500" b="1" dirty="0">
                <a:solidFill>
                  <a:srgbClr val="00B0F0"/>
                </a:solidFill>
              </a:rPr>
              <a:t>deleting a node</a:t>
            </a:r>
            <a:r>
              <a:rPr lang="en-US" sz="2500" dirty="0">
                <a:solidFill>
                  <a:schemeClr val="bg1"/>
                </a:solidFill>
              </a:rPr>
              <a:t>, we need to search for it first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F1C276-FCE8-AD78-C9B1-B2D2A24239BB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F922E5-659D-C73B-F92C-298E20F53303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CE0D4-5946-E916-A414-49E169EF4AD1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859336-E4DE-0B81-A810-491184556453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488446" y="2038038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F292843-C7FC-BA41-A5B8-76BEC6DCE466}"/>
              </a:ext>
            </a:extLst>
          </p:cNvPr>
          <p:cNvSpPr/>
          <p:nvPr/>
        </p:nvSpPr>
        <p:spPr>
          <a:xfrm>
            <a:off x="4218446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01ABFC-C8FC-0BA6-9F5D-6FFD7C958291}"/>
              </a:ext>
            </a:extLst>
          </p:cNvPr>
          <p:cNvSpPr/>
          <p:nvPr/>
        </p:nvSpPr>
        <p:spPr>
          <a:xfrm>
            <a:off x="3672840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20B92-D840-FBC4-8977-FC76FAC7BB72}"/>
              </a:ext>
            </a:extLst>
          </p:cNvPr>
          <p:cNvSpPr/>
          <p:nvPr/>
        </p:nvSpPr>
        <p:spPr>
          <a:xfrm>
            <a:off x="4758446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24C508-D5D8-A493-F65D-0D87FC7BD1E2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5B1765C-C1AA-3B61-93A3-C41A83F555AC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FDF5CC-8AC6-06A6-D030-D198CC84DFC7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7DC259-9BC2-568A-6805-9B3C85598EA8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3FF6C2-8D25-D8C8-D7FD-1E813E9D3286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5028446" y="3267154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AC00072-43A0-BE96-EFFF-B9F41BC47732}"/>
              </a:ext>
            </a:extLst>
          </p:cNvPr>
          <p:cNvSpPr/>
          <p:nvPr/>
        </p:nvSpPr>
        <p:spPr>
          <a:xfrm>
            <a:off x="5290217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D8C60F-3E85-F0E9-874D-40D22A3438A8}"/>
              </a:ext>
            </a:extLst>
          </p:cNvPr>
          <p:cNvSpPr/>
          <p:nvPr/>
        </p:nvSpPr>
        <p:spPr>
          <a:xfrm>
            <a:off x="4758446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9225B6-EE84-D5D1-7F2E-015A84BC0F73}"/>
              </a:ext>
            </a:extLst>
          </p:cNvPr>
          <p:cNvSpPr/>
          <p:nvPr/>
        </p:nvSpPr>
        <p:spPr>
          <a:xfrm>
            <a:off x="5830217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C71D57-8E83-7B92-85A2-5EC35EC248BF}"/>
              </a:ext>
            </a:extLst>
          </p:cNvPr>
          <p:cNvCxnSpPr>
            <a:cxnSpLocks/>
            <a:stCxn id="21" idx="0"/>
            <a:endCxn id="9" idx="2"/>
          </p:cNvCxnSpPr>
          <p:nvPr/>
        </p:nvCxnSpPr>
        <p:spPr>
          <a:xfrm flipV="1">
            <a:off x="3402840" y="3267154"/>
            <a:ext cx="540000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A9B92-57F7-AAC1-C992-496336658C94}"/>
              </a:ext>
            </a:extLst>
          </p:cNvPr>
          <p:cNvSpPr/>
          <p:nvPr/>
        </p:nvSpPr>
        <p:spPr>
          <a:xfrm>
            <a:off x="3132840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74C80-FB7E-6ADA-DA1C-43C15AFEDFEE}"/>
              </a:ext>
            </a:extLst>
          </p:cNvPr>
          <p:cNvSpPr/>
          <p:nvPr/>
        </p:nvSpPr>
        <p:spPr>
          <a:xfrm>
            <a:off x="259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F355AB-923A-7222-DD03-266A339A17E5}"/>
              </a:ext>
            </a:extLst>
          </p:cNvPr>
          <p:cNvSpPr/>
          <p:nvPr/>
        </p:nvSpPr>
        <p:spPr>
          <a:xfrm>
            <a:off x="367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3072535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4A508-44FF-1B13-ECDE-BC6221F2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8BC901-9C25-A90F-AEAA-1068634AD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F1B8F-839A-956C-FC4D-03113A33FDCC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For example, if we want to delete node 2, we need to go the left subtree.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3A01E5-6645-4F1A-82BB-297808115627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6C0D16-35E3-FDEA-E76F-E59ED40D67F5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A93440-6641-0EA5-FEAF-EE7E33DFE4CD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B4A0BF-E598-4388-24B2-658DF377E5B9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488446" y="2038038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E6AFC63-EA67-C070-B3A5-1DBDE05987F3}"/>
              </a:ext>
            </a:extLst>
          </p:cNvPr>
          <p:cNvSpPr/>
          <p:nvPr/>
        </p:nvSpPr>
        <p:spPr>
          <a:xfrm>
            <a:off x="4218446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593C0-0620-57C8-E494-688AE2790309}"/>
              </a:ext>
            </a:extLst>
          </p:cNvPr>
          <p:cNvSpPr/>
          <p:nvPr/>
        </p:nvSpPr>
        <p:spPr>
          <a:xfrm>
            <a:off x="3672840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50941C-B03F-5EB8-9FA7-9B7720F957CD}"/>
              </a:ext>
            </a:extLst>
          </p:cNvPr>
          <p:cNvSpPr/>
          <p:nvPr/>
        </p:nvSpPr>
        <p:spPr>
          <a:xfrm>
            <a:off x="4758446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5DBCC4-2DAF-3B32-855F-E83993FC9029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4149AED-098D-6F3D-F9B5-383F08A54174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B1C4E-956D-914B-E74B-099B3B341D45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011E3-DE0E-8B7B-5961-8916ABE50FA0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D9E79-7A65-2752-9501-A7A538F817D9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5028446" y="3267154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2C561D6-4861-192B-3D60-FB5A4A45D420}"/>
              </a:ext>
            </a:extLst>
          </p:cNvPr>
          <p:cNvSpPr/>
          <p:nvPr/>
        </p:nvSpPr>
        <p:spPr>
          <a:xfrm>
            <a:off x="5290217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4559A9-8662-92D8-4B5D-8DBDD8A3C396}"/>
              </a:ext>
            </a:extLst>
          </p:cNvPr>
          <p:cNvSpPr/>
          <p:nvPr/>
        </p:nvSpPr>
        <p:spPr>
          <a:xfrm>
            <a:off x="4758446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208371-B96F-100C-AFDA-08D4E1FB28D8}"/>
              </a:ext>
            </a:extLst>
          </p:cNvPr>
          <p:cNvSpPr/>
          <p:nvPr/>
        </p:nvSpPr>
        <p:spPr>
          <a:xfrm>
            <a:off x="5830217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DDF974-AF5D-2A65-F295-941E79C99151}"/>
              </a:ext>
            </a:extLst>
          </p:cNvPr>
          <p:cNvCxnSpPr>
            <a:cxnSpLocks/>
            <a:stCxn id="21" idx="0"/>
            <a:endCxn id="9" idx="2"/>
          </p:cNvCxnSpPr>
          <p:nvPr/>
        </p:nvCxnSpPr>
        <p:spPr>
          <a:xfrm flipV="1">
            <a:off x="3402840" y="3267154"/>
            <a:ext cx="540000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2F29034-9BED-3166-1DB1-56EE60C28FD7}"/>
              </a:ext>
            </a:extLst>
          </p:cNvPr>
          <p:cNvSpPr/>
          <p:nvPr/>
        </p:nvSpPr>
        <p:spPr>
          <a:xfrm>
            <a:off x="3132840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E2FB58-BB99-487D-CC08-56139068C902}"/>
              </a:ext>
            </a:extLst>
          </p:cNvPr>
          <p:cNvSpPr/>
          <p:nvPr/>
        </p:nvSpPr>
        <p:spPr>
          <a:xfrm>
            <a:off x="259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8085CC-D974-DF4A-6151-B73D56B0CB0C}"/>
              </a:ext>
            </a:extLst>
          </p:cNvPr>
          <p:cNvSpPr/>
          <p:nvPr/>
        </p:nvSpPr>
        <p:spPr>
          <a:xfrm>
            <a:off x="367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pic>
        <p:nvPicPr>
          <p:cNvPr id="24" name="Graphic 23" descr="Badge Cross with solid fill">
            <a:extLst>
              <a:ext uri="{FF2B5EF4-FFF2-40B4-BE49-F238E27FC236}">
                <a16:creationId xmlns:a16="http://schemas.microsoft.com/office/drawing/2014/main" id="{95878C43-F86C-1E03-FEE3-8DC99EEF5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6669" y="35000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9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C6FC4-73FE-4051-9592-CAB23F12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190ADA-FFD3-B6CA-2486-7C46080A6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120DE-3AF2-DDB2-CD92-8672CB784EAF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Deleting a leaf node (no child nodes) is very simple.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8F8635-DA4B-38AF-66E1-F854EA83356C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9BBE48-F76C-1011-3FA0-8A4FF3B0BE05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CA15CB-CEB7-B9E2-304A-FE4E04A9AF36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547D46-FC2E-1890-EDD4-298986365AEF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488446" y="2038038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A4D9BF4-D654-A463-3BC8-8DBBE8BD08F5}"/>
              </a:ext>
            </a:extLst>
          </p:cNvPr>
          <p:cNvSpPr/>
          <p:nvPr/>
        </p:nvSpPr>
        <p:spPr>
          <a:xfrm>
            <a:off x="4218446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BE8641-0A2D-BE46-FD62-B5805054CC43}"/>
              </a:ext>
            </a:extLst>
          </p:cNvPr>
          <p:cNvSpPr/>
          <p:nvPr/>
        </p:nvSpPr>
        <p:spPr>
          <a:xfrm>
            <a:off x="3672840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F151D2-2CD5-4888-A27A-44AC7F2714BE}"/>
              </a:ext>
            </a:extLst>
          </p:cNvPr>
          <p:cNvSpPr/>
          <p:nvPr/>
        </p:nvSpPr>
        <p:spPr>
          <a:xfrm>
            <a:off x="4758446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BD2EC7E-A0E1-F8ED-6EFC-6591253F40D4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751CE21-3524-F630-9C1A-785C589F2B58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0C7728-B3C7-2AEB-5068-C7AD172BA687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8CAAA6-7C35-B817-B616-0A7E9A49A3A2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22B305-78CC-5884-A0B8-CF1CB6E3E3BD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5028446" y="3267154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424B8CA-644E-E30A-B563-D15C3C6EDA58}"/>
              </a:ext>
            </a:extLst>
          </p:cNvPr>
          <p:cNvSpPr/>
          <p:nvPr/>
        </p:nvSpPr>
        <p:spPr>
          <a:xfrm>
            <a:off x="5290217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2E893B-E679-AFFA-630A-F81E54ABBF2D}"/>
              </a:ext>
            </a:extLst>
          </p:cNvPr>
          <p:cNvSpPr/>
          <p:nvPr/>
        </p:nvSpPr>
        <p:spPr>
          <a:xfrm>
            <a:off x="4758446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738C34-8CD9-EA94-CFD4-D5225B1A9DB2}"/>
              </a:ext>
            </a:extLst>
          </p:cNvPr>
          <p:cNvSpPr/>
          <p:nvPr/>
        </p:nvSpPr>
        <p:spPr>
          <a:xfrm>
            <a:off x="5830217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2630874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4CF12-8D4F-3FBD-869E-568EF222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1A4E99C-4FE7-92E5-5A1F-D7F243C93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7F5AE-088E-D05F-04CE-48D3C148B660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But if we need to delete a parent node, we need to </a:t>
            </a:r>
            <a:r>
              <a:rPr lang="en-PH" sz="2500" b="1" dirty="0">
                <a:solidFill>
                  <a:srgbClr val="00B0F0"/>
                </a:solidFill>
              </a:rPr>
              <a:t>rearrange</a:t>
            </a:r>
            <a:r>
              <a:rPr lang="en-PH" sz="2500" dirty="0">
                <a:solidFill>
                  <a:schemeClr val="bg1"/>
                </a:solidFill>
              </a:rPr>
              <a:t> and </a:t>
            </a:r>
            <a:r>
              <a:rPr lang="en-PH" sz="2500" b="1" dirty="0">
                <a:solidFill>
                  <a:srgbClr val="00B0F0"/>
                </a:solidFill>
              </a:rPr>
              <a:t>connect its child nodes to the existing tree</a:t>
            </a:r>
            <a:r>
              <a:rPr lang="en-PH" sz="2500" dirty="0">
                <a:solidFill>
                  <a:schemeClr val="bg1"/>
                </a:solidFill>
              </a:rPr>
              <a:t>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8D3769-266E-543F-B222-204C43873243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91E9B-5954-F25D-5393-0E82BD80ECC0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8CAC9E-CD15-3510-B46E-D6A0922E4022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5E3B82-2229-4279-2B6E-1C36C954D265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488446" y="2038038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4F12D39-4897-555C-DB3E-B01BEDAED99D}"/>
              </a:ext>
            </a:extLst>
          </p:cNvPr>
          <p:cNvSpPr/>
          <p:nvPr/>
        </p:nvSpPr>
        <p:spPr>
          <a:xfrm>
            <a:off x="4218446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530DF0-A34D-9021-F488-80F33B42154F}"/>
              </a:ext>
            </a:extLst>
          </p:cNvPr>
          <p:cNvSpPr/>
          <p:nvPr/>
        </p:nvSpPr>
        <p:spPr>
          <a:xfrm>
            <a:off x="3672840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391CE-4DA8-6EB1-FC3D-4EAFE9E76BD8}"/>
              </a:ext>
            </a:extLst>
          </p:cNvPr>
          <p:cNvSpPr/>
          <p:nvPr/>
        </p:nvSpPr>
        <p:spPr>
          <a:xfrm>
            <a:off x="4758446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A7DA50-9720-9D19-6518-CF83C9D93A0B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A3D3C5-E615-61DE-A5B6-D236CC9AEB6F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0483D-4ED1-F8A1-F047-17AF7A800F2A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737150-60D6-42C1-D607-01D360F945B7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97068A-CD20-24B0-71DD-1EA077F59862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5028446" y="3267154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9514EBA-9CD7-DD20-2D78-B5A1EADAC6ED}"/>
              </a:ext>
            </a:extLst>
          </p:cNvPr>
          <p:cNvSpPr/>
          <p:nvPr/>
        </p:nvSpPr>
        <p:spPr>
          <a:xfrm>
            <a:off x="5290217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36833-0174-AB6E-BD76-78E2F5A0DA9D}"/>
              </a:ext>
            </a:extLst>
          </p:cNvPr>
          <p:cNvSpPr/>
          <p:nvPr/>
        </p:nvSpPr>
        <p:spPr>
          <a:xfrm>
            <a:off x="4758446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F94628-EE27-95B9-AD69-3E6F397D62F6}"/>
              </a:ext>
            </a:extLst>
          </p:cNvPr>
          <p:cNvSpPr/>
          <p:nvPr/>
        </p:nvSpPr>
        <p:spPr>
          <a:xfrm>
            <a:off x="5830217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B09D41-B7E5-4F02-2DC2-4E753A0BD27C}"/>
              </a:ext>
            </a:extLst>
          </p:cNvPr>
          <p:cNvCxnSpPr>
            <a:cxnSpLocks/>
            <a:stCxn id="21" idx="0"/>
            <a:endCxn id="9" idx="2"/>
          </p:cNvCxnSpPr>
          <p:nvPr/>
        </p:nvCxnSpPr>
        <p:spPr>
          <a:xfrm flipV="1">
            <a:off x="3402840" y="3267154"/>
            <a:ext cx="540000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A116F01-8E50-6AF7-8923-8E9122D5B68F}"/>
              </a:ext>
            </a:extLst>
          </p:cNvPr>
          <p:cNvSpPr/>
          <p:nvPr/>
        </p:nvSpPr>
        <p:spPr>
          <a:xfrm>
            <a:off x="3132840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646E6A-EEF9-CF71-E744-261C3AC9EB48}"/>
              </a:ext>
            </a:extLst>
          </p:cNvPr>
          <p:cNvSpPr/>
          <p:nvPr/>
        </p:nvSpPr>
        <p:spPr>
          <a:xfrm>
            <a:off x="259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FDB958-A4F2-1B26-912B-D9E9BF2A4DC9}"/>
              </a:ext>
            </a:extLst>
          </p:cNvPr>
          <p:cNvSpPr/>
          <p:nvPr/>
        </p:nvSpPr>
        <p:spPr>
          <a:xfrm>
            <a:off x="367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pic>
        <p:nvPicPr>
          <p:cNvPr id="18" name="Graphic 17" descr="Badge Cross with solid fill">
            <a:extLst>
              <a:ext uri="{FF2B5EF4-FFF2-40B4-BE49-F238E27FC236}">
                <a16:creationId xmlns:a16="http://schemas.microsoft.com/office/drawing/2014/main" id="{3F43A204-BB5D-E60E-7668-09328D56F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60" y="25250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08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316EA-A960-77EC-4B0F-8A92DBA61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FD4E6D-0B15-1CA9-5C3B-F5908934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4A3F2-4D64-93D7-5FBE-66F41DE79AD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For example, if we need to delete node 3… 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6FC9AF-AA0C-A03D-38B5-4FAADB11B623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09D1B1-52DA-5863-D8AB-EE08D0071DBA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C32BA-9215-984C-8C61-AD17ABC12987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41CE06-5A48-7285-BA83-AC504441FC18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4488446" y="2038038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07D48AE-3FE3-D778-1B83-7E4DA3602047}"/>
              </a:ext>
            </a:extLst>
          </p:cNvPr>
          <p:cNvSpPr/>
          <p:nvPr/>
        </p:nvSpPr>
        <p:spPr>
          <a:xfrm>
            <a:off x="4218446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E0AC1-0904-9AA4-3E2D-284A355C4613}"/>
              </a:ext>
            </a:extLst>
          </p:cNvPr>
          <p:cNvSpPr/>
          <p:nvPr/>
        </p:nvSpPr>
        <p:spPr>
          <a:xfrm>
            <a:off x="3672840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C8BD4F-20A8-EC9A-A8FD-22FB209F1F0D}"/>
              </a:ext>
            </a:extLst>
          </p:cNvPr>
          <p:cNvSpPr/>
          <p:nvPr/>
        </p:nvSpPr>
        <p:spPr>
          <a:xfrm>
            <a:off x="4758446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E600D1-6AA6-300C-6ED0-32F28AC6D985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2FE2065-2762-8A29-A050-A8A03E9BF2FD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0E75E-070E-0AED-1BAA-D462AB9B97EF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56F427-22DF-C527-8552-37C2F2CE5A23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2C6200-B102-FE01-F356-10CC6B32AB87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5028446" y="3267154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B50BB2E-7BCA-40D5-359A-D26D75722B53}"/>
              </a:ext>
            </a:extLst>
          </p:cNvPr>
          <p:cNvSpPr/>
          <p:nvPr/>
        </p:nvSpPr>
        <p:spPr>
          <a:xfrm>
            <a:off x="5290217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B1CBC-B592-350F-B89C-A748E215AA7D}"/>
              </a:ext>
            </a:extLst>
          </p:cNvPr>
          <p:cNvSpPr/>
          <p:nvPr/>
        </p:nvSpPr>
        <p:spPr>
          <a:xfrm>
            <a:off x="4758446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7109FA-40E4-FCB8-24E9-8B2B212467B2}"/>
              </a:ext>
            </a:extLst>
          </p:cNvPr>
          <p:cNvSpPr/>
          <p:nvPr/>
        </p:nvSpPr>
        <p:spPr>
          <a:xfrm>
            <a:off x="5830217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653A12-395B-8DA2-97C2-9A5B65D42507}"/>
              </a:ext>
            </a:extLst>
          </p:cNvPr>
          <p:cNvCxnSpPr>
            <a:cxnSpLocks/>
            <a:stCxn id="21" idx="0"/>
            <a:endCxn id="9" idx="2"/>
          </p:cNvCxnSpPr>
          <p:nvPr/>
        </p:nvCxnSpPr>
        <p:spPr>
          <a:xfrm flipV="1">
            <a:off x="3402840" y="3267154"/>
            <a:ext cx="540000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162C355-0C33-EE6A-6DCD-9F3C33318843}"/>
              </a:ext>
            </a:extLst>
          </p:cNvPr>
          <p:cNvSpPr/>
          <p:nvPr/>
        </p:nvSpPr>
        <p:spPr>
          <a:xfrm>
            <a:off x="3132840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149E68-71F2-5284-6ADF-D8572E5FC08B}"/>
              </a:ext>
            </a:extLst>
          </p:cNvPr>
          <p:cNvSpPr/>
          <p:nvPr/>
        </p:nvSpPr>
        <p:spPr>
          <a:xfrm>
            <a:off x="259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7FD3D9-D5F8-99E4-62B1-E041452A18C8}"/>
              </a:ext>
            </a:extLst>
          </p:cNvPr>
          <p:cNvSpPr/>
          <p:nvPr/>
        </p:nvSpPr>
        <p:spPr>
          <a:xfrm>
            <a:off x="367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pic>
        <p:nvPicPr>
          <p:cNvPr id="18" name="Graphic 17" descr="Badge Cross with solid fill">
            <a:extLst>
              <a:ext uri="{FF2B5EF4-FFF2-40B4-BE49-F238E27FC236}">
                <a16:creationId xmlns:a16="http://schemas.microsoft.com/office/drawing/2014/main" id="{089A3F6C-2506-97D3-FD4D-C427FA55F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60" y="25250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76BF0-2E6A-E4DD-406D-386F19D57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0D38A80-45DE-2306-A7DC-B625D7077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2AD37-C950-4DDE-D617-16FCFCC57DF2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first step is to make the its </a:t>
            </a:r>
            <a:r>
              <a:rPr lang="en-PH" sz="2500" b="1" dirty="0">
                <a:solidFill>
                  <a:srgbClr val="00B0F0"/>
                </a:solidFill>
              </a:rPr>
              <a:t>right child (node 4) </a:t>
            </a:r>
            <a:r>
              <a:rPr lang="en-PH" sz="2500" dirty="0">
                <a:solidFill>
                  <a:schemeClr val="bg1"/>
                </a:solidFill>
              </a:rPr>
              <a:t>be the </a:t>
            </a:r>
            <a:r>
              <a:rPr lang="en-PH" sz="2500" b="1" dirty="0">
                <a:solidFill>
                  <a:srgbClr val="00B0F0"/>
                </a:solidFill>
              </a:rPr>
              <a:t>left child of the root node</a:t>
            </a:r>
            <a:r>
              <a:rPr lang="en-PH" sz="2500" dirty="0">
                <a:solidFill>
                  <a:schemeClr val="bg1"/>
                </a:solidFill>
              </a:rPr>
              <a:t>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AD744-C4B0-A584-71EE-043637EEDC8A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ED5B5-335B-1D0E-80DB-EBDB6036B3AE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CCECF-4034-2D58-4265-9F9D1E414719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32C912-E0DD-E0AC-2ED6-CFE8BD79C5FD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153BBD7-BCEB-15F7-E4B0-39023DFE47B2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316542-E342-513F-8BA0-E9D69124C7B6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35392A-ED33-9793-0558-63A22961AB6E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C7FEB-062E-DBB3-5CAB-19CA90527AF8}"/>
              </a:ext>
            </a:extLst>
          </p:cNvPr>
          <p:cNvSpPr/>
          <p:nvPr/>
        </p:nvSpPr>
        <p:spPr>
          <a:xfrm>
            <a:off x="5290217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7968DF-1453-A31A-7DD4-082D8A77F55C}"/>
              </a:ext>
            </a:extLst>
          </p:cNvPr>
          <p:cNvSpPr/>
          <p:nvPr/>
        </p:nvSpPr>
        <p:spPr>
          <a:xfrm>
            <a:off x="4758446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E5CFB3-A537-DC01-204A-2B131C430EE0}"/>
              </a:ext>
            </a:extLst>
          </p:cNvPr>
          <p:cNvSpPr/>
          <p:nvPr/>
        </p:nvSpPr>
        <p:spPr>
          <a:xfrm>
            <a:off x="5830217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829FF2-DBC6-5186-93AC-776F58FFE630}"/>
              </a:ext>
            </a:extLst>
          </p:cNvPr>
          <p:cNvSpPr/>
          <p:nvPr/>
        </p:nvSpPr>
        <p:spPr>
          <a:xfrm>
            <a:off x="3132840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B43A09-3407-FF31-BB57-63F4DFE18CF7}"/>
              </a:ext>
            </a:extLst>
          </p:cNvPr>
          <p:cNvSpPr/>
          <p:nvPr/>
        </p:nvSpPr>
        <p:spPr>
          <a:xfrm>
            <a:off x="259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3FE937-55FE-758E-DF44-E8C7B43FF0B4}"/>
              </a:ext>
            </a:extLst>
          </p:cNvPr>
          <p:cNvSpPr/>
          <p:nvPr/>
        </p:nvSpPr>
        <p:spPr>
          <a:xfrm>
            <a:off x="367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709C85-538A-2E68-4A00-AAAC75318E2D}"/>
              </a:ext>
            </a:extLst>
          </p:cNvPr>
          <p:cNvCxnSpPr>
            <a:cxnSpLocks/>
            <a:stCxn id="16" idx="0"/>
            <a:endCxn id="3" idx="2"/>
          </p:cNvCxnSpPr>
          <p:nvPr/>
        </p:nvCxnSpPr>
        <p:spPr>
          <a:xfrm flipV="1">
            <a:off x="5560217" y="2038038"/>
            <a:ext cx="66814" cy="164923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38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58910-04E8-674D-A8BF-5CA6B803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A214AD-34C5-2C30-B628-07CB39298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94E4F-95E8-DEB1-1209-2C0B5F9D343D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And make its sibling (node 2) as its left child.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FA8F1E-B76A-D709-256C-02E2B530157B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328AE-4553-B860-1F00-B104049100CA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C1194-7DF2-E04E-A931-4B83BEACC0A6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4D9B4D-18CB-0B3A-2D84-C87718ACF199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46DD53C-745E-FA76-1730-C6F12C12A0C5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BF3096-8BFF-91A0-BF9B-98FCE59B0912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400D61-46DC-028C-44B1-7F552EE10E9E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2F2651-1DB8-BF61-D423-2FD14D8ADDBD}"/>
              </a:ext>
            </a:extLst>
          </p:cNvPr>
          <p:cNvSpPr/>
          <p:nvPr/>
        </p:nvSpPr>
        <p:spPr>
          <a:xfrm>
            <a:off x="4277031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CCE34-167E-0A48-EE13-FEE3535845AA}"/>
              </a:ext>
            </a:extLst>
          </p:cNvPr>
          <p:cNvSpPr/>
          <p:nvPr/>
        </p:nvSpPr>
        <p:spPr>
          <a:xfrm>
            <a:off x="3745260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359683-0979-52E5-C0C2-648CACDC1908}"/>
              </a:ext>
            </a:extLst>
          </p:cNvPr>
          <p:cNvSpPr/>
          <p:nvPr/>
        </p:nvSpPr>
        <p:spPr>
          <a:xfrm>
            <a:off x="4817031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63EC3F-EE8E-D843-03CD-977B797512AD}"/>
              </a:ext>
            </a:extLst>
          </p:cNvPr>
          <p:cNvSpPr/>
          <p:nvPr/>
        </p:nvSpPr>
        <p:spPr>
          <a:xfrm>
            <a:off x="3132840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916EAC-BB6D-C79C-C7D3-E849FD90510A}"/>
              </a:ext>
            </a:extLst>
          </p:cNvPr>
          <p:cNvSpPr/>
          <p:nvPr/>
        </p:nvSpPr>
        <p:spPr>
          <a:xfrm>
            <a:off x="259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9C1540-6A80-BA19-A942-4AA06C1FDC98}"/>
              </a:ext>
            </a:extLst>
          </p:cNvPr>
          <p:cNvSpPr/>
          <p:nvPr/>
        </p:nvSpPr>
        <p:spPr>
          <a:xfrm>
            <a:off x="367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CAA489-CA18-91BC-A8B9-BE3404C231FE}"/>
              </a:ext>
            </a:extLst>
          </p:cNvPr>
          <p:cNvCxnSpPr>
            <a:cxnSpLocks/>
            <a:stCxn id="16" idx="0"/>
            <a:endCxn id="3" idx="2"/>
          </p:cNvCxnSpPr>
          <p:nvPr/>
        </p:nvCxnSpPr>
        <p:spPr>
          <a:xfrm flipV="1">
            <a:off x="4547031" y="2038038"/>
            <a:ext cx="1080000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479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20378-2AA7-437E-F0F0-4E1A50B9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38F0E2-7B59-4BE8-2185-516EAD996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2C3D8-96D5-45AE-1FBB-DBC17EED24C4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And make its sibling (node 2) as its left child.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0FFBA9-06CC-717B-FB78-76A83A332F06}"/>
              </a:ext>
            </a:extLst>
          </p:cNvPr>
          <p:cNvSpPr/>
          <p:nvPr/>
        </p:nvSpPr>
        <p:spPr>
          <a:xfrm>
            <a:off x="5897031" y="1498038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BA5147-E2A1-9BA2-1639-455156826FA0}"/>
              </a:ext>
            </a:extLst>
          </p:cNvPr>
          <p:cNvSpPr/>
          <p:nvPr/>
        </p:nvSpPr>
        <p:spPr>
          <a:xfrm>
            <a:off x="5357031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A3A9F8-D369-4C1D-CF53-924BBCADF9FB}"/>
              </a:ext>
            </a:extLst>
          </p:cNvPr>
          <p:cNvSpPr/>
          <p:nvPr/>
        </p:nvSpPr>
        <p:spPr>
          <a:xfrm>
            <a:off x="6415217" y="1498038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42FCDC-9B11-D1CC-D002-BEAAF7FDB0CB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685217" y="2038038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161E2-FE82-C862-1D25-9837BF46390A}"/>
              </a:ext>
            </a:extLst>
          </p:cNvPr>
          <p:cNvSpPr/>
          <p:nvPr/>
        </p:nvSpPr>
        <p:spPr>
          <a:xfrm>
            <a:off x="7649658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D70856-77BB-65EC-1407-CF0633E10012}"/>
              </a:ext>
            </a:extLst>
          </p:cNvPr>
          <p:cNvSpPr/>
          <p:nvPr/>
        </p:nvSpPr>
        <p:spPr>
          <a:xfrm>
            <a:off x="710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1FB71-F309-A3DA-61E4-82AE444E1A7D}"/>
              </a:ext>
            </a:extLst>
          </p:cNvPr>
          <p:cNvSpPr/>
          <p:nvPr/>
        </p:nvSpPr>
        <p:spPr>
          <a:xfrm>
            <a:off x="8189658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208295-F877-216F-BF8A-9B72F9532D6A}"/>
              </a:ext>
            </a:extLst>
          </p:cNvPr>
          <p:cNvSpPr/>
          <p:nvPr/>
        </p:nvSpPr>
        <p:spPr>
          <a:xfrm>
            <a:off x="4277031" y="272715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3A1A07-C1C4-DE63-E33C-192BB5A4D9CD}"/>
              </a:ext>
            </a:extLst>
          </p:cNvPr>
          <p:cNvSpPr/>
          <p:nvPr/>
        </p:nvSpPr>
        <p:spPr>
          <a:xfrm>
            <a:off x="3745260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4052BA-A1D8-159B-F838-79347D8DC06F}"/>
              </a:ext>
            </a:extLst>
          </p:cNvPr>
          <p:cNvSpPr/>
          <p:nvPr/>
        </p:nvSpPr>
        <p:spPr>
          <a:xfrm>
            <a:off x="4817031" y="2727154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814FE9-05D6-7D14-59A0-6D40D9F9626C}"/>
              </a:ext>
            </a:extLst>
          </p:cNvPr>
          <p:cNvSpPr/>
          <p:nvPr/>
        </p:nvSpPr>
        <p:spPr>
          <a:xfrm>
            <a:off x="3132840" y="3687272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69CE90-BBB4-0771-F994-7B76404B8794}"/>
              </a:ext>
            </a:extLst>
          </p:cNvPr>
          <p:cNvSpPr/>
          <p:nvPr/>
        </p:nvSpPr>
        <p:spPr>
          <a:xfrm>
            <a:off x="259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ABEF2D-ABB5-D436-E02C-DFD37DC6C5F8}"/>
              </a:ext>
            </a:extLst>
          </p:cNvPr>
          <p:cNvSpPr/>
          <p:nvPr/>
        </p:nvSpPr>
        <p:spPr>
          <a:xfrm>
            <a:off x="3672840" y="3687272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D45B3A-F3CE-354F-61D5-BB4881DAA3FC}"/>
              </a:ext>
            </a:extLst>
          </p:cNvPr>
          <p:cNvCxnSpPr>
            <a:cxnSpLocks/>
            <a:stCxn id="16" idx="0"/>
            <a:endCxn id="3" idx="2"/>
          </p:cNvCxnSpPr>
          <p:nvPr/>
        </p:nvCxnSpPr>
        <p:spPr>
          <a:xfrm flipV="1">
            <a:off x="4547031" y="2038038"/>
            <a:ext cx="1080000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39A49F-7F92-98A7-31BC-91640978A262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3402840" y="3267154"/>
            <a:ext cx="612420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997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6BB7D-CF5C-3C21-D7CF-FC8E3D5B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07FDBB6-B635-3AED-B763-8ABF9C4CD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0C5FA-FA8F-FF85-A0F0-ED7C0EC65F0F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tree </a:t>
            </a:r>
            <a:r>
              <a:rPr lang="en-PH" sz="2500" b="1" dirty="0">
                <a:solidFill>
                  <a:schemeClr val="bg1"/>
                </a:solidFill>
              </a:rPr>
              <a:t>is a tree where each node has no more than two children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B899F-B893-75B0-49E9-7707FA1E87EB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1FA96D-8EAE-0DCF-496C-13AE9B547842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9C1EF-5A21-3479-E263-3609989A945E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829585-266C-C8B7-CF29-E15B121F3DF5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4098D6-D78D-53EC-923E-207C3BDA990A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596AA-0B34-D888-CA91-A0A69C71A6EC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CBF7B-FD5E-7B04-2093-7B2A74DBC599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5458F6-D6E2-3297-775D-03985ADF1E03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3621977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C51540E-A21C-CB02-E7E9-5F31B93EBE8C}"/>
              </a:ext>
            </a:extLst>
          </p:cNvPr>
          <p:cNvSpPr/>
          <p:nvPr/>
        </p:nvSpPr>
        <p:spPr>
          <a:xfrm>
            <a:off x="458641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AF9C3-0C24-E78B-1C41-7E699868661A}"/>
              </a:ext>
            </a:extLst>
          </p:cNvPr>
          <p:cNvSpPr/>
          <p:nvPr/>
        </p:nvSpPr>
        <p:spPr>
          <a:xfrm>
            <a:off x="404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EDAA52-A8C5-CC8B-939B-AFA1F9E7B4CD}"/>
              </a:ext>
            </a:extLst>
          </p:cNvPr>
          <p:cNvSpPr/>
          <p:nvPr/>
        </p:nvSpPr>
        <p:spPr>
          <a:xfrm>
            <a:off x="512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F1DFC3-509B-61AD-3509-2BF90C0606C6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396418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6B6FA9F-A0D5-B4E4-C003-2E6C5595CC5E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94D96B-8B13-B72E-6417-CB188299B799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35D11D-6751-D455-3FCE-AC0A1A211F4B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4E7CE8-996B-5ED6-5467-0C1CC364CC9F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AAA497-A6F1-C6D5-EB7E-125A76EDD8AC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BB41AB-BC3A-A231-658F-EB16EDBA2E8C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639C62-8DED-2AA6-3A20-C3D590ABD079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454A22-0073-AFF8-2C5A-7E4C63042159}"/>
              </a:ext>
            </a:extLst>
          </p:cNvPr>
          <p:cNvSpPr txBox="1"/>
          <p:nvPr/>
        </p:nvSpPr>
        <p:spPr>
          <a:xfrm>
            <a:off x="10249558" y="1720226"/>
            <a:ext cx="1879115" cy="32316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5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PH" sz="15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5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5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33" name="Graphic 32" descr="Badge Cross with solid fill">
            <a:extLst>
              <a:ext uri="{FF2B5EF4-FFF2-40B4-BE49-F238E27FC236}">
                <a16:creationId xmlns:a16="http://schemas.microsoft.com/office/drawing/2014/main" id="{1C6611F1-9F39-5ED3-E73F-0CD9782A0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5003" y="2678645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03E7464-CC8E-DEA1-0758-0C37080FFB9C}"/>
              </a:ext>
            </a:extLst>
          </p:cNvPr>
          <p:cNvSpPr txBox="1"/>
          <p:nvPr/>
        </p:nvSpPr>
        <p:spPr>
          <a:xfrm>
            <a:off x="8197628" y="2112703"/>
            <a:ext cx="3931045" cy="124649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5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5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5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5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5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5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deleteNode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5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15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5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5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5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1186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AA180-9F3A-5455-8DA9-7F5D87B7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339B3-0897-471C-121A-1069D0381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80012-D140-A2EE-732E-3A8D3A5CAB52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tree </a:t>
            </a:r>
            <a:r>
              <a:rPr lang="en-PH" sz="2500" b="1" dirty="0">
                <a:solidFill>
                  <a:schemeClr val="bg1"/>
                </a:solidFill>
              </a:rPr>
              <a:t>is a tree where each node has no more than two children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75C0D6-B1E4-9E9C-69C8-07A8719135D1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86ED76-5ABE-3C1F-7C48-B8F2F6212949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8A5FD-63F9-2F88-4B70-B305BC26F317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A75C9A-A088-1236-62C4-C3D3D3A261FF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9AEA277-1255-3993-17B6-4E6725057DA7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64D8C7-CC73-593D-6A83-061693A5C292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791D9A-CE44-3A89-AC74-AD22D2CC346F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094C6B-C499-BBCF-8291-E7F47CFDB82E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3621977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33A83B7-615B-FFE9-9940-BF669ECE7134}"/>
              </a:ext>
            </a:extLst>
          </p:cNvPr>
          <p:cNvSpPr/>
          <p:nvPr/>
        </p:nvSpPr>
        <p:spPr>
          <a:xfrm>
            <a:off x="458641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DCD372-8FB7-9B9C-2D27-F59FD1214615}"/>
              </a:ext>
            </a:extLst>
          </p:cNvPr>
          <p:cNvSpPr/>
          <p:nvPr/>
        </p:nvSpPr>
        <p:spPr>
          <a:xfrm>
            <a:off x="404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67172-EBF4-1633-40FB-C7C58553A595}"/>
              </a:ext>
            </a:extLst>
          </p:cNvPr>
          <p:cNvSpPr/>
          <p:nvPr/>
        </p:nvSpPr>
        <p:spPr>
          <a:xfrm>
            <a:off x="512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CFEF64-C806-F773-D31C-0A019C8A455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396418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50C53FD-B49A-C5C1-AB09-C57DEBDFB48E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A0C8FB-DD04-62E6-621B-6349127D331F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410DC4-337E-AFBC-D700-7E7495CBD65D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841D9F-6F6D-C0BF-6B15-E49F8157E932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5071021-8B9A-8707-64B4-DC5FD277A944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FAD50A-1422-2C40-CD6E-C997DE53F223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4FE54B-FCE6-A0CA-667A-C0C121334D86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pic>
        <p:nvPicPr>
          <p:cNvPr id="33" name="Graphic 32" descr="Badge Cross with solid fill">
            <a:extLst>
              <a:ext uri="{FF2B5EF4-FFF2-40B4-BE49-F238E27FC236}">
                <a16:creationId xmlns:a16="http://schemas.microsoft.com/office/drawing/2014/main" id="{718B1FB3-5EED-02CA-C516-FCEB1C03E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5003" y="2678645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DF308A9-236C-6B65-D80E-DC35BE03A6F1}"/>
              </a:ext>
            </a:extLst>
          </p:cNvPr>
          <p:cNvSpPr txBox="1"/>
          <p:nvPr/>
        </p:nvSpPr>
        <p:spPr>
          <a:xfrm>
            <a:off x="6967988" y="1636729"/>
            <a:ext cx="5174809" cy="286232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deleteNode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*&amp;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deleteNode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(num,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-&gt;left);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deleteNode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(num,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-&gt;right);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makeDeletion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);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530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B6479-A00F-F1E2-6F96-8101B0D4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F6FB63-EEF6-80B4-1810-6476E9C86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35B31-D33B-3150-CA95-D7659954C889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tree </a:t>
            </a:r>
            <a:r>
              <a:rPr lang="en-PH" sz="2500" b="1" dirty="0">
                <a:solidFill>
                  <a:schemeClr val="bg1"/>
                </a:solidFill>
              </a:rPr>
              <a:t>is a tree where each node has no more than two children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484F99-F9B5-89D4-2887-BBF9576251FE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33D78-7BAD-C73D-4801-26FBB847FF6B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42E9A-6753-F609-B19B-CE75B6E34469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392E0B-175A-5AD5-A659-C721F20CF5E8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D2800F3-2C61-D8A3-3195-EC343909F50B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C36B65-4493-79CE-D39A-0C9D582E4D40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80633C-72C4-D689-7411-C51766D11FB1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77A604-7755-D8F1-62E5-C130CF4E951A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3621977" y="2176729"/>
            <a:ext cx="123444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4A378BE-8F5C-1A10-8BD4-A9C94AD6686F}"/>
              </a:ext>
            </a:extLst>
          </p:cNvPr>
          <p:cNvSpPr/>
          <p:nvPr/>
        </p:nvSpPr>
        <p:spPr>
          <a:xfrm>
            <a:off x="458641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396265-086B-100C-FBAD-2F806F796590}"/>
              </a:ext>
            </a:extLst>
          </p:cNvPr>
          <p:cNvSpPr/>
          <p:nvPr/>
        </p:nvSpPr>
        <p:spPr>
          <a:xfrm>
            <a:off x="404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4AA27-AE3E-0B4A-B1C5-18F84F620689}"/>
              </a:ext>
            </a:extLst>
          </p:cNvPr>
          <p:cNvSpPr/>
          <p:nvPr/>
        </p:nvSpPr>
        <p:spPr>
          <a:xfrm>
            <a:off x="512641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DC5473-B3A5-7397-D91A-F184FA4F8A7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396418" y="3405845"/>
            <a:ext cx="531771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9764BFE-8349-9B6F-A948-47EFA907621F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7D7B28-5356-102E-5459-52A67E260887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D01FCF-CFE1-EB40-A1FF-D0843FF6F451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19F4DB-B2D3-4646-BFD6-5EAA40FDCEFF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D166C4F-9255-0FB2-7D96-D6A9CE4FB421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2856A0-BB38-5078-AB6F-13B1AEDDCE4C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1E6533-00C6-CF85-4444-4F980F7846A7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pic>
        <p:nvPicPr>
          <p:cNvPr id="33" name="Graphic 32" descr="Badge Cross with solid fill">
            <a:extLst>
              <a:ext uri="{FF2B5EF4-FFF2-40B4-BE49-F238E27FC236}">
                <a16:creationId xmlns:a16="http://schemas.microsoft.com/office/drawing/2014/main" id="{D8038488-93F3-913A-703D-2FA9AECD0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5003" y="267864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1E059BC-2C17-A0B7-1F42-3C39D25BF54E}"/>
              </a:ext>
            </a:extLst>
          </p:cNvPr>
          <p:cNvSpPr txBox="1"/>
          <p:nvPr/>
        </p:nvSpPr>
        <p:spPr>
          <a:xfrm>
            <a:off x="7426695" y="1636729"/>
            <a:ext cx="4620365" cy="21236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makeDeletion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*&amp;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…	 	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   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482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B7A30-7A40-05A3-37E3-B794BB15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7325E4E-4B21-2F63-200B-067E0CC31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64FD0-7D56-5C40-2CFE-2AB86AD3ADE9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tree </a:t>
            </a:r>
            <a:r>
              <a:rPr lang="en-PH" sz="2500" b="1" dirty="0">
                <a:solidFill>
                  <a:schemeClr val="bg1"/>
                </a:solidFill>
              </a:rPr>
              <a:t>is a tree where each node has no more than two children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2A1D9C-459A-19D6-3FA4-67E31D6CE095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C450A8-17FB-C654-FFD9-6E0B3333942D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1EFB59-44B7-FE4A-C257-11D24BF4822E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23AF39-C3B8-EC1A-8BCD-F6AB016AC20B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F7E606D-43C3-0C93-A68B-A6E87576C94C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E70CEE-B7A5-C15E-A8DF-610CFC5BBE6C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FBB585-DF80-133F-4D79-198960A1B155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36F60B-4B51-E27F-2BAF-D03BA12A0463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5F07E0-958B-133F-B05C-BE8DAB92B495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B9C49-D621-37E2-719F-E242C04B4121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FE62C0-EE10-C37D-3D83-31A663770343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0B0C386-3297-0A25-3E3E-AC56A6BAB416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639D0-B5B8-00BF-8E57-FA7DB0F5D8B9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7172EA-80A2-AEB3-9429-AAF941FCB9BA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9946A5-76D4-C4AF-05CE-B73F2C51D3DB}"/>
              </a:ext>
            </a:extLst>
          </p:cNvPr>
          <p:cNvSpPr txBox="1"/>
          <p:nvPr/>
        </p:nvSpPr>
        <p:spPr>
          <a:xfrm>
            <a:off x="7426695" y="1636729"/>
            <a:ext cx="4620365" cy="21236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makeDeletion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*&amp;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…	 	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   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6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14939-A6A5-39EA-2E3C-75781919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8B5BB92-A0A7-9EB4-909C-D96EB282E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27908-1FBD-3E01-138F-BBF7BF7C37B5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tree </a:t>
            </a:r>
            <a:r>
              <a:rPr lang="en-PH" sz="2500" b="1" dirty="0">
                <a:solidFill>
                  <a:schemeClr val="bg1"/>
                </a:solidFill>
              </a:rPr>
              <a:t>is a tree where each node has no more than two children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80E323-5180-FB42-1B41-3877DEF4DE37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2DD9B-DA00-D0E5-E959-25F45DC26064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BF5DD-C565-9751-B9B4-C8BFEE6125AB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F2C674-8CAD-3B81-5098-E505E17A0571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329844B-33FE-0749-09EE-9E43056627EF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841E3C-FF62-FE40-342A-6C0AFFF8AC23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CB162-5657-00C7-16BA-025F1254C364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D68CEE-B13A-F5CC-D11D-5E867B40C6D7}"/>
              </a:ext>
            </a:extLst>
          </p:cNvPr>
          <p:cNvSpPr/>
          <p:nvPr/>
        </p:nvSpPr>
        <p:spPr>
          <a:xfrm>
            <a:off x="5658189" y="3825963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DD50C-A8AA-765D-6A97-6E9E21850C13}"/>
              </a:ext>
            </a:extLst>
          </p:cNvPr>
          <p:cNvSpPr/>
          <p:nvPr/>
        </p:nvSpPr>
        <p:spPr>
          <a:xfrm>
            <a:off x="5126418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D359AB-9164-900C-92A4-2A050309AD15}"/>
              </a:ext>
            </a:extLst>
          </p:cNvPr>
          <p:cNvSpPr/>
          <p:nvPr/>
        </p:nvSpPr>
        <p:spPr>
          <a:xfrm>
            <a:off x="6198189" y="3825963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3BC7C8-13B5-B015-5575-D7D97BB4094F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4848189" y="4365963"/>
            <a:ext cx="548229" cy="42011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8C7B066-875B-B4E5-0108-3BBA68289AEC}"/>
              </a:ext>
            </a:extLst>
          </p:cNvPr>
          <p:cNvSpPr/>
          <p:nvPr/>
        </p:nvSpPr>
        <p:spPr>
          <a:xfrm>
            <a:off x="4578189" y="478608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A8BDEE-AFE4-DBE8-F587-DC797DF3114E}"/>
              </a:ext>
            </a:extLst>
          </p:cNvPr>
          <p:cNvSpPr/>
          <p:nvPr/>
        </p:nvSpPr>
        <p:spPr>
          <a:xfrm>
            <a:off x="403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540664-9C47-8E27-3EC6-3998F7B9E25B}"/>
              </a:ext>
            </a:extLst>
          </p:cNvPr>
          <p:cNvSpPr/>
          <p:nvPr/>
        </p:nvSpPr>
        <p:spPr>
          <a:xfrm>
            <a:off x="5118189" y="478608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817EC9-C6D3-3590-FFFF-360533E71A1F}"/>
              </a:ext>
            </a:extLst>
          </p:cNvPr>
          <p:cNvSpPr txBox="1"/>
          <p:nvPr/>
        </p:nvSpPr>
        <p:spPr>
          <a:xfrm>
            <a:off x="7426695" y="1636729"/>
            <a:ext cx="4620365" cy="21236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makeDeletion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*&amp;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…	 	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   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669877-04C3-E78E-1471-D2917D35C829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3621977" y="2176729"/>
            <a:ext cx="2306212" cy="164923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920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8AF96-EBC6-34CC-0F8E-5D930054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6B0CC9-84C3-811D-6729-2A5100D53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deleteNode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71F42-3E5F-433B-4347-2E39DABDC2CC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rgbClr val="00B0F0"/>
                </a:solidFill>
              </a:rPr>
              <a:t>binary tree </a:t>
            </a:r>
            <a:r>
              <a:rPr lang="en-PH" sz="2500" b="1" dirty="0">
                <a:solidFill>
                  <a:schemeClr val="bg1"/>
                </a:solidFill>
              </a:rPr>
              <a:t>is a tree where each node has no more than two children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9B2B97-6B30-FECB-6978-97518B5204C8}"/>
              </a:ext>
            </a:extLst>
          </p:cNvPr>
          <p:cNvSpPr/>
          <p:nvPr/>
        </p:nvSpPr>
        <p:spPr>
          <a:xfrm>
            <a:off x="2833791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6B900-4791-5BEE-12EC-EC58E3A36653}"/>
              </a:ext>
            </a:extLst>
          </p:cNvPr>
          <p:cNvSpPr/>
          <p:nvPr/>
        </p:nvSpPr>
        <p:spPr>
          <a:xfrm>
            <a:off x="2293791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6D72F-9D44-13BF-3EAD-CF6D6C68704D}"/>
              </a:ext>
            </a:extLst>
          </p:cNvPr>
          <p:cNvSpPr/>
          <p:nvPr/>
        </p:nvSpPr>
        <p:spPr>
          <a:xfrm>
            <a:off x="3351977" y="1636729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31D1A2-C22F-CBC8-9442-E46A8A7D821F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1425206" y="2176729"/>
            <a:ext cx="1138585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7348612-E48E-45F5-1391-7765637DB463}"/>
              </a:ext>
            </a:extLst>
          </p:cNvPr>
          <p:cNvSpPr/>
          <p:nvPr/>
        </p:nvSpPr>
        <p:spPr>
          <a:xfrm>
            <a:off x="1155206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025DB-F87F-920E-4D11-50D23AF768C7}"/>
              </a:ext>
            </a:extLst>
          </p:cNvPr>
          <p:cNvSpPr/>
          <p:nvPr/>
        </p:nvSpPr>
        <p:spPr>
          <a:xfrm>
            <a:off x="609600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D4C29-FE6A-70E9-49D9-37B26FEEF489}"/>
              </a:ext>
            </a:extLst>
          </p:cNvPr>
          <p:cNvSpPr/>
          <p:nvPr/>
        </p:nvSpPr>
        <p:spPr>
          <a:xfrm>
            <a:off x="1695206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CDBEA4-7B85-CE75-AE15-D4C989155788}"/>
              </a:ext>
            </a:extLst>
          </p:cNvPr>
          <p:cNvSpPr/>
          <p:nvPr/>
        </p:nvSpPr>
        <p:spPr>
          <a:xfrm>
            <a:off x="3883748" y="286584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402911-4AB8-1C61-1A86-B25C46C16782}"/>
              </a:ext>
            </a:extLst>
          </p:cNvPr>
          <p:cNvSpPr/>
          <p:nvPr/>
        </p:nvSpPr>
        <p:spPr>
          <a:xfrm>
            <a:off x="3351977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BB1215-5D86-D469-BE64-6F2CEF6BB520}"/>
              </a:ext>
            </a:extLst>
          </p:cNvPr>
          <p:cNvSpPr/>
          <p:nvPr/>
        </p:nvSpPr>
        <p:spPr>
          <a:xfrm>
            <a:off x="4423748" y="2865845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9BEB80-1CF0-0F68-9139-C6B84FC676AF}"/>
              </a:ext>
            </a:extLst>
          </p:cNvPr>
          <p:cNvCxnSpPr>
            <a:cxnSpLocks/>
            <a:stCxn id="21" idx="0"/>
            <a:endCxn id="17" idx="2"/>
          </p:cNvCxnSpPr>
          <p:nvPr/>
        </p:nvCxnSpPr>
        <p:spPr>
          <a:xfrm flipV="1">
            <a:off x="3075437" y="3405845"/>
            <a:ext cx="546540" cy="4803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1F62926-183B-6E67-A511-E63435EEB5D1}"/>
              </a:ext>
            </a:extLst>
          </p:cNvPr>
          <p:cNvSpPr/>
          <p:nvPr/>
        </p:nvSpPr>
        <p:spPr>
          <a:xfrm>
            <a:off x="2805437" y="3886161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47AFF7-4B8C-09E4-A3AC-A59A4166B42D}"/>
              </a:ext>
            </a:extLst>
          </p:cNvPr>
          <p:cNvSpPr/>
          <p:nvPr/>
        </p:nvSpPr>
        <p:spPr>
          <a:xfrm>
            <a:off x="2265437" y="388616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Left Pointer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71CE58-6432-4669-7E92-8071C9C606BC}"/>
              </a:ext>
            </a:extLst>
          </p:cNvPr>
          <p:cNvSpPr/>
          <p:nvPr/>
        </p:nvSpPr>
        <p:spPr>
          <a:xfrm>
            <a:off x="3345437" y="3886161"/>
            <a:ext cx="540000" cy="54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Right</a:t>
            </a:r>
          </a:p>
          <a:p>
            <a:pPr algn="ctr"/>
            <a:r>
              <a:rPr lang="en-US" sz="900" b="1" dirty="0"/>
              <a:t>Pointer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EEFDFD-5E71-A485-40F3-1BD839F6D050}"/>
              </a:ext>
            </a:extLst>
          </p:cNvPr>
          <p:cNvSpPr txBox="1"/>
          <p:nvPr/>
        </p:nvSpPr>
        <p:spPr>
          <a:xfrm>
            <a:off x="7426695" y="1636729"/>
            <a:ext cx="4620365" cy="21236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IntBinaryTree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PH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makeDeletion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*&amp;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…	 	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   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P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{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-&gt;right;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PH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tempNodePtr</a:t>
            </a: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;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PH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PH" sz="1200" dirty="0">
                <a:solidFill>
                  <a:srgbClr val="FFA657"/>
                </a:solidFill>
                <a:latin typeface="Consolas" panose="020B0609020204030204" pitchFamily="49" charset="0"/>
              </a:rPr>
              <a:t>    …</a:t>
            </a:r>
            <a:endParaRPr lang="en-PH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3CB30E-A760-64BA-8E6A-0B3F2C0EE6F4}"/>
              </a:ext>
            </a:extLst>
          </p:cNvPr>
          <p:cNvCxnSpPr>
            <a:cxnSpLocks/>
            <a:stCxn id="16" idx="0"/>
            <a:endCxn id="4" idx="2"/>
          </p:cNvCxnSpPr>
          <p:nvPr/>
        </p:nvCxnSpPr>
        <p:spPr>
          <a:xfrm flipH="1" flipV="1">
            <a:off x="3621977" y="2176729"/>
            <a:ext cx="531771" cy="689116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339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1800</TotalTime>
  <Words>2190</Words>
  <Application>Microsoft Office PowerPoint</Application>
  <PresentationFormat>Widescreen</PresentationFormat>
  <Paragraphs>813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Office Theme</vt:lpstr>
      <vt:lpstr>TreeNode</vt:lpstr>
      <vt:lpstr>TreeNode</vt:lpstr>
      <vt:lpstr>TreeNode</vt:lpstr>
      <vt:lpstr>insertNode()</vt:lpstr>
      <vt:lpstr>insertNode()</vt:lpstr>
      <vt:lpstr>insertNode()</vt:lpstr>
      <vt:lpstr>insertNode()</vt:lpstr>
      <vt:lpstr>insertNode()</vt:lpstr>
      <vt:lpstr>insertNode()</vt:lpstr>
      <vt:lpstr>insertNode()</vt:lpstr>
      <vt:lpstr>insertNode()</vt:lpstr>
      <vt:lpstr>insertNode()</vt:lpstr>
      <vt:lpstr>displayInOrder()</vt:lpstr>
      <vt:lpstr>displayPreOrder()</vt:lpstr>
      <vt:lpstr>displayPostOrder()</vt:lpstr>
      <vt:lpstr>searchNode()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  <vt:lpstr>deleteNode()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172</cp:revision>
  <dcterms:created xsi:type="dcterms:W3CDTF">2022-05-11T03:47:05Z</dcterms:created>
  <dcterms:modified xsi:type="dcterms:W3CDTF">2026-06-23T01:56:27Z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