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93" r:id="rId5"/>
    <p:sldId id="325" r:id="rId6"/>
    <p:sldId id="321" r:id="rId7"/>
    <p:sldId id="324" r:id="rId8"/>
    <p:sldId id="322" r:id="rId9"/>
    <p:sldId id="323" r:id="rId10"/>
    <p:sldId id="326" r:id="rId11"/>
    <p:sldId id="327" r:id="rId12"/>
    <p:sldId id="328" r:id="rId13"/>
    <p:sldId id="329" r:id="rId14"/>
    <p:sldId id="330" r:id="rId15"/>
    <p:sldId id="332" r:id="rId16"/>
    <p:sldId id="333" r:id="rId17"/>
    <p:sldId id="334" r:id="rId18"/>
    <p:sldId id="337" r:id="rId19"/>
    <p:sldId id="335" r:id="rId20"/>
    <p:sldId id="33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AAA"/>
    <a:srgbClr val="6AB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9" autoAdjust="0"/>
    <p:restoredTop sz="93653" autoAdjust="0"/>
  </p:normalViewPr>
  <p:slideViewPr>
    <p:cSldViewPr snapToGrid="0">
      <p:cViewPr varScale="1">
        <p:scale>
          <a:sx n="149" d="100"/>
          <a:sy n="149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7457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A2200-FC88-326C-C618-FD2365A5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3D8E3-B319-CB46-3AC8-6F0ED718B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E9878-0F52-FEB9-1A02-198B47F2D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BD3A1-0599-BFAB-24BC-BEBD1B54F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7401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6E2B-5CCC-2EF5-AA3B-E8DDED4A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8628C-CC3F-DC9A-5820-361874F16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3F3DB-02E9-CDFD-8EB4-5B0042C63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CC674-5616-35CB-8ED1-5F9CD8A4A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3128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68841-FBA4-2D46-C404-D4B90E551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F08DE-08C4-25E8-5566-46D617DD6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24BAC-78CF-42A3-E087-6D2D2DDDB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D9BED-6E36-1052-4BAD-46E1A7EA8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8720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3F63A-6E67-91BE-D963-B1A4D423B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3FAB3-7434-437A-2926-69992E7C3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01948-3D79-E293-B0C7-F9127B931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017B0-7223-B093-021F-6F869EFAF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2342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852E-1F0B-94B3-4535-BE3D5FAB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F01E1-BEBC-2B11-D552-7C7EBB481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A19DE-B495-63DD-0E48-B0AEBB57A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9D20D-06C9-480E-8AA3-F8CA1E546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16376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0BDB1-85CC-DD90-B9AB-E9DA53B22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FEE7B-FF00-49D7-1290-F037A5444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CE625-A51C-7945-5838-70FB78D04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EB1A2-B810-D8E2-864A-446DB0C89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9897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24757-DACF-D39F-74DD-99983553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7EEF8-9731-7EA2-F22A-C5F616647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8DA09-D37E-D34B-D3FB-AC9E222A0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D2E39-9A4A-6A7D-F9AE-033E1718C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0765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767BE-C2E7-2227-C135-8FED3D0B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1F96-106B-EDF3-00DF-26E167489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6F3DE-A243-81ED-D54E-A9511F011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3D181-16EB-5C56-EB46-40D1D1089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3768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84D93-1E36-8B3E-CB0F-51287BF9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9E43D-C0F2-F999-D3CB-29455227B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034E6-899E-744C-A6B5-F9BA74E3B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85BD6-CFBA-157A-A36A-324F07C4B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51533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42A0-6131-27A0-7EFB-621084349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DCF0D-4916-B94E-C742-CD510DF9C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26627-9989-6B13-440E-06A6705DC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C743E-3027-5C5E-15FD-875826F38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9517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F1777-1561-4742-0421-9ABC60109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745A3-D9D0-9CB5-6750-07A5D7899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4D407-BC81-CE15-6BEE-B07C7ECCA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D079A-2A8A-C65F-9D26-2CE099D09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22123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B64F-294D-B647-677A-301A8F11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6B97E-EB9E-7FA7-079C-25BC7B19C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8F292-17E7-F786-5A45-53F363E6E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A6837-8AF2-67DE-4707-CF2FE46A0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38002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79CE-C1CA-54DD-051D-6AFB529F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BCAF3-62EC-AF27-2F00-7467628A8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43AD3-8883-D7FC-0517-45CC17C83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3ABB7-7412-F070-AACC-BB39D8A72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8947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1928-2551-9FE3-A056-A36A584F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0153D-91A9-CF9F-D366-B26CA4210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79CC3-A59A-A3FE-4340-B713507BE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12DAA-FFFF-549F-4232-160C9CC76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72073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9D627-3815-4A58-A64A-B63D763CE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B2B3C-CF97-48C4-1A46-CBD5BF4FB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BB402-0EE2-81FF-6C9A-BA7AE99AB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974AB-34C9-95C0-C144-8A82AE8D6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21743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56D8D-08EA-A10B-4D28-018B904FF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9D1AB-69E2-5F6C-6DF9-D4AD48524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A14D8-9DE6-B025-950E-F8012CF64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75C28-4B52-ADF7-A612-287DB5B2F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1380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59A545-5E0C-E6E5-274C-D470E99B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1121B2-8C34-C723-AA30-2A804B79DD2B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rgbClr val="00B0F0"/>
                </a:solidFill>
              </a:rPr>
              <a:t>binary tree </a:t>
            </a:r>
            <a:r>
              <a:rPr lang="en-PH" sz="2500" b="1" dirty="0">
                <a:solidFill>
                  <a:schemeClr val="bg1"/>
                </a:solidFill>
              </a:rPr>
              <a:t>is a tree where each node has no more than two children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48833F-CA0E-8DDE-F7CE-0789C8A2C001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EEC459-7337-B509-0442-95E2307B9DE8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2592CC-2461-D129-1C1F-B71CFD447E1F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8BFEF8A-7F63-0332-0D38-0BB5B2D4B2E7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2C9AA1-BC54-CBBB-1326-20E9276A723F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6113C48-078C-9C9D-3CC2-960C352DB2E8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BBA7EC-DE8A-1F49-A290-E95911B78E76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CB6CC574-B190-BF6C-96D1-F0FAD5CB81DA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D26C8A-F00B-458C-F5B3-AEC8F9BEE5C9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F89816A-CF2B-7326-973C-3C2AA3AA7BF5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47821A5-D6E8-6552-9D13-D65CBD4E22AC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644D183-EFB2-75DB-6095-4B0EF4E33936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8771DA-376C-AFF3-4DE6-47BE915043B5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01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681B3-DB45-0799-80F6-28033360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F9D6395-0EEE-F1D3-ECDE-4A8552F35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10CE6-A825-2235-2864-E036CC8301AA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In this example, node 1, 2 and 3 each has two child nodes.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D8A1953-AD97-0280-1BD6-FBBECA5B1462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19D521-C978-BFAE-6A82-532F5C7615D8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C38314-5E3A-B6CE-6C34-37D52E5951D6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58B0E18-2C81-A470-4ABF-CDCEE40A00C7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FB3A75-A9A8-76DD-D4C1-26799D965EDB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E9A8AA23-B3C5-E575-C9AF-46DE15C9E56F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84CF1-6234-129B-4C41-F64E37BCBF54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502E8D7-6832-A8BD-02B0-61B2ECB2B801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379ECA-1A88-7E36-4374-E4C0CFC5DF5F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307C2ED-9274-2AB7-4671-181341EF2262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09C8FA8-696A-C38C-1251-14067978917C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5458D18-B1B6-1369-10BE-97787262EDD5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4B0363-C031-2DA1-EF8E-0FE5F4358795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42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DCE57-7516-60CF-A07D-08BDD34B6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8C25940-DDD7-440F-73D2-32290B745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4DA42F-3603-C437-6FD5-FDB237A8F6B1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In this example, node 3 has one child node. This is still considered a binary tree.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A9EAEE-3F28-A967-4199-37ADD5BEB2B3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FB2FD0-B292-23A6-16FC-945F1316B4FC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AF0355-3630-881E-3F20-66D952784CF5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861E116-19FC-FFA7-499F-538DA65CCA05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8A784A-B454-AC77-BC35-56A9A2AA6E42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FFF66CA-C04A-95D0-BF61-E325638B233A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470FF8-A6D8-0562-4939-59A680954B21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A37FC98-CFD6-432A-2EFE-40A20D7C4204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C534B4-2EFC-06D6-014F-9EC04A57B3EC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058ADCF-1C94-1556-667E-CBADBA906423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D3FF010-E676-0FC9-FF65-07E1F53DF98D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24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DC3AA-E7CF-BB44-0E84-3D675D627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81E140-3842-955C-F6EE-74FACE5DD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A94A9-2B23-F2A2-7C3C-72DF5535EC1E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In this example, node 3 has no child nodes. This is still considered a binary tree.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476A58-F5E0-E074-8DC0-279A4D9B1080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1EB1A0-3970-8824-031D-D10D75FC9E22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E997F2-C0C8-58AC-2391-4194D068B82B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F505456-5ED5-CDA7-52BA-C5EBC7913A4A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231FAB-D0F3-C0CC-B67D-45E643326AA2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CB4EC9F-1F46-D8B4-1C02-8B5E414AE743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3813A4-0366-C250-DEE0-1DE75D897EAE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81C3B23-4DB3-6C57-39B8-9CA4B4F76FD7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2899EC-C796-212A-177E-31AC8F1C2E98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150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A940B-B3C1-C949-5131-73962337A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09851F-99FB-30C0-6AB4-DDB6FEED1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339BC9-6FFE-4C89-0340-4EB34275FC95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In this example, this tree is no longer a binary tree because node 3 has three child nodes.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EBD0DF-E6F0-F713-180D-83CD5E0D7A88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9EF302-55CF-ACB6-489C-812BE4C613B7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49C741-EE94-8FCC-0463-DE3F7ED5AB86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746815A-1826-01D8-158B-51D0DC33D1A4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74C583-7505-42F0-F06B-86C1139A7157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6457547-453A-03EA-BE00-4DB0F3EE8351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3E9AC4-20AA-6814-9752-E22F3716D245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A64ACE4-F886-CA2F-7FDC-4A1CB0101AAE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1DBBB5-D77B-9003-8228-F286A4C5FE29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A8EE75F4-DF48-AD0A-9D7E-52FFED24BFA4}"/>
              </a:ext>
            </a:extLst>
          </p:cNvPr>
          <p:cNvSpPr/>
          <p:nvPr/>
        </p:nvSpPr>
        <p:spPr>
          <a:xfrm>
            <a:off x="65540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261C32-70C8-F9D7-FEAB-48B63854E476}"/>
              </a:ext>
            </a:extLst>
          </p:cNvPr>
          <p:cNvCxnSpPr>
            <a:cxnSpLocks/>
            <a:stCxn id="2" idx="7"/>
            <a:endCxn id="12" idx="3"/>
          </p:cNvCxnSpPr>
          <p:nvPr/>
        </p:nvCxnSpPr>
        <p:spPr>
          <a:xfrm flipV="1">
            <a:off x="7168629" y="3336834"/>
            <a:ext cx="679263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6E1852A-0CBC-BB57-145C-E8C260816907}"/>
              </a:ext>
            </a:extLst>
          </p:cNvPr>
          <p:cNvSpPr/>
          <p:nvPr/>
        </p:nvSpPr>
        <p:spPr>
          <a:xfrm>
            <a:off x="9087748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EC590A-01A7-A7BA-3B29-08CA638DDE68}"/>
              </a:ext>
            </a:extLst>
          </p:cNvPr>
          <p:cNvCxnSpPr>
            <a:cxnSpLocks/>
            <a:stCxn id="4" idx="1"/>
            <a:endCxn id="12" idx="5"/>
          </p:cNvCxnSpPr>
          <p:nvPr/>
        </p:nvCxnSpPr>
        <p:spPr>
          <a:xfrm flipH="1" flipV="1">
            <a:off x="8357008" y="3336834"/>
            <a:ext cx="836182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5902F13-6F59-7254-9C12-F068D00BAF65}"/>
              </a:ext>
            </a:extLst>
          </p:cNvPr>
          <p:cNvSpPr/>
          <p:nvPr/>
        </p:nvSpPr>
        <p:spPr>
          <a:xfrm>
            <a:off x="7742450" y="376056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208179-A330-B7BE-B356-0552DCF00AA5}"/>
              </a:ext>
            </a:extLst>
          </p:cNvPr>
          <p:cNvCxnSpPr>
            <a:cxnSpLocks/>
            <a:stCxn id="17" idx="0"/>
            <a:endCxn id="12" idx="4"/>
          </p:cNvCxnSpPr>
          <p:nvPr/>
        </p:nvCxnSpPr>
        <p:spPr>
          <a:xfrm flipV="1">
            <a:off x="8102450" y="3442276"/>
            <a:ext cx="0" cy="31829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32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1F2C1-BAC9-7CA1-46B1-D3A93ECA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CAADA9-F5C7-6D09-DE39-005CF3896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3294C-4A7A-E3AB-3508-4FA36B6D5AD2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rgbClr val="00B0F0"/>
                </a:solidFill>
              </a:rPr>
              <a:t>binary search tree </a:t>
            </a:r>
            <a:r>
              <a:rPr lang="en-PH" sz="2500" b="1" dirty="0">
                <a:solidFill>
                  <a:schemeClr val="bg1"/>
                </a:solidFill>
              </a:rPr>
              <a:t>is a binary tree where the values of each node are arranged in a certain order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865155-6E7E-8259-9B7A-96AFABE4AB78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BD2A68-A062-DFCA-3987-F87A2D00BEF8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89D303-37F0-EDA8-A5F1-9D4093693752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13FC6ED-662D-07C5-75CC-313F58C45572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8BCDC6-0D12-5F17-62F5-7BAD99322D31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DE697C6-F83F-0405-F97A-8C8510D057E1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43246E-033F-950D-EA06-1AB5A7628F53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3F82B77-CF66-40BA-9FD1-AA798527479E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095386-6B50-AD33-D926-4F90A552CFFF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646F32CE-0954-1F8F-B9E7-4EDBA77B8651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12615D9-FFB7-653A-C516-6DA539EB1540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33AE203-3CE7-857F-C6B7-542D6FDF2824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78A821B-D2E0-D9C6-9911-8C1D7B52DE2D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6D73932-8A1D-E893-02C8-89C1AEDCAD1D}"/>
              </a:ext>
            </a:extLst>
          </p:cNvPr>
          <p:cNvCxnSpPr>
            <a:cxnSpLocks/>
          </p:cNvCxnSpPr>
          <p:nvPr/>
        </p:nvCxnSpPr>
        <p:spPr>
          <a:xfrm flipV="1">
            <a:off x="5974586" y="-3739308"/>
            <a:ext cx="0" cy="373930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6B1D2FB-B177-4604-A521-1D567DE7375A}"/>
              </a:ext>
            </a:extLst>
          </p:cNvPr>
          <p:cNvSpPr/>
          <p:nvPr/>
        </p:nvSpPr>
        <p:spPr>
          <a:xfrm>
            <a:off x="-4173151" y="1225099"/>
            <a:ext cx="4104930" cy="372981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E13DEC-FF45-22CC-B46F-537B18FCF776}"/>
              </a:ext>
            </a:extLst>
          </p:cNvPr>
          <p:cNvSpPr/>
          <p:nvPr/>
        </p:nvSpPr>
        <p:spPr>
          <a:xfrm>
            <a:off x="12192000" y="1225621"/>
            <a:ext cx="4347757" cy="3729296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18455B-D4DC-023B-FF5E-6084AA5A1AB7}"/>
              </a:ext>
            </a:extLst>
          </p:cNvPr>
          <p:cNvSpPr txBox="1"/>
          <p:nvPr/>
        </p:nvSpPr>
        <p:spPr>
          <a:xfrm>
            <a:off x="-2995143" y="1588495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Less than 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48EE7-C703-F933-8DCF-DF6E7A0E62EB}"/>
              </a:ext>
            </a:extLst>
          </p:cNvPr>
          <p:cNvSpPr txBox="1"/>
          <p:nvPr/>
        </p:nvSpPr>
        <p:spPr>
          <a:xfrm>
            <a:off x="13307200" y="1588495"/>
            <a:ext cx="21173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Greater than 4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205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BED87-8300-CE5B-5449-E316E3383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F408E1D-26E6-4457-667A-2500731399D6}"/>
              </a:ext>
            </a:extLst>
          </p:cNvPr>
          <p:cNvCxnSpPr>
            <a:cxnSpLocks/>
          </p:cNvCxnSpPr>
          <p:nvPr/>
        </p:nvCxnSpPr>
        <p:spPr>
          <a:xfrm flipV="1">
            <a:off x="5974586" y="1215609"/>
            <a:ext cx="0" cy="373930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6B9B6B7-6349-F4E9-81D2-61F69B932C6F}"/>
              </a:ext>
            </a:extLst>
          </p:cNvPr>
          <p:cNvSpPr/>
          <p:nvPr/>
        </p:nvSpPr>
        <p:spPr>
          <a:xfrm>
            <a:off x="1839579" y="1225099"/>
            <a:ext cx="4104930" cy="372981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E03232-2947-77AC-855A-82EE0A70CB08}"/>
              </a:ext>
            </a:extLst>
          </p:cNvPr>
          <p:cNvSpPr/>
          <p:nvPr/>
        </p:nvSpPr>
        <p:spPr>
          <a:xfrm>
            <a:off x="6004664" y="1225621"/>
            <a:ext cx="4347757" cy="3729296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E6EE8-581E-C974-3250-B8C6E6C1F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749608-D640-1671-DD4A-A3DF68CC7C71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B9FC94-FACF-B72A-EF25-6833FCC32379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20EACD-49B9-8036-19A2-C01789EEB3C5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F012BEF-38F7-CFE7-2123-1FA9759B37F1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15AB41-E409-F952-B06A-69693557E2A0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D859636-6DE8-956E-E094-0F3F752CED57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6A6DCA-FBEB-FD6E-0252-8898D5AACFDD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15D895F-4282-7DCE-05A2-69A85B57EE4E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379ED0-D5DE-73A4-E1C9-F4795604CD89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6ADE029-1403-8279-D5CB-DF3BBF6AD478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3CE9AA-79B4-74B4-3CCB-921FB6707C22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242E351E-715A-70DD-13D9-E28C67B5D938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6417C4F-260E-1315-6B91-CB368C9700CF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7C3C87-3E67-00B5-BD73-0642A6E027D6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Here is the order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95E69-7E7F-ABCB-C7C1-F271B3F664A2}"/>
              </a:ext>
            </a:extLst>
          </p:cNvPr>
          <p:cNvSpPr txBox="1"/>
          <p:nvPr/>
        </p:nvSpPr>
        <p:spPr>
          <a:xfrm>
            <a:off x="3017587" y="1588495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Less than 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036F06-EF54-2D00-CA97-F65EC67C7C5F}"/>
              </a:ext>
            </a:extLst>
          </p:cNvPr>
          <p:cNvSpPr txBox="1"/>
          <p:nvPr/>
        </p:nvSpPr>
        <p:spPr>
          <a:xfrm>
            <a:off x="7119864" y="1588495"/>
            <a:ext cx="21173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Greater than 4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219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5CC91-3273-B807-BAA8-8409B1A53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68FF4FD-C88C-2AFB-4B41-A1C5ED50ABEE}"/>
              </a:ext>
            </a:extLst>
          </p:cNvPr>
          <p:cNvCxnSpPr>
            <a:cxnSpLocks/>
          </p:cNvCxnSpPr>
          <p:nvPr/>
        </p:nvCxnSpPr>
        <p:spPr>
          <a:xfrm flipV="1">
            <a:off x="5974586" y="1215609"/>
            <a:ext cx="0" cy="373930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5DE2495-EFCF-0D3D-F704-2809D70639A4}"/>
              </a:ext>
            </a:extLst>
          </p:cNvPr>
          <p:cNvSpPr/>
          <p:nvPr/>
        </p:nvSpPr>
        <p:spPr>
          <a:xfrm>
            <a:off x="1839579" y="1225099"/>
            <a:ext cx="4104930" cy="372981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D43DF2-9C08-EFD5-ABEE-CFBF2638EC80}"/>
              </a:ext>
            </a:extLst>
          </p:cNvPr>
          <p:cNvSpPr/>
          <p:nvPr/>
        </p:nvSpPr>
        <p:spPr>
          <a:xfrm>
            <a:off x="6004664" y="1225621"/>
            <a:ext cx="4347757" cy="3729296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BB6A16-7481-3FC3-0CB7-7DFD56C5E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03C11F-0A55-169F-09B2-30BC186FFE26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8A0739-B015-4E1C-510B-E0B26F46448F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CAAD0E-83C3-056B-A2B3-7A61F196FF2B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B33E34B-5157-9781-3959-F8AFB235556C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26F402-A2C7-B799-5F49-488D44999DDA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541BD0C-5580-42DF-9D3E-1F572EF99FA6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12C3C7-8E11-2EC3-AC03-1E551B1204C1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6BDA2C3-B929-1A52-6090-7A341EB49EC0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33FC7C-DB90-4160-2040-59D2AAD4EBCB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11F6EE3-6A3E-274E-6FE4-9FCF60CC4960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442736-242F-F3A8-0154-ADF50C1E40C2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F503E386-FEF0-DAE5-A5F3-6A671E7D6028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5F74BF-6822-B0D7-4A90-B0056146BAC9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B16446-C56C-8926-3FBD-AAEF26DD396E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The root node should be greater than the left child and less than the right child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F7087-8B19-923A-C48E-517DAD53A3C7}"/>
              </a:ext>
            </a:extLst>
          </p:cNvPr>
          <p:cNvSpPr txBox="1"/>
          <p:nvPr/>
        </p:nvSpPr>
        <p:spPr>
          <a:xfrm>
            <a:off x="3017587" y="1588495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Less than 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998682-AD83-9120-7D48-54C776DC9F14}"/>
              </a:ext>
            </a:extLst>
          </p:cNvPr>
          <p:cNvSpPr txBox="1"/>
          <p:nvPr/>
        </p:nvSpPr>
        <p:spPr>
          <a:xfrm>
            <a:off x="7119864" y="1588495"/>
            <a:ext cx="21173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Greater than 4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527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9BDEB-F325-B2A4-8EC9-D18804834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FBF06A6-BBC1-0364-AA70-8118868282FC}"/>
              </a:ext>
            </a:extLst>
          </p:cNvPr>
          <p:cNvCxnSpPr>
            <a:cxnSpLocks/>
          </p:cNvCxnSpPr>
          <p:nvPr/>
        </p:nvCxnSpPr>
        <p:spPr>
          <a:xfrm flipV="1">
            <a:off x="5974586" y="1215609"/>
            <a:ext cx="0" cy="373930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0F3E22-9EF6-F1A6-0CE4-355F021E1C79}"/>
              </a:ext>
            </a:extLst>
          </p:cNvPr>
          <p:cNvSpPr/>
          <p:nvPr/>
        </p:nvSpPr>
        <p:spPr>
          <a:xfrm>
            <a:off x="1839579" y="1225099"/>
            <a:ext cx="4104930" cy="372981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AA82E4-7D7A-AADA-30AA-E69367258D60}"/>
              </a:ext>
            </a:extLst>
          </p:cNvPr>
          <p:cNvSpPr/>
          <p:nvPr/>
        </p:nvSpPr>
        <p:spPr>
          <a:xfrm>
            <a:off x="6004664" y="1225621"/>
            <a:ext cx="4347757" cy="3729296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F287EB-08F5-F1BB-675D-5B892DA80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FD837A-D6DA-75C9-3CAC-009490DB7934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F10720-6766-A845-EF1E-8DEE95C5BE0E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0D6665-EE64-C3D8-E71D-8C0225DA2354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A426F4A-405A-36BD-1B6D-7BD707DB625E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9C0802-CCD0-FD36-5697-30D13C4E4ECF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C087A12-7589-2825-2D2C-277AC7167BE2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4C1775-B2CB-1EE0-7304-4D33A809C7B9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5D2F975-B394-B1F7-3C31-AAEAA44C8829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E7D777-EC8D-BBB2-DDFE-5078B799BB98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8F03B07-9973-83B1-D4C9-755A4559F17E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52A248-35F4-A2DD-34B7-5886E6070E6B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61DFB5D6-D167-E4B1-4575-07ADD8A7351B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2F57DA5-6E77-2BCF-2543-D71A07507789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9A93D33-B5FD-9096-B41D-473A54249373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This is the pattern that this data structure is built around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4D4F0-3BF5-2875-829C-6E5655F2EEC3}"/>
              </a:ext>
            </a:extLst>
          </p:cNvPr>
          <p:cNvSpPr txBox="1"/>
          <p:nvPr/>
        </p:nvSpPr>
        <p:spPr>
          <a:xfrm>
            <a:off x="3017587" y="1588495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Less than 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D8BD45-82DA-0121-883B-ABC41B18B330}"/>
              </a:ext>
            </a:extLst>
          </p:cNvPr>
          <p:cNvSpPr txBox="1"/>
          <p:nvPr/>
        </p:nvSpPr>
        <p:spPr>
          <a:xfrm>
            <a:off x="7119864" y="1588495"/>
            <a:ext cx="21173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Greater than 4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239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11E3E-93E9-DB28-4C91-0E87EA25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1A22AA-92FA-D127-96F3-A8E7396DDB97}"/>
              </a:ext>
            </a:extLst>
          </p:cNvPr>
          <p:cNvCxnSpPr>
            <a:cxnSpLocks/>
          </p:cNvCxnSpPr>
          <p:nvPr/>
        </p:nvCxnSpPr>
        <p:spPr>
          <a:xfrm flipV="1">
            <a:off x="8113764" y="2445809"/>
            <a:ext cx="0" cy="246824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2A3591A-AA33-C46A-9260-D68767C2BFD4}"/>
              </a:ext>
            </a:extLst>
          </p:cNvPr>
          <p:cNvSpPr/>
          <p:nvPr/>
        </p:nvSpPr>
        <p:spPr>
          <a:xfrm>
            <a:off x="6476747" y="2445809"/>
            <a:ext cx="1606032" cy="246824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22EAEF-036A-0C83-EB80-FCC6011E483A}"/>
              </a:ext>
            </a:extLst>
          </p:cNvPr>
          <p:cNvSpPr/>
          <p:nvPr/>
        </p:nvSpPr>
        <p:spPr>
          <a:xfrm>
            <a:off x="8158875" y="2445809"/>
            <a:ext cx="1771119" cy="2468248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08A02C9-C3FA-D78E-5547-227E79BA179F}"/>
              </a:ext>
            </a:extLst>
          </p:cNvPr>
          <p:cNvCxnSpPr>
            <a:cxnSpLocks/>
          </p:cNvCxnSpPr>
          <p:nvPr/>
        </p:nvCxnSpPr>
        <p:spPr>
          <a:xfrm flipV="1">
            <a:off x="4115596" y="2486669"/>
            <a:ext cx="0" cy="246824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ABB275C-63B1-92A5-E689-89EFD4E804D9}"/>
              </a:ext>
            </a:extLst>
          </p:cNvPr>
          <p:cNvSpPr/>
          <p:nvPr/>
        </p:nvSpPr>
        <p:spPr>
          <a:xfrm>
            <a:off x="2458541" y="2486669"/>
            <a:ext cx="1626070" cy="246824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000533-2FF5-14BB-CFD2-ADC6AD5C0898}"/>
              </a:ext>
            </a:extLst>
          </p:cNvPr>
          <p:cNvSpPr/>
          <p:nvPr/>
        </p:nvSpPr>
        <p:spPr>
          <a:xfrm>
            <a:off x="4160707" y="2486669"/>
            <a:ext cx="1690672" cy="2468248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276144D-92C8-1161-89FA-E0F4EEE03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027A29-984C-F832-86E1-AD8B38FD7E05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76C52D-AC45-ED44-44D3-4D6222594432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F08E6B-962D-4980-994D-D5A0E1F7E5E4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A44BAE5-34E5-89C1-2234-33CFEB6F90C1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752280-2428-3891-C4FB-C730B92A8497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2D6A215-348A-3363-2324-8CBC55BA1DC1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247208-61B2-D402-7D44-0C9CECBD86CC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E265B06-EBBF-17E4-0528-5C0ECA50C447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560B5D-94CC-D277-40C1-ED3BF406F34B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A6DEA86-1D32-C374-E586-2D3790398D25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CD65BF7-FC8F-C9CA-78E2-770D979421BC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F4E71B4B-036A-BC20-7832-ED3BD3B974EF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E3F0950-14BC-ED53-4E9A-541B210B6E27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0C4743F-E1F1-2441-61BB-70214292951B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If we take a look at its subtrees, it follows the same pattern.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39920-615D-D08F-EC78-9C786D3779C5}"/>
              </a:ext>
            </a:extLst>
          </p:cNvPr>
          <p:cNvSpPr txBox="1"/>
          <p:nvPr/>
        </p:nvSpPr>
        <p:spPr>
          <a:xfrm>
            <a:off x="2532811" y="4535570"/>
            <a:ext cx="1359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000" b="1" dirty="0">
                <a:solidFill>
                  <a:schemeClr val="bg1"/>
                </a:solidFill>
              </a:rPr>
              <a:t>Less than 2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CAC684-EB4F-B08D-8350-13758DD5DC1A}"/>
              </a:ext>
            </a:extLst>
          </p:cNvPr>
          <p:cNvSpPr txBox="1"/>
          <p:nvPr/>
        </p:nvSpPr>
        <p:spPr>
          <a:xfrm>
            <a:off x="4190443" y="4542272"/>
            <a:ext cx="1736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000" b="1" dirty="0">
                <a:solidFill>
                  <a:schemeClr val="bg1"/>
                </a:solidFill>
              </a:rPr>
              <a:t>Greater than 2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93DF66-551D-3FC3-DA25-D33899FD3D8E}"/>
              </a:ext>
            </a:extLst>
          </p:cNvPr>
          <p:cNvSpPr txBox="1"/>
          <p:nvPr/>
        </p:nvSpPr>
        <p:spPr>
          <a:xfrm>
            <a:off x="6448840" y="4554807"/>
            <a:ext cx="1359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000" b="1" dirty="0">
                <a:solidFill>
                  <a:schemeClr val="bg1"/>
                </a:solidFill>
              </a:rPr>
              <a:t>Less than 6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033066-8AA8-0352-01B5-31AA559BAD04}"/>
              </a:ext>
            </a:extLst>
          </p:cNvPr>
          <p:cNvSpPr txBox="1"/>
          <p:nvPr/>
        </p:nvSpPr>
        <p:spPr>
          <a:xfrm>
            <a:off x="8193546" y="4554807"/>
            <a:ext cx="1736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000" b="1" dirty="0">
                <a:solidFill>
                  <a:schemeClr val="bg1"/>
                </a:solidFill>
              </a:rPr>
              <a:t>Greater than 6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118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D1176-72EF-F1C9-61B7-75F1D692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F98FD5-BA29-8BDD-C1D6-696012DA21E1}"/>
              </a:ext>
            </a:extLst>
          </p:cNvPr>
          <p:cNvCxnSpPr>
            <a:cxnSpLocks/>
          </p:cNvCxnSpPr>
          <p:nvPr/>
        </p:nvCxnSpPr>
        <p:spPr>
          <a:xfrm flipV="1">
            <a:off x="8113764" y="2445809"/>
            <a:ext cx="0" cy="246824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E8032D5-AC40-030E-5579-768D7C3ECD55}"/>
              </a:ext>
            </a:extLst>
          </p:cNvPr>
          <p:cNvSpPr/>
          <p:nvPr/>
        </p:nvSpPr>
        <p:spPr>
          <a:xfrm>
            <a:off x="6476747" y="2445809"/>
            <a:ext cx="1606032" cy="246824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C7812A-1156-75D7-6A36-5BBDF6EFD040}"/>
              </a:ext>
            </a:extLst>
          </p:cNvPr>
          <p:cNvSpPr/>
          <p:nvPr/>
        </p:nvSpPr>
        <p:spPr>
          <a:xfrm>
            <a:off x="8158875" y="2445809"/>
            <a:ext cx="1771119" cy="2468248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E1D9651-35A2-74A8-5E8B-EAABF5519057}"/>
              </a:ext>
            </a:extLst>
          </p:cNvPr>
          <p:cNvCxnSpPr>
            <a:cxnSpLocks/>
          </p:cNvCxnSpPr>
          <p:nvPr/>
        </p:nvCxnSpPr>
        <p:spPr>
          <a:xfrm flipV="1">
            <a:off x="4115596" y="2486669"/>
            <a:ext cx="0" cy="246824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3C324B1-75F1-08CC-4B9E-E2B976D41849}"/>
              </a:ext>
            </a:extLst>
          </p:cNvPr>
          <p:cNvSpPr/>
          <p:nvPr/>
        </p:nvSpPr>
        <p:spPr>
          <a:xfrm>
            <a:off x="2458541" y="2486669"/>
            <a:ext cx="1626070" cy="246824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B8C7AE-B26B-C393-5073-5027A333C081}"/>
              </a:ext>
            </a:extLst>
          </p:cNvPr>
          <p:cNvSpPr/>
          <p:nvPr/>
        </p:nvSpPr>
        <p:spPr>
          <a:xfrm>
            <a:off x="4160707" y="2486669"/>
            <a:ext cx="1690672" cy="2468248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8E5478-E8A7-7B77-1690-E51439BB5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45D025-4EDD-BCDC-BCA7-3C6E00366054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300702-D743-DAC2-BB7C-AFEFA1158154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9EF537-85D3-B9DD-E697-8121144A104B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0FE5391-82D1-92EE-8EE2-083DD5F8F1B0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BEA0FB-CFFC-FC82-F25B-A89EEAA1C82C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EE1507B-F35F-C767-B501-109A289108D9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CB125D-6D11-E09D-1C74-74EBF3A3412E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C056AEC3-BECD-D8D6-0510-C5593DDBE023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9A49AB-9AC0-639E-2EAF-2348FD0E7A28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B29F9FF-FCD3-6C45-5A33-013C1D8044A2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FF245D-7B5F-4272-9EB9-9E62D867AAC0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A5348BA4-FF09-356C-9220-6AFBE2C42D03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1E493B-F388-97E9-42E1-93FD9CD81DFA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525A180-E987-FA9D-9457-4AA889E71A79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The left child node is always less than the parent and the right child node is always greater than the parent.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2B403-CA9C-EE27-FEB0-A751F8FD4319}"/>
              </a:ext>
            </a:extLst>
          </p:cNvPr>
          <p:cNvSpPr txBox="1"/>
          <p:nvPr/>
        </p:nvSpPr>
        <p:spPr>
          <a:xfrm>
            <a:off x="2532811" y="4535570"/>
            <a:ext cx="1359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000" b="1" dirty="0">
                <a:solidFill>
                  <a:schemeClr val="bg1"/>
                </a:solidFill>
              </a:rPr>
              <a:t>Less than 2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BA52C9-D2E5-16D5-A24C-A53CDB37A2D7}"/>
              </a:ext>
            </a:extLst>
          </p:cNvPr>
          <p:cNvSpPr txBox="1"/>
          <p:nvPr/>
        </p:nvSpPr>
        <p:spPr>
          <a:xfrm>
            <a:off x="4190443" y="4542272"/>
            <a:ext cx="1736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000" b="1" dirty="0">
                <a:solidFill>
                  <a:schemeClr val="bg1"/>
                </a:solidFill>
              </a:rPr>
              <a:t>Greater than 2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16335A-58D2-F0BE-60A5-7FF8BAD006D4}"/>
              </a:ext>
            </a:extLst>
          </p:cNvPr>
          <p:cNvSpPr txBox="1"/>
          <p:nvPr/>
        </p:nvSpPr>
        <p:spPr>
          <a:xfrm>
            <a:off x="6448840" y="4554807"/>
            <a:ext cx="1359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000" b="1" dirty="0">
                <a:solidFill>
                  <a:schemeClr val="bg1"/>
                </a:solidFill>
              </a:rPr>
              <a:t>Less than 6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9EDBFB-38BA-3735-0410-66805B92C25E}"/>
              </a:ext>
            </a:extLst>
          </p:cNvPr>
          <p:cNvSpPr txBox="1"/>
          <p:nvPr/>
        </p:nvSpPr>
        <p:spPr>
          <a:xfrm>
            <a:off x="8193546" y="4554807"/>
            <a:ext cx="1736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000" b="1" dirty="0">
                <a:solidFill>
                  <a:schemeClr val="bg1"/>
                </a:solidFill>
              </a:rPr>
              <a:t>Greater than 6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86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6D1F7-8205-E28B-9ED0-A6C2B6948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8F83E06-C696-B0DD-F325-D258513F701A}"/>
              </a:ext>
            </a:extLst>
          </p:cNvPr>
          <p:cNvCxnSpPr>
            <a:cxnSpLocks/>
          </p:cNvCxnSpPr>
          <p:nvPr/>
        </p:nvCxnSpPr>
        <p:spPr>
          <a:xfrm flipV="1">
            <a:off x="5974586" y="1215609"/>
            <a:ext cx="0" cy="373930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D65B407-CEF5-FB82-5237-76FBD084F27A}"/>
              </a:ext>
            </a:extLst>
          </p:cNvPr>
          <p:cNvSpPr/>
          <p:nvPr/>
        </p:nvSpPr>
        <p:spPr>
          <a:xfrm>
            <a:off x="1839579" y="1225099"/>
            <a:ext cx="4104930" cy="372981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10F6F4-12D1-822E-3808-320E4DF1817B}"/>
              </a:ext>
            </a:extLst>
          </p:cNvPr>
          <p:cNvSpPr/>
          <p:nvPr/>
        </p:nvSpPr>
        <p:spPr>
          <a:xfrm>
            <a:off x="6004664" y="1225621"/>
            <a:ext cx="4347757" cy="3729296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9185A5-9D26-B7DE-DDAD-3306FF370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203FE8-B314-7452-372A-9D06ECFC521C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1AA55E-F251-A357-7A9A-91A52B947D97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9FBF21-417D-837C-9FBA-F7980556C052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E39B81B-6CF7-BC56-89F6-E0F3AF772CCC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B02635-DD39-C588-DC5D-50E9AB211F77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45FBA12-7918-7903-5219-2FE67905C527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2AE3FFE-CD3D-19E4-4AD7-BF55FEB13E94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95AC63B-5650-06D1-B257-DCC6393E69EE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2A47ED-3EBE-C85C-3044-EA557C5AA6AF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DAB72A57-2513-8456-1D55-F4D6783D4BD5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615A2A-98D5-C2B6-A8C7-CAF119B99855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D66D90D6-FF20-8316-6B26-A6EA8C897A9D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34DA9D3-5317-B063-8281-4BA891FF606C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11D6871-72D7-A06C-D8BE-939FF698D39E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The reason the nodes are arranged this way is for a quick search/lookup.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2441A-33EF-CFEC-9D48-D9605434D875}"/>
              </a:ext>
            </a:extLst>
          </p:cNvPr>
          <p:cNvSpPr txBox="1"/>
          <p:nvPr/>
        </p:nvSpPr>
        <p:spPr>
          <a:xfrm>
            <a:off x="3017587" y="1588495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Less than 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FB93E4-5A16-A162-801E-47056CFE13F7}"/>
              </a:ext>
            </a:extLst>
          </p:cNvPr>
          <p:cNvSpPr txBox="1"/>
          <p:nvPr/>
        </p:nvSpPr>
        <p:spPr>
          <a:xfrm>
            <a:off x="7119864" y="1588495"/>
            <a:ext cx="21173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Greater than 4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371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9CCBA4-F342-EAC2-09C7-C6BFC77D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AE54305-E419-DD8A-8B5A-BD2322505B09}"/>
              </a:ext>
            </a:extLst>
          </p:cNvPr>
          <p:cNvCxnSpPr>
            <a:cxnSpLocks/>
          </p:cNvCxnSpPr>
          <p:nvPr/>
        </p:nvCxnSpPr>
        <p:spPr>
          <a:xfrm flipV="1">
            <a:off x="5974586" y="1215609"/>
            <a:ext cx="0" cy="373930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A2FE515-7E5D-8FE0-7FD9-3DCA09A91250}"/>
              </a:ext>
            </a:extLst>
          </p:cNvPr>
          <p:cNvSpPr/>
          <p:nvPr/>
        </p:nvSpPr>
        <p:spPr>
          <a:xfrm>
            <a:off x="1839579" y="1225099"/>
            <a:ext cx="4104930" cy="372981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ACFC10-D445-0A71-34EB-8E3EED282D70}"/>
              </a:ext>
            </a:extLst>
          </p:cNvPr>
          <p:cNvSpPr/>
          <p:nvPr/>
        </p:nvSpPr>
        <p:spPr>
          <a:xfrm>
            <a:off x="6004664" y="1225621"/>
            <a:ext cx="4347757" cy="3729296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71BF084-0937-DF66-ED88-F44DF2E1A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D68A4A-5007-CAA8-1612-A482C870D07D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FA5166-1AD1-0515-23B3-1F28C783BB4C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29682-4C08-BF48-C31B-DDA5876031B7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B2F55BE-7A3A-2A0A-0EAC-F6F5C9AEA74C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FE167D-2C5F-6E8E-CCB5-B11FEADA5971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FC2757D-05A9-270D-933E-C0A1431D9177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4824D0-EA91-81D0-BC84-C5B8B27A000C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C5436910-E11C-90E4-9CF1-228336968F31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7688F7-19E1-5A8B-6685-0DA48304D8CB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D59B72A-3942-5C57-D3B9-0E52FAE81A3F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5C90A41-98E7-71BA-B3BE-E22AAA41A834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37879181-F716-0899-9558-6523EC20B5E5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6C476BA-F017-4143-28D3-40483198FE6F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8414BB8-65B9-7701-EEFA-05409B9284B1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For example, </a:t>
            </a:r>
            <a:r>
              <a:rPr lang="en-PH" sz="2500" b="1" dirty="0">
                <a:solidFill>
                  <a:srgbClr val="00B0F0"/>
                </a:solidFill>
              </a:rPr>
              <a:t>if we want to look for a node 5 </a:t>
            </a:r>
            <a:r>
              <a:rPr lang="en-PH" sz="2500" b="1" dirty="0">
                <a:solidFill>
                  <a:schemeClr val="bg1"/>
                </a:solidFill>
              </a:rPr>
              <a:t>in our tree it will be very easy.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15C17-F531-AA95-4A91-30B4C16E07E9}"/>
              </a:ext>
            </a:extLst>
          </p:cNvPr>
          <p:cNvSpPr txBox="1"/>
          <p:nvPr/>
        </p:nvSpPr>
        <p:spPr>
          <a:xfrm>
            <a:off x="3017587" y="1588495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Less than 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0DCCCE-4209-0AF4-77AF-6F8048908AEF}"/>
              </a:ext>
            </a:extLst>
          </p:cNvPr>
          <p:cNvSpPr txBox="1"/>
          <p:nvPr/>
        </p:nvSpPr>
        <p:spPr>
          <a:xfrm>
            <a:off x="7119864" y="1588495"/>
            <a:ext cx="21173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Greater than 4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720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37A2D-CE81-1B78-A306-DE820AA7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427A5F6-2E14-6C3B-F68F-5095ECDEF3F2}"/>
              </a:ext>
            </a:extLst>
          </p:cNvPr>
          <p:cNvCxnSpPr>
            <a:cxnSpLocks/>
          </p:cNvCxnSpPr>
          <p:nvPr/>
        </p:nvCxnSpPr>
        <p:spPr>
          <a:xfrm flipV="1">
            <a:off x="5974586" y="1215609"/>
            <a:ext cx="0" cy="373930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2B2ED-7984-B1B0-7198-A746B1FAC023}"/>
              </a:ext>
            </a:extLst>
          </p:cNvPr>
          <p:cNvSpPr/>
          <p:nvPr/>
        </p:nvSpPr>
        <p:spPr>
          <a:xfrm>
            <a:off x="1839579" y="1225099"/>
            <a:ext cx="4104930" cy="372981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A0F0A9-00BE-618B-AB80-17EA476AD79C}"/>
              </a:ext>
            </a:extLst>
          </p:cNvPr>
          <p:cNvSpPr/>
          <p:nvPr/>
        </p:nvSpPr>
        <p:spPr>
          <a:xfrm>
            <a:off x="6004664" y="1225621"/>
            <a:ext cx="4347757" cy="3729296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0FF00B-D644-18EC-4548-762CA00F2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298659-B1BA-403A-AE16-B670AC81DAFF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A3EAA0-89CE-4620-E084-319459C9A6B4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68D7F7-5F60-66A7-ED57-A1A9411BA8ED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DE4C4EC-26E7-A2EE-DF2B-F35DE7FF19C1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820E0B-7E9F-D466-F78E-339439A91D7B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E5CD1227-058A-7B59-150A-3C3F633DCFA7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E81CD8-D9D2-CCD3-F789-92A511788F9F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A429E2E-EB38-A4E8-0F1D-D585934E49F0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EE18A0-54D4-F80B-FC6D-9D2F8D254276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7737396-A729-F736-73EF-4CD0094E5354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C944A47-8C26-58BF-8326-945B1415F56A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27C65FB4-59B7-3054-DD9E-1966817CD47A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365CD9-CFBF-FAD0-C6F1-53A907F2F6BD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A40028-E8BE-2B46-B472-DFB237CFA5E2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When we search for a node, we always start at the root.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255D9-E8B0-50B5-3A52-CEE3F690F2BD}"/>
              </a:ext>
            </a:extLst>
          </p:cNvPr>
          <p:cNvSpPr txBox="1"/>
          <p:nvPr/>
        </p:nvSpPr>
        <p:spPr>
          <a:xfrm>
            <a:off x="3017587" y="1588495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Less than 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2741E1-3BAB-862F-4D93-E1F6B6D8E8FB}"/>
              </a:ext>
            </a:extLst>
          </p:cNvPr>
          <p:cNvSpPr txBox="1"/>
          <p:nvPr/>
        </p:nvSpPr>
        <p:spPr>
          <a:xfrm>
            <a:off x="7119864" y="1588495"/>
            <a:ext cx="21173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Greater than 4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671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A9B8D-3C30-67DC-11D1-7E1E95C08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ED6D1F9-993A-74D1-9FB6-DD0859D9FDC4}"/>
              </a:ext>
            </a:extLst>
          </p:cNvPr>
          <p:cNvCxnSpPr>
            <a:cxnSpLocks/>
          </p:cNvCxnSpPr>
          <p:nvPr/>
        </p:nvCxnSpPr>
        <p:spPr>
          <a:xfrm flipV="1">
            <a:off x="5974586" y="1215609"/>
            <a:ext cx="0" cy="373930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8143705-357F-FC99-ADB6-E511161298C8}"/>
              </a:ext>
            </a:extLst>
          </p:cNvPr>
          <p:cNvSpPr/>
          <p:nvPr/>
        </p:nvSpPr>
        <p:spPr>
          <a:xfrm>
            <a:off x="1839579" y="1225099"/>
            <a:ext cx="4104930" cy="372981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37C939-FFD0-452C-8674-FDD56599197C}"/>
              </a:ext>
            </a:extLst>
          </p:cNvPr>
          <p:cNvSpPr/>
          <p:nvPr/>
        </p:nvSpPr>
        <p:spPr>
          <a:xfrm>
            <a:off x="6004664" y="1225621"/>
            <a:ext cx="4347757" cy="3729296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D3CE8C-7955-BFDA-54E3-BEE4A4AC5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A6A1D7-0574-9627-F90C-2C869A9F2866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40C8BE-1CA2-D134-3CFB-671E09EE7181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B84394-A78C-7B09-BB27-ED0A5105E8CE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362883D-D708-47C5-E4B4-6AEDE10BC919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EE353F-98C1-FA33-4BEF-73E20FF8E5BF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7EBFC2D-0719-D489-BF8F-95D7023FD1AD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B3BB64-7329-0F10-2098-6517F66F3DBA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ACBF97C-9491-3662-B088-63EAAE583A75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EAA2A6-E328-7BA5-8E97-9E6A43EFE0B1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E3E142DD-9107-1FFA-FB13-A7F24B98CE24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CED2007-1D05-5186-3100-7A0357D55B8F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63583A71-5D99-F7C2-380A-DA3DE3CE88EF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3016C63-0230-0E50-FE69-BFE272C0A006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8711AC-4046-3B0D-5A1C-70FDD33128D1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>
                <a:solidFill>
                  <a:schemeClr val="bg1"/>
                </a:solidFill>
              </a:rPr>
              <a:t>Because</a:t>
            </a:r>
            <a:r>
              <a:rPr lang="en-PH" sz="2500" b="1">
                <a:solidFill>
                  <a:srgbClr val="00B0F0"/>
                </a:solidFill>
              </a:rPr>
              <a:t> </a:t>
            </a:r>
            <a:r>
              <a:rPr lang="en-PH" sz="2500" b="1" dirty="0">
                <a:solidFill>
                  <a:srgbClr val="00B0F0"/>
                </a:solidFill>
              </a:rPr>
              <a:t>5 is greater than 4</a:t>
            </a:r>
            <a:r>
              <a:rPr lang="en-PH" sz="2500" b="1" dirty="0">
                <a:solidFill>
                  <a:schemeClr val="bg1"/>
                </a:solidFill>
              </a:rPr>
              <a:t>, we know that we should go to the right subtree.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54ED49-7D2A-68DF-D240-120B7906C4AA}"/>
              </a:ext>
            </a:extLst>
          </p:cNvPr>
          <p:cNvSpPr txBox="1"/>
          <p:nvPr/>
        </p:nvSpPr>
        <p:spPr>
          <a:xfrm>
            <a:off x="3017587" y="1588495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Less than 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019847-0EE9-8442-CECF-CDF7FF896DB0}"/>
              </a:ext>
            </a:extLst>
          </p:cNvPr>
          <p:cNvSpPr txBox="1"/>
          <p:nvPr/>
        </p:nvSpPr>
        <p:spPr>
          <a:xfrm>
            <a:off x="7119864" y="1588495"/>
            <a:ext cx="21173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Greater than 4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1362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E4CAAB-AA4D-0858-A5D2-AD126DF4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95EABA2-E85D-E8E0-BD3E-B9D19233FD6C}"/>
              </a:ext>
            </a:extLst>
          </p:cNvPr>
          <p:cNvCxnSpPr>
            <a:cxnSpLocks/>
          </p:cNvCxnSpPr>
          <p:nvPr/>
        </p:nvCxnSpPr>
        <p:spPr>
          <a:xfrm flipV="1">
            <a:off x="5974586" y="1215609"/>
            <a:ext cx="0" cy="373930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443F4E5-C87E-003F-1DEE-2EB4359A1EF1}"/>
              </a:ext>
            </a:extLst>
          </p:cNvPr>
          <p:cNvSpPr/>
          <p:nvPr/>
        </p:nvSpPr>
        <p:spPr>
          <a:xfrm>
            <a:off x="1839579" y="1225099"/>
            <a:ext cx="4104930" cy="372981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419594-6795-BE91-BCA0-B109B7338E6E}"/>
              </a:ext>
            </a:extLst>
          </p:cNvPr>
          <p:cNvSpPr/>
          <p:nvPr/>
        </p:nvSpPr>
        <p:spPr>
          <a:xfrm>
            <a:off x="6004664" y="1225621"/>
            <a:ext cx="4347757" cy="3729296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233D8BD-CC22-6E92-C34B-ACA1A1F04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02834C-41FE-6F34-53F1-08273B696A7B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A2CE8D-994E-792A-03BF-D2B624572E85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24C3F3-DD48-8E12-1503-19647370FD24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9B78BA5-F532-73E0-97BD-8B4DA49655B2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7D3E21-F72B-4F14-1FE2-CCA4F006975B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742351F-5F42-3EA7-2BD6-C6CD2075743B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13E879-B0C7-6381-E82F-0B746FE16F2F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B766427-F747-9D0E-6D96-0269E768707A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AC8158-15EC-6558-B670-70BCA59C1BD6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B4EAE05-0BD6-86E5-CD0A-75760BBD3C8B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7BDED4-1759-8D17-8D5F-6ABA0EC6A09A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BA6AAC7-6F6C-0E1D-56EC-3087C719E476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7A1814-417C-1785-1904-406F781D6D4D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15A17D8-FB4F-7619-5418-AB86B8BDDDFE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Because 5 is less than 6, we know that we should go left.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C05C2-A784-F1E2-090E-5B8E858EB1C8}"/>
              </a:ext>
            </a:extLst>
          </p:cNvPr>
          <p:cNvSpPr txBox="1"/>
          <p:nvPr/>
        </p:nvSpPr>
        <p:spPr>
          <a:xfrm>
            <a:off x="3017587" y="1588495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Less than 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842462-5A3D-BD60-53EB-DDC2CD65821C}"/>
              </a:ext>
            </a:extLst>
          </p:cNvPr>
          <p:cNvSpPr txBox="1"/>
          <p:nvPr/>
        </p:nvSpPr>
        <p:spPr>
          <a:xfrm>
            <a:off x="7119864" y="1588495"/>
            <a:ext cx="21173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Greater than 4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460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F78F2-1072-E8D8-DD6D-00A33A7E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45DBCBE-4DC6-FDC9-C32A-7DF8F5EF472C}"/>
              </a:ext>
            </a:extLst>
          </p:cNvPr>
          <p:cNvCxnSpPr>
            <a:cxnSpLocks/>
          </p:cNvCxnSpPr>
          <p:nvPr/>
        </p:nvCxnSpPr>
        <p:spPr>
          <a:xfrm flipV="1">
            <a:off x="5974586" y="1215609"/>
            <a:ext cx="0" cy="3739308"/>
          </a:xfrm>
          <a:prstGeom prst="straightConnector1">
            <a:avLst/>
          </a:prstGeom>
          <a:ln w="57150">
            <a:solidFill>
              <a:schemeClr val="bg1">
                <a:alpha val="50099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A9A9B21-9AFD-AABA-AF00-63C3E77D1ACC}"/>
              </a:ext>
            </a:extLst>
          </p:cNvPr>
          <p:cNvSpPr/>
          <p:nvPr/>
        </p:nvSpPr>
        <p:spPr>
          <a:xfrm>
            <a:off x="1839579" y="1225099"/>
            <a:ext cx="4104930" cy="3729818"/>
          </a:xfrm>
          <a:prstGeom prst="rect">
            <a:avLst/>
          </a:prstGeom>
          <a:solidFill>
            <a:srgbClr val="FF000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56F532-25A4-CBDF-57DA-375E431E73E1}"/>
              </a:ext>
            </a:extLst>
          </p:cNvPr>
          <p:cNvSpPr/>
          <p:nvPr/>
        </p:nvSpPr>
        <p:spPr>
          <a:xfrm>
            <a:off x="6004664" y="1225621"/>
            <a:ext cx="4347757" cy="3729296"/>
          </a:xfrm>
          <a:prstGeom prst="rect">
            <a:avLst/>
          </a:prstGeom>
          <a:solidFill>
            <a:srgbClr val="00B050">
              <a:alpha val="33482"/>
            </a:srgbClr>
          </a:solidFill>
          <a:ln>
            <a:solidFill>
              <a:schemeClr val="accent1">
                <a:shade val="15000"/>
                <a:alpha val="2787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40443DC-1752-7A7F-D28D-053E83C9F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Binary Search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8E4D21-2BD9-2321-621E-7D90B1ECAA5D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D72E5E-39D2-11B8-C7FA-A0AA052C73C3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37F9B3-9C78-7D34-A4DA-4F9F5E0C4E5E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BEE8884-25B3-379E-D4DF-FEFD349D94BB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1A4CB1-4B9E-7E59-76DB-A858CC72AB4C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8A84B3D-BF92-6C90-A3E8-D68F1190C4F1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9C5E8D-FFF7-B9D0-FE1D-08F75EA3B76D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71C3E7E-B322-E06B-96A9-9B060D7D3098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72A6D2-7A2F-31EF-B7ED-954053315E56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CB8AAC1-8E70-B21F-9483-D72CDC9280E9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773F47-6247-FE36-1D75-4A12BA9EE934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EC9C764B-327A-B1C6-FFFF-B673A179750A}"/>
              </a:ext>
            </a:extLst>
          </p:cNvPr>
          <p:cNvSpPr/>
          <p:nvPr/>
        </p:nvSpPr>
        <p:spPr>
          <a:xfrm>
            <a:off x="8701771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EA52B6-37F4-5595-6E80-798C01B27347}"/>
              </a:ext>
            </a:extLst>
          </p:cNvPr>
          <p:cNvCxnSpPr>
            <a:cxnSpLocks/>
            <a:stCxn id="30" idx="1"/>
            <a:endCxn id="12" idx="5"/>
          </p:cNvCxnSpPr>
          <p:nvPr/>
        </p:nvCxnSpPr>
        <p:spPr>
          <a:xfrm flipH="1" flipV="1">
            <a:off x="8357008" y="3336834"/>
            <a:ext cx="450205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877D70-A56E-1068-3A5C-7F9CC38FB0C9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We now have located node 5!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1912FE-5DDF-6B61-69F3-A0EACECBBC72}"/>
              </a:ext>
            </a:extLst>
          </p:cNvPr>
          <p:cNvSpPr txBox="1"/>
          <p:nvPr/>
        </p:nvSpPr>
        <p:spPr>
          <a:xfrm>
            <a:off x="3017587" y="1588495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Less than 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DBC4E3-9356-C5E8-53FB-D2A918DC23B4}"/>
              </a:ext>
            </a:extLst>
          </p:cNvPr>
          <p:cNvSpPr txBox="1"/>
          <p:nvPr/>
        </p:nvSpPr>
        <p:spPr>
          <a:xfrm>
            <a:off x="7119864" y="1588495"/>
            <a:ext cx="21173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Greater than 4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200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1499</TotalTime>
  <Words>532</Words>
  <Application>Microsoft Macintosh PowerPoint</Application>
  <PresentationFormat>Widescreen</PresentationFormat>
  <Paragraphs>196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Binary Tree</vt:lpstr>
      <vt:lpstr>Binary Tree</vt:lpstr>
      <vt:lpstr>Binary Tree</vt:lpstr>
      <vt:lpstr>Binary Tree</vt:lpstr>
      <vt:lpstr>Binary Tree</vt:lpstr>
      <vt:lpstr>Binary Search Tree</vt:lpstr>
      <vt:lpstr>Binary Search Tree</vt:lpstr>
      <vt:lpstr>Binary Search Tree</vt:lpstr>
      <vt:lpstr>Binary Search Tree</vt:lpstr>
      <vt:lpstr>Binary Search Tree</vt:lpstr>
      <vt:lpstr>Binary Search Tree</vt:lpstr>
      <vt:lpstr>Binary Search Tree</vt:lpstr>
      <vt:lpstr>Binary Search Tree</vt:lpstr>
      <vt:lpstr>Binary Search Tree</vt:lpstr>
      <vt:lpstr>Binary Search Tree</vt:lpstr>
      <vt:lpstr>Binary Search Tree</vt:lpstr>
      <vt:lpstr>Binary Search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Elizer Jr. D. Ponio</cp:lastModifiedBy>
  <cp:revision>155</cp:revision>
  <dcterms:created xsi:type="dcterms:W3CDTF">2022-05-11T03:47:05Z</dcterms:created>
  <dcterms:modified xsi:type="dcterms:W3CDTF">2026-06-22T06:43:38Z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