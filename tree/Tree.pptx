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93" r:id="rId5"/>
    <p:sldId id="294" r:id="rId6"/>
    <p:sldId id="295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19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6A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99" autoAdjust="0"/>
    <p:restoredTop sz="93598" autoAdjust="0"/>
  </p:normalViewPr>
  <p:slideViewPr>
    <p:cSldViewPr snapToGrid="0">
      <p:cViewPr>
        <p:scale>
          <a:sx n="149" d="100"/>
          <a:sy n="14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A398-675B-E335-7C3F-F71B033D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CEA30-1CB8-C936-A0B8-2EDD220FD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F142C-5B35-E5CD-E305-D3C067491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48FA9-D8F5-D69C-39AA-C1D3A1A38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6368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8F21-629A-D3BC-36A1-E839E25D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084CD-C898-95D3-D20B-E3F40481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12D31-317C-9BA8-7007-58FB171C8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CDC57-3303-F9CE-7013-C1CB8C709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1034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7EC40-F153-A46C-0D09-9689E597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A9159-53B1-6B13-A03C-CE4528B7F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1E049-C7DF-1F76-9A5F-5572FA4E7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834F7-BF15-53D4-D82D-0B9C36E80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6122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C554-854E-FBA8-3BE3-26E8A436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8F998-AE34-24F1-5347-B9ED761CE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4A720-E591-3CF8-E8C9-51129893C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0FDA-35CB-58D5-0625-96AD9204D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012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A8967-661B-5A3C-4D3D-7E2C8E58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3004A-5F43-3B79-DCA9-1F883309B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C715A-4FB2-1CAE-D88D-39B796858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C6F33-8F9D-9F37-2FDA-DCB03EEC3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3393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15B13-ED8F-0CB8-382D-B5409FE8E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A977D-2BFC-E724-1650-6D50F4FD9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F8407-2B7C-5A5F-6725-362BFB2FF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45271-1DD9-97E7-02D3-D79E1C8C7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1031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6A16-DCA8-0642-023F-87BC2821D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99283-2990-925F-A7C8-74B27F025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5C82C-D73D-52F5-8CE1-BC00A035A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C0DD1-A7B6-6276-19DE-AC2FD1555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3467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695E-6992-E454-2796-BA33E06E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08030-ABA3-D392-7E83-698218A98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69ABF-A3A8-1EBC-4FEC-AC4053F04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60294-3D07-3428-CDE4-9010E9969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8506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33BC1-2BF8-4FF6-349B-F2A46F0F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F065A-78D8-1FEE-AD76-8B5E0D9BE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29A6B-94EA-1692-F91E-647294367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3DFC8-53B5-CA23-8CB6-48E1AE372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2935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2C81-AC23-9C14-E8AD-672F8548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20C63-DAEE-9FE6-CFDD-AC36E0C3C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921D7-CD34-733E-92F9-B361C6CF8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29D33-209A-E2E2-ACDC-1DABE0AA1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9070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445E-CCF4-22B6-2E50-0B77CFA5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9D8C4-B214-6548-765D-49942F528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3356B-F9D7-4E31-E4CF-1AEB01BD1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77633-614C-CAC8-AFCC-362C748ED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4212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CA63-BAB8-EE59-DA5F-FD569B23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E8B02-ED15-CEBF-72CA-09B9A3D06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196A8-3D3D-6CC5-F211-96C41F477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8F10A-903D-0882-ACB8-F5B0C92D2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0038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A8B8-7EA7-C921-47B7-24CDF88D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1F910-3496-10F0-6062-9A90E3023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CBC9A-F32E-46FA-D3B8-DC2369C5A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1C7D8-66A2-F65D-CA92-475784C2C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65467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78F7-9976-31D7-23A0-F8A77904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233EF-4013-E4A7-C134-51423B629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F603C-B60F-68DC-5E0E-5C4BE4785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6F754-557E-3465-7CB6-62765D74B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66906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89C4-BB8D-0EF0-4346-050FDC8F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C018F-9B9C-3B38-85E5-F40E546F7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0F5D9-53D2-1ADF-6FAD-8546C4C79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D15DE-D878-64F0-FE89-835FCFCD1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9990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013E-F732-9D8B-F3FC-A1B30B57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15117-B227-0302-EACF-992038350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C5CDA-EF86-C7B9-5E3E-87166EB01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F50FB-E1D8-6CDC-F4B2-5CA269B28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5251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023E-2DD2-8DE0-3C36-FCB3DF29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E4E09-2631-BFE5-A142-931160ECC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DEA7C-1AE9-B0E0-37B5-DC94306DB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8C0C-483D-D334-28CF-57220A1B1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96589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612A-C8DA-F8EF-D023-87D875FC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F1C8C-D9C8-D5D3-C300-8AFE3E7EE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BEA19-B0AF-F77B-0BC0-414453EBE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FC20C-170A-402B-E3E6-E1894D86A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263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76D7B-A424-0E53-8640-69952575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3863A-383E-C6E1-43A5-932A1553F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9EC74-2CA9-C626-AEC8-1BF9FE8F2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14A10-EE72-D4D1-0431-B13949799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27671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10B6-9FF6-0489-15E9-43F418E3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0B515-DDF5-225A-6313-EB57C8AB4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7FFA7-AEA9-9664-EA42-B89C0E620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83878-5B3D-4A6A-30E8-209181619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4942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92F-D8AC-0F61-B500-47811E77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C096D-CCFF-76B3-98F0-D3B9BD3A5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026E0-CFC8-D4FA-2380-7CC0CE279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2ED61-5E05-7F3D-5692-E333E0DFF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84228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AFA3-69E3-D420-D008-643805FB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3E31B-B844-4815-7260-10B90BDC8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C0778-45D3-3029-F20C-E057E55C9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29792-6001-DAF7-AF57-C85DA2889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09606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37FA-8DD4-C7A7-3F5D-C4D1BFF1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38C90-24C4-72F4-411D-2C9AB4943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663B3-5B15-C743-BB48-6D72408D7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D6079-BC7B-ACCD-276E-2FC113F58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8745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26D6-6D48-8A0D-069A-9A5D6F7E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4B1C8-8AEB-3155-8013-668CED08F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BDD89-1865-5A66-E86B-A1AC2C1EB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D7C42-A5EE-0908-A514-3D2569D6A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22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Trees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21B2-8C34-C723-AA30-2A804B79DD2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tree is a non-linear data structure where nodes are organized in a hierarchy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B50CDDE-F77E-2DD8-A118-15D359394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723" y="1215609"/>
            <a:ext cx="5758554" cy="407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D382E-F7E2-2E0B-2CB8-BA6FF302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3660AF-EE9D-5096-25F9-A8D55C65D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>
                <a:solidFill>
                  <a:srgbClr val="00B050"/>
                </a:solidFill>
                <a:effectLst/>
              </a:rPr>
              <a:t>Trees</a:t>
            </a:r>
            <a:endParaRPr lang="en-PH" dirty="0">
              <a:solidFill>
                <a:srgbClr val="00B050"/>
              </a:solidFill>
            </a:endParaRPr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1696695-9D2C-99CD-7D90-724E8CC4B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723" y="2039323"/>
            <a:ext cx="5758554" cy="407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2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2BF6C-88DF-D98A-4983-E8CA71D1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7C300E-1BF7-7923-5D5A-22B69D6EA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9BEBD-550C-80F3-1EAC-F153D0699FD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node is an element that makes up the tree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093141-4F25-A5A1-5317-DDE3258DAB8E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81086D-7EDE-1062-DAC6-9CFE0DF354D1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B031CC-EDEE-B81C-66DD-15FA42003129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6E21162-7485-D3DA-1F25-772E6017563D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8BBB5B-A48F-2AC8-E74B-96BBC10DAB23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BCA2FED-3C95-CDE7-DF29-0DC2E93F398D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74AB5F-CC32-887B-416C-BB9D99922EBF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CF7EC1F-E2D4-B249-02AC-60D8D2881CDE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2535DF-F218-D4E5-F1F7-45AF828596D4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013F76-635A-FCAB-70E0-9867FED82C4E}"/>
              </a:ext>
            </a:extLst>
          </p:cNvPr>
          <p:cNvCxnSpPr>
            <a:cxnSpLocks/>
          </p:cNvCxnSpPr>
          <p:nvPr/>
        </p:nvCxnSpPr>
        <p:spPr>
          <a:xfrm>
            <a:off x="7378900" y="3088089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F14CBDA-2D4F-D32A-4FE1-00205AE23535}"/>
              </a:ext>
            </a:extLst>
          </p:cNvPr>
          <p:cNvSpPr txBox="1"/>
          <p:nvPr/>
        </p:nvSpPr>
        <p:spPr>
          <a:xfrm>
            <a:off x="7973226" y="2856032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1217C0-C289-5832-6574-BF4D29B067F5}"/>
              </a:ext>
            </a:extLst>
          </p:cNvPr>
          <p:cNvCxnSpPr>
            <a:cxnSpLocks/>
          </p:cNvCxnSpPr>
          <p:nvPr/>
        </p:nvCxnSpPr>
        <p:spPr>
          <a:xfrm>
            <a:off x="6470860" y="4174912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5D41D47-74E7-7931-AEE6-C9EBF78E60D9}"/>
              </a:ext>
            </a:extLst>
          </p:cNvPr>
          <p:cNvSpPr txBox="1"/>
          <p:nvPr/>
        </p:nvSpPr>
        <p:spPr>
          <a:xfrm>
            <a:off x="7065186" y="394285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F35747-B541-3D66-0A6D-901E243EFF62}"/>
              </a:ext>
            </a:extLst>
          </p:cNvPr>
          <p:cNvSpPr txBox="1"/>
          <p:nvPr/>
        </p:nvSpPr>
        <p:spPr>
          <a:xfrm>
            <a:off x="7089796" y="1725720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5FE5BA-F282-64C3-B7F0-CDA604E28BBB}"/>
              </a:ext>
            </a:extLst>
          </p:cNvPr>
          <p:cNvCxnSpPr>
            <a:cxnSpLocks/>
          </p:cNvCxnSpPr>
          <p:nvPr/>
        </p:nvCxnSpPr>
        <p:spPr>
          <a:xfrm>
            <a:off x="6463844" y="1954714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4AF390-304C-48A5-EFC6-AA08D901DB61}"/>
              </a:ext>
            </a:extLst>
          </p:cNvPr>
          <p:cNvCxnSpPr>
            <a:cxnSpLocks/>
          </p:cNvCxnSpPr>
          <p:nvPr/>
        </p:nvCxnSpPr>
        <p:spPr>
          <a:xfrm flipH="1">
            <a:off x="2969152" y="4106506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D03C74-1627-4FA5-601C-D676A278C275}"/>
              </a:ext>
            </a:extLst>
          </p:cNvPr>
          <p:cNvSpPr txBox="1"/>
          <p:nvPr/>
        </p:nvSpPr>
        <p:spPr>
          <a:xfrm>
            <a:off x="1894550" y="386703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51D0C-EA48-E6EC-B1B7-11901D4ECCFD}"/>
              </a:ext>
            </a:extLst>
          </p:cNvPr>
          <p:cNvSpPr txBox="1"/>
          <p:nvPr/>
        </p:nvSpPr>
        <p:spPr>
          <a:xfrm>
            <a:off x="3676820" y="174619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6E933C-C9F3-A467-2EE8-79F8248D58AC}"/>
              </a:ext>
            </a:extLst>
          </p:cNvPr>
          <p:cNvCxnSpPr>
            <a:cxnSpLocks/>
          </p:cNvCxnSpPr>
          <p:nvPr/>
        </p:nvCxnSpPr>
        <p:spPr>
          <a:xfrm flipH="1">
            <a:off x="4746255" y="1984726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71E1444-38EC-C1ED-2602-3CA1F14DABEA}"/>
              </a:ext>
            </a:extLst>
          </p:cNvPr>
          <p:cNvSpPr txBox="1"/>
          <p:nvPr/>
        </p:nvSpPr>
        <p:spPr>
          <a:xfrm>
            <a:off x="2738759" y="2828060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8645887-250F-BF27-047C-809FA65028D1}"/>
              </a:ext>
            </a:extLst>
          </p:cNvPr>
          <p:cNvCxnSpPr>
            <a:cxnSpLocks/>
          </p:cNvCxnSpPr>
          <p:nvPr/>
        </p:nvCxnSpPr>
        <p:spPr>
          <a:xfrm flipH="1">
            <a:off x="3808194" y="3066587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10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C3E1F-875F-C02D-60B7-DD85298E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DBED05-53DA-71B6-EB61-ACE0158D0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Edge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3BF82-111E-5CFC-D8D4-D1824BCEF7BF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An edge is the connection between two nodes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BA73C-46CB-79C1-B26C-515EB57FA16C}"/>
              </a:ext>
            </a:extLst>
          </p:cNvPr>
          <p:cNvSpPr txBox="1"/>
          <p:nvPr/>
        </p:nvSpPr>
        <p:spPr>
          <a:xfrm>
            <a:off x="7229348" y="2245222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1F22AE-8342-1FF7-B002-B1D02EAE5CB7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3CFEC4-5F68-13FD-ECBC-35166306EE27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FEB3C7-EBD1-D27F-DFA1-41B66B9770C4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66EB93A-524E-ADF1-BFEA-2A61038D6EA0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87E9C4-17EC-8F44-07C8-DE9826BDA0A5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2A5EEF-CAFC-B870-B4BE-C03F9D98AC97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9F81CE-617E-7667-D307-CA402F6F3332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B019DB0-6D43-F128-0A84-1F258C6AB8B3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0DD5B0-4AB5-8EF5-BB88-6D9589FD73E6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5A9433-4758-D31A-E06E-490B92356546}"/>
              </a:ext>
            </a:extLst>
          </p:cNvPr>
          <p:cNvCxnSpPr>
            <a:cxnSpLocks/>
          </p:cNvCxnSpPr>
          <p:nvPr/>
        </p:nvCxnSpPr>
        <p:spPr>
          <a:xfrm>
            <a:off x="6603396" y="2474216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10A6D0E-F45D-56C5-356B-603EB2E4A0C3}"/>
              </a:ext>
            </a:extLst>
          </p:cNvPr>
          <p:cNvSpPr txBox="1"/>
          <p:nvPr/>
        </p:nvSpPr>
        <p:spPr>
          <a:xfrm>
            <a:off x="6321308" y="333204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741CFE-3D08-BAB6-58FB-4CCF69818D71}"/>
              </a:ext>
            </a:extLst>
          </p:cNvPr>
          <p:cNvCxnSpPr>
            <a:cxnSpLocks/>
          </p:cNvCxnSpPr>
          <p:nvPr/>
        </p:nvCxnSpPr>
        <p:spPr>
          <a:xfrm>
            <a:off x="5695356" y="3561039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0B63C2-696C-86E0-FAD4-3992E6AE4469}"/>
              </a:ext>
            </a:extLst>
          </p:cNvPr>
          <p:cNvSpPr txBox="1"/>
          <p:nvPr/>
        </p:nvSpPr>
        <p:spPr>
          <a:xfrm>
            <a:off x="2640101" y="328404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328572-84B8-B098-0D02-5CA42712357A}"/>
              </a:ext>
            </a:extLst>
          </p:cNvPr>
          <p:cNvCxnSpPr>
            <a:cxnSpLocks/>
          </p:cNvCxnSpPr>
          <p:nvPr/>
        </p:nvCxnSpPr>
        <p:spPr>
          <a:xfrm flipH="1">
            <a:off x="3709536" y="3522572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CCAC65-13D6-F51D-3ABC-93FA3B17E19A}"/>
              </a:ext>
            </a:extLst>
          </p:cNvPr>
          <p:cNvCxnSpPr>
            <a:cxnSpLocks/>
          </p:cNvCxnSpPr>
          <p:nvPr/>
        </p:nvCxnSpPr>
        <p:spPr>
          <a:xfrm flipH="1">
            <a:off x="4299178" y="2568660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4F542C-4F14-9176-1937-BC8E571B1ADD}"/>
              </a:ext>
            </a:extLst>
          </p:cNvPr>
          <p:cNvSpPr txBox="1"/>
          <p:nvPr/>
        </p:nvSpPr>
        <p:spPr>
          <a:xfrm>
            <a:off x="3224576" y="232918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Edge</a:t>
            </a:r>
          </a:p>
        </p:txBody>
      </p:sp>
    </p:spTree>
    <p:extLst>
      <p:ext uri="{BB962C8B-B14F-4D97-AF65-F5344CB8AC3E}">
        <p14:creationId xmlns:p14="http://schemas.microsoft.com/office/powerpoint/2010/main" val="14385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6CF4F-9AF6-5771-B4D2-DC5BFFD4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DF5D4E-AF70-82FB-E743-0B0690145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Root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72413-60BF-AC9F-7C6A-F6DF3EF022E0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root is the node at the top of the tree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1003C-C094-0E2B-92C2-C6B89D104AE7}"/>
              </a:ext>
            </a:extLst>
          </p:cNvPr>
          <p:cNvSpPr txBox="1"/>
          <p:nvPr/>
        </p:nvSpPr>
        <p:spPr>
          <a:xfrm>
            <a:off x="7217954" y="1732412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Root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0F2470-FC23-C358-42C2-1066BDD702FC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C77A8F-A48D-464D-7D47-45224B42E524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EB36B0-5AE4-EA2F-EEA8-C78E830E174C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4ECD506-27EF-63B7-373B-A4A852814CAA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F2C63A-3BA0-4FFC-292B-12C467A41D62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89CF6BD-ED16-9D4C-F44C-19E99DE7FFB5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39F0E7-5216-986C-1EF3-27BA5A8ABCC7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EB2E0C8-4AC1-D5EE-43B9-D0F291F585DD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BB58FA-0507-16C4-82E6-878AF2704987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2535C-0F48-1C77-A0BF-EDB9FB6537D3}"/>
              </a:ext>
            </a:extLst>
          </p:cNvPr>
          <p:cNvCxnSpPr>
            <a:cxnSpLocks/>
          </p:cNvCxnSpPr>
          <p:nvPr/>
        </p:nvCxnSpPr>
        <p:spPr>
          <a:xfrm>
            <a:off x="6592002" y="1961406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09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2C8D8-4E46-D6D0-C68C-D8743E98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3B515C-2325-E928-EDA5-B652F084A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Parent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75112-7719-700E-9B64-D8FE1CE2928F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parent node is a node that has one edge down to another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1C65A-C61B-7518-B910-C13766332036}"/>
              </a:ext>
            </a:extLst>
          </p:cNvPr>
          <p:cNvSpPr txBox="1"/>
          <p:nvPr/>
        </p:nvSpPr>
        <p:spPr>
          <a:xfrm>
            <a:off x="8116025" y="2818887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84390C-A7FF-B4B7-76BA-A0D752D4905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2A526A-65CA-DFA8-E6BD-A06777706D6F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449397-72CC-CFA6-A491-7133E0B5141D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4C2CFB9-B2E0-715C-4149-2CBE3BD9694C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5B41A1-175B-01E0-C1A4-AA804D36926D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2D568D4-4D4D-629F-5775-85B4C244C929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A1E9E3-4AE7-6D77-279C-63FF69D42FF0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F7D276E-0A36-9CEB-BFBD-032E83B60923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CD9813-A39A-D434-D841-A26F294AF70A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C6939B-9CB2-F7F0-AC60-B77E77F2CFFA}"/>
              </a:ext>
            </a:extLst>
          </p:cNvPr>
          <p:cNvCxnSpPr>
            <a:cxnSpLocks/>
          </p:cNvCxnSpPr>
          <p:nvPr/>
        </p:nvCxnSpPr>
        <p:spPr>
          <a:xfrm>
            <a:off x="7490073" y="3047881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97FD81-AFA6-0062-C362-01EEAE29C024}"/>
              </a:ext>
            </a:extLst>
          </p:cNvPr>
          <p:cNvSpPr txBox="1"/>
          <p:nvPr/>
        </p:nvSpPr>
        <p:spPr>
          <a:xfrm>
            <a:off x="7217954" y="1769188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A7DE4E-03E3-3B2A-FDE5-28D68AF35E5C}"/>
              </a:ext>
            </a:extLst>
          </p:cNvPr>
          <p:cNvCxnSpPr>
            <a:cxnSpLocks/>
          </p:cNvCxnSpPr>
          <p:nvPr/>
        </p:nvCxnSpPr>
        <p:spPr>
          <a:xfrm>
            <a:off x="6592002" y="1998182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E53B20-CBE4-71F2-C940-D5474013C2C8}"/>
              </a:ext>
            </a:extLst>
          </p:cNvPr>
          <p:cNvSpPr txBox="1"/>
          <p:nvPr/>
        </p:nvSpPr>
        <p:spPr>
          <a:xfrm>
            <a:off x="2738759" y="2828060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F24A5D-960E-8D5A-68D8-512315ACCA7A}"/>
              </a:ext>
            </a:extLst>
          </p:cNvPr>
          <p:cNvCxnSpPr>
            <a:cxnSpLocks/>
          </p:cNvCxnSpPr>
          <p:nvPr/>
        </p:nvCxnSpPr>
        <p:spPr>
          <a:xfrm flipH="1">
            <a:off x="3808194" y="3066587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19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04664-E433-68A4-75C8-0E5072F1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3F28C3-7EBC-43B3-B973-8799DC803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Child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44941-F24A-B8E7-BDEF-72C788D38924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child node is a node that has one edge up to another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D15D2-A1A0-BB7B-8B45-119B94A3735F}"/>
              </a:ext>
            </a:extLst>
          </p:cNvPr>
          <p:cNvSpPr txBox="1"/>
          <p:nvPr/>
        </p:nvSpPr>
        <p:spPr>
          <a:xfrm>
            <a:off x="8116025" y="2818887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Child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1316FD-D5FD-012E-70BF-C350C4FB421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255B76-D8BD-A4A5-E4B8-9B78894DC87A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1F95A7-5584-9756-D2BC-3DC8361F82F5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32C9657-0314-0644-3BF7-E69AE7EF9E2B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1C8672-363C-5ABA-6634-7F1C3B825216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06CDE5F-8FB7-0703-EF17-D7F37F86904F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09971D-D19F-0DEB-D528-538F5929F8B8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F2B2C59-3404-D61C-FCC9-D55795FFAF7E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37BC90-FA41-5AC2-1A17-2B62DCD68A37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DB79B3-DABD-41CC-560F-ECC6BA4D91C9}"/>
              </a:ext>
            </a:extLst>
          </p:cNvPr>
          <p:cNvCxnSpPr>
            <a:cxnSpLocks/>
          </p:cNvCxnSpPr>
          <p:nvPr/>
        </p:nvCxnSpPr>
        <p:spPr>
          <a:xfrm>
            <a:off x="7490073" y="3047881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9A7BBD-4287-C455-F93A-754001A2EB7E}"/>
              </a:ext>
            </a:extLst>
          </p:cNvPr>
          <p:cNvSpPr txBox="1"/>
          <p:nvPr/>
        </p:nvSpPr>
        <p:spPr>
          <a:xfrm>
            <a:off x="2738759" y="2828060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Child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0B1A73-1727-8C64-9147-4958C3148F28}"/>
              </a:ext>
            </a:extLst>
          </p:cNvPr>
          <p:cNvCxnSpPr>
            <a:cxnSpLocks/>
          </p:cNvCxnSpPr>
          <p:nvPr/>
        </p:nvCxnSpPr>
        <p:spPr>
          <a:xfrm flipH="1">
            <a:off x="3808194" y="3066587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3DCD4A-7F19-9F12-861E-68D08B8F4CDA}"/>
              </a:ext>
            </a:extLst>
          </p:cNvPr>
          <p:cNvCxnSpPr>
            <a:cxnSpLocks/>
          </p:cNvCxnSpPr>
          <p:nvPr/>
        </p:nvCxnSpPr>
        <p:spPr>
          <a:xfrm>
            <a:off x="6470860" y="4174912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7AB93C-F21A-1ECA-AFE4-3244F9AD5C52}"/>
              </a:ext>
            </a:extLst>
          </p:cNvPr>
          <p:cNvSpPr txBox="1"/>
          <p:nvPr/>
        </p:nvSpPr>
        <p:spPr>
          <a:xfrm>
            <a:off x="7065186" y="394285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Child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ADC913-95E2-9802-F78C-52297979B622}"/>
              </a:ext>
            </a:extLst>
          </p:cNvPr>
          <p:cNvCxnSpPr>
            <a:cxnSpLocks/>
          </p:cNvCxnSpPr>
          <p:nvPr/>
        </p:nvCxnSpPr>
        <p:spPr>
          <a:xfrm flipH="1">
            <a:off x="2969152" y="4106506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2EC6FA-6C59-75F7-9C95-5425FEE53CBB}"/>
              </a:ext>
            </a:extLst>
          </p:cNvPr>
          <p:cNvSpPr txBox="1"/>
          <p:nvPr/>
        </p:nvSpPr>
        <p:spPr>
          <a:xfrm>
            <a:off x="1894550" y="386703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Child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34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3961D7-D417-71C5-0B42-F5DA81A7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966111-1A39-0CA9-DD18-911EA512D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Parent/Child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EC018-A44E-5D56-346B-F60ECFE88971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node can be both parent and children if they have both incoming and outgoing edges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DB964-9123-690C-B8FD-60FCCEEC99C0}"/>
              </a:ext>
            </a:extLst>
          </p:cNvPr>
          <p:cNvSpPr txBox="1"/>
          <p:nvPr/>
        </p:nvSpPr>
        <p:spPr>
          <a:xfrm>
            <a:off x="8116025" y="2818887"/>
            <a:ext cx="19750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Parent/Child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9B0024-3738-0443-5214-97E0F12202E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2F668F-2293-0395-F634-D6A89455EB45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701386-4F28-775B-24AE-E4D7F5E4655D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2B08BEC-54BA-7AE7-9D58-2E7DCD36CE59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01A541-EE77-9137-6F0F-5A8D6ADFDEE0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01917EF-8389-F219-1EB3-CFE81C476C40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7756D5-6A95-C8C4-CA95-5163A1ACEAA3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3B30E1A-67E6-8331-2631-2C6DC7DADD3F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396D90-D17B-05F8-713C-D1E811E6AB85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6F1695-97C7-7DA6-BD78-23F9881DCA8E}"/>
              </a:ext>
            </a:extLst>
          </p:cNvPr>
          <p:cNvCxnSpPr>
            <a:cxnSpLocks/>
          </p:cNvCxnSpPr>
          <p:nvPr/>
        </p:nvCxnSpPr>
        <p:spPr>
          <a:xfrm>
            <a:off x="7490073" y="3047881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E933B3-1228-83D8-ECE2-E2C4391D3407}"/>
              </a:ext>
            </a:extLst>
          </p:cNvPr>
          <p:cNvSpPr txBox="1"/>
          <p:nvPr/>
        </p:nvSpPr>
        <p:spPr>
          <a:xfrm>
            <a:off x="1894550" y="2828060"/>
            <a:ext cx="19751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Parent/Child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1CC4F5-E45C-42B0-0FC8-F106E01EF8D6}"/>
              </a:ext>
            </a:extLst>
          </p:cNvPr>
          <p:cNvCxnSpPr>
            <a:cxnSpLocks/>
          </p:cNvCxnSpPr>
          <p:nvPr/>
        </p:nvCxnSpPr>
        <p:spPr>
          <a:xfrm flipH="1">
            <a:off x="3808194" y="3066587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6F7994-0E8D-609E-E310-F11938164CB3}"/>
              </a:ext>
            </a:extLst>
          </p:cNvPr>
          <p:cNvCxnSpPr>
            <a:cxnSpLocks/>
          </p:cNvCxnSpPr>
          <p:nvPr/>
        </p:nvCxnSpPr>
        <p:spPr>
          <a:xfrm>
            <a:off x="6470860" y="4174912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CC2A1A-6696-06FC-DCB1-2AEEDA9024DF}"/>
              </a:ext>
            </a:extLst>
          </p:cNvPr>
          <p:cNvSpPr txBox="1"/>
          <p:nvPr/>
        </p:nvSpPr>
        <p:spPr>
          <a:xfrm>
            <a:off x="7065186" y="394285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Child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AB8AA5-ECA3-7119-4451-8BAA6353C441}"/>
              </a:ext>
            </a:extLst>
          </p:cNvPr>
          <p:cNvCxnSpPr>
            <a:cxnSpLocks/>
          </p:cNvCxnSpPr>
          <p:nvPr/>
        </p:nvCxnSpPr>
        <p:spPr>
          <a:xfrm flipH="1">
            <a:off x="2969152" y="4106506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4CF7D81-1374-3356-81A5-0EF447562FCA}"/>
              </a:ext>
            </a:extLst>
          </p:cNvPr>
          <p:cNvSpPr txBox="1"/>
          <p:nvPr/>
        </p:nvSpPr>
        <p:spPr>
          <a:xfrm>
            <a:off x="1894550" y="386703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Child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5BC82-48AF-1B26-5AB4-5DE0FD5BCB20}"/>
              </a:ext>
            </a:extLst>
          </p:cNvPr>
          <p:cNvSpPr txBox="1"/>
          <p:nvPr/>
        </p:nvSpPr>
        <p:spPr>
          <a:xfrm>
            <a:off x="7217954" y="1769188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Parent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BC3F55-2007-E003-4A1C-51F2C6BF3F93}"/>
              </a:ext>
            </a:extLst>
          </p:cNvPr>
          <p:cNvCxnSpPr>
            <a:cxnSpLocks/>
          </p:cNvCxnSpPr>
          <p:nvPr/>
        </p:nvCxnSpPr>
        <p:spPr>
          <a:xfrm>
            <a:off x="6592002" y="1998182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6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DFB5E-87B0-516F-0519-F4EB992C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89CE03-0318-8F4A-D289-CEFA323C9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Siblings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78381-B2EA-A44F-1A1C-97183AEB32F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Any two children nodes that share the same parent are known as siblings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8EBB9-DECE-35B5-95EE-540E903C42CD}"/>
              </a:ext>
            </a:extLst>
          </p:cNvPr>
          <p:cNvSpPr txBox="1"/>
          <p:nvPr/>
        </p:nvSpPr>
        <p:spPr>
          <a:xfrm>
            <a:off x="8116025" y="2818887"/>
            <a:ext cx="19750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Siblings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F440CA-AF3D-C4A8-900E-E8CD4AAE66DD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39374A-2C73-0CA6-BD02-F449EF25AC77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174A9F-713D-2168-A5C4-A1547196F593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48AB5C1-40AC-AFBA-DBC6-49F0B69488E9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24C566-060B-52DC-454B-397BBCE93845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7C0F028-2876-D11D-3A26-E3AA6758BE70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79D32A-433E-FBF9-729D-22524FBC95DF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F0B920-67EB-9C92-1FDE-37631FB11AB2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8BDFB6-0A48-1AB8-6D28-4D34ED0F54C7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1843BF-9A96-592E-7370-9E58C4C7B28E}"/>
              </a:ext>
            </a:extLst>
          </p:cNvPr>
          <p:cNvCxnSpPr>
            <a:cxnSpLocks/>
          </p:cNvCxnSpPr>
          <p:nvPr/>
        </p:nvCxnSpPr>
        <p:spPr>
          <a:xfrm>
            <a:off x="7490073" y="3047881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C365BE-0D0E-B07B-1966-6D4A515EF35F}"/>
              </a:ext>
            </a:extLst>
          </p:cNvPr>
          <p:cNvSpPr txBox="1"/>
          <p:nvPr/>
        </p:nvSpPr>
        <p:spPr>
          <a:xfrm>
            <a:off x="1894550" y="2828060"/>
            <a:ext cx="19751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Siblings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67BC03-6403-6E26-AED9-D82EDAC88E14}"/>
              </a:ext>
            </a:extLst>
          </p:cNvPr>
          <p:cNvCxnSpPr>
            <a:cxnSpLocks/>
          </p:cNvCxnSpPr>
          <p:nvPr/>
        </p:nvCxnSpPr>
        <p:spPr>
          <a:xfrm flipH="1">
            <a:off x="3808194" y="3066587"/>
            <a:ext cx="703258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A2B8FC-E5F2-8119-B42C-8D62638F1D7B}"/>
              </a:ext>
            </a:extLst>
          </p:cNvPr>
          <p:cNvCxnSpPr>
            <a:cxnSpLocks/>
          </p:cNvCxnSpPr>
          <p:nvPr/>
        </p:nvCxnSpPr>
        <p:spPr>
          <a:xfrm>
            <a:off x="6470860" y="4174912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BF9E33-672E-852B-882A-ADCB88D36871}"/>
              </a:ext>
            </a:extLst>
          </p:cNvPr>
          <p:cNvSpPr txBox="1"/>
          <p:nvPr/>
        </p:nvSpPr>
        <p:spPr>
          <a:xfrm>
            <a:off x="7065186" y="3942855"/>
            <a:ext cx="144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Siblings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1A0B91-A151-AF77-CD4A-C44B4DE94680}"/>
              </a:ext>
            </a:extLst>
          </p:cNvPr>
          <p:cNvCxnSpPr>
            <a:cxnSpLocks/>
          </p:cNvCxnSpPr>
          <p:nvPr/>
        </p:nvCxnSpPr>
        <p:spPr>
          <a:xfrm flipH="1">
            <a:off x="2969152" y="4106506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F387AD-6406-A714-C285-0EAA87698C24}"/>
              </a:ext>
            </a:extLst>
          </p:cNvPr>
          <p:cNvSpPr txBox="1"/>
          <p:nvPr/>
        </p:nvSpPr>
        <p:spPr>
          <a:xfrm>
            <a:off x="1524000" y="3867035"/>
            <a:ext cx="150152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Siblings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69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74BB0-2206-75D6-5521-F54F141B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DDCBA6-5669-2B14-08A3-BDEA2C08D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Subtree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93A36-0A14-7CB2-6E16-9E286BCB8F9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subtree is a smaller tree held within a larger tree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62BE5F-021C-5BCD-BAB8-6062FBABA34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78348A-CD9F-89E8-0C29-4FAD2D8E5C40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82F2CA-587C-5E50-DB3D-34AB964C4A65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E544D61-5529-D57F-3AA7-F59BF2E5A8F7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E2F1F6-FF7B-4272-28F4-2CBBF303A022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6E3F853-3253-F027-235C-EB86D1EA1D98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181FE3-93E5-C63F-4D42-0A5726DAFB28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5D39C2E-907E-152B-5A13-FC9EC82FB18D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5D4E00-16B1-4C9D-25CC-6293EC7F9792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50A26F0B-D39A-D46A-F237-2EB7B3590801}"/>
              </a:ext>
            </a:extLst>
          </p:cNvPr>
          <p:cNvSpPr/>
          <p:nvPr/>
        </p:nvSpPr>
        <p:spPr>
          <a:xfrm>
            <a:off x="3335051" y="2560601"/>
            <a:ext cx="3266474" cy="2303694"/>
          </a:xfrm>
          <a:custGeom>
            <a:avLst/>
            <a:gdLst>
              <a:gd name="csX0" fmla="*/ 1364965 w 3266474"/>
              <a:gd name="csY0" fmla="*/ 72871 h 2303694"/>
              <a:gd name="csX1" fmla="*/ 624301 w 3266474"/>
              <a:gd name="csY1" fmla="*/ 813535 h 2303694"/>
              <a:gd name="csX2" fmla="*/ 20797 w 3266474"/>
              <a:gd name="csY2" fmla="*/ 1810231 h 2303694"/>
              <a:gd name="csX3" fmla="*/ 1401541 w 3266474"/>
              <a:gd name="csY3" fmla="*/ 2203423 h 2303694"/>
              <a:gd name="csX4" fmla="*/ 2626837 w 3266474"/>
              <a:gd name="csY4" fmla="*/ 2276575 h 2303694"/>
              <a:gd name="csX5" fmla="*/ 3257773 w 3266474"/>
              <a:gd name="csY5" fmla="*/ 1819375 h 2303694"/>
              <a:gd name="csX6" fmla="*/ 2965165 w 3266474"/>
              <a:gd name="csY6" fmla="*/ 1142719 h 2303694"/>
              <a:gd name="csX7" fmla="*/ 2553685 w 3266474"/>
              <a:gd name="csY7" fmla="*/ 968983 h 2303694"/>
              <a:gd name="csX8" fmla="*/ 2288509 w 3266474"/>
              <a:gd name="csY8" fmla="*/ 566647 h 2303694"/>
              <a:gd name="csX9" fmla="*/ 2041621 w 3266474"/>
              <a:gd name="csY9" fmla="*/ 219175 h 2303694"/>
              <a:gd name="csX10" fmla="*/ 1739869 w 3266474"/>
              <a:gd name="csY10" fmla="*/ 8863 h 2303694"/>
              <a:gd name="csX11" fmla="*/ 1438117 w 3266474"/>
              <a:gd name="csY11" fmla="*/ 36295 h 2303694"/>
              <a:gd name="csX12" fmla="*/ 1364965 w 3266474"/>
              <a:gd name="csY12" fmla="*/ 72871 h 2303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66474" h="2303694">
                <a:moveTo>
                  <a:pt x="1364965" y="72871"/>
                </a:moveTo>
                <a:cubicBezTo>
                  <a:pt x="1229329" y="202411"/>
                  <a:pt x="848329" y="523975"/>
                  <a:pt x="624301" y="813535"/>
                </a:cubicBezTo>
                <a:cubicBezTo>
                  <a:pt x="400273" y="1103095"/>
                  <a:pt x="-108743" y="1578583"/>
                  <a:pt x="20797" y="1810231"/>
                </a:cubicBezTo>
                <a:cubicBezTo>
                  <a:pt x="150337" y="2041879"/>
                  <a:pt x="967201" y="2125699"/>
                  <a:pt x="1401541" y="2203423"/>
                </a:cubicBezTo>
                <a:cubicBezTo>
                  <a:pt x="1835881" y="2281147"/>
                  <a:pt x="2317465" y="2340583"/>
                  <a:pt x="2626837" y="2276575"/>
                </a:cubicBezTo>
                <a:cubicBezTo>
                  <a:pt x="2936209" y="2212567"/>
                  <a:pt x="3201385" y="2008351"/>
                  <a:pt x="3257773" y="1819375"/>
                </a:cubicBezTo>
                <a:cubicBezTo>
                  <a:pt x="3314161" y="1630399"/>
                  <a:pt x="3082513" y="1284451"/>
                  <a:pt x="2965165" y="1142719"/>
                </a:cubicBezTo>
                <a:cubicBezTo>
                  <a:pt x="2847817" y="1000987"/>
                  <a:pt x="2666461" y="1064995"/>
                  <a:pt x="2553685" y="968983"/>
                </a:cubicBezTo>
                <a:cubicBezTo>
                  <a:pt x="2440909" y="872971"/>
                  <a:pt x="2373853" y="691615"/>
                  <a:pt x="2288509" y="566647"/>
                </a:cubicBezTo>
                <a:cubicBezTo>
                  <a:pt x="2203165" y="441679"/>
                  <a:pt x="2133061" y="312139"/>
                  <a:pt x="2041621" y="219175"/>
                </a:cubicBezTo>
                <a:cubicBezTo>
                  <a:pt x="1950181" y="126211"/>
                  <a:pt x="1840453" y="39343"/>
                  <a:pt x="1739869" y="8863"/>
                </a:cubicBezTo>
                <a:cubicBezTo>
                  <a:pt x="1639285" y="-21617"/>
                  <a:pt x="1438117" y="36295"/>
                  <a:pt x="1438117" y="36295"/>
                </a:cubicBezTo>
                <a:cubicBezTo>
                  <a:pt x="1378681" y="46963"/>
                  <a:pt x="1500601" y="-56669"/>
                  <a:pt x="1364965" y="72871"/>
                </a:cubicBezTo>
                <a:close/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4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9C351-91A4-82F9-5AD3-67BEF73F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9D5F3C1-E38E-BBAB-9A4F-9FF63A0AB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Leaf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6B1B2-4BB2-B96B-E8ED-81D7EF3DE060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leaf node is a node without any child nodes 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8A659D-AA9E-86CE-E554-EB93C3402DED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1DBE45-B8DE-D461-26BB-7AF7C58E490E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0C55D0-CA40-1BC8-2517-DD8F27BB5155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5AB5FB1-9C30-8D60-723A-1567B8B77987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08345E-C4AD-E2DC-1C82-A1038ACC201C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BFDBB59-AABF-9DAC-8D13-B4140E389F8C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99181A-3780-D09B-F2EA-EC55BECBD807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4168497-6FCF-D781-A465-DDA66CFC76A9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5CD690-3479-01FB-6099-5EF784ADC1FF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2024780-E9A6-9A2A-3254-55951F2509DD}"/>
              </a:ext>
            </a:extLst>
          </p:cNvPr>
          <p:cNvCxnSpPr>
            <a:cxnSpLocks/>
          </p:cNvCxnSpPr>
          <p:nvPr/>
        </p:nvCxnSpPr>
        <p:spPr>
          <a:xfrm>
            <a:off x="6470860" y="4174912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825D805-1C34-4EE6-0E91-8A8F02010EC9}"/>
              </a:ext>
            </a:extLst>
          </p:cNvPr>
          <p:cNvSpPr txBox="1"/>
          <p:nvPr/>
        </p:nvSpPr>
        <p:spPr>
          <a:xfrm>
            <a:off x="6751007" y="3942855"/>
            <a:ext cx="144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Leaf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CB592A-C63E-EA65-E032-88A00EE60694}"/>
              </a:ext>
            </a:extLst>
          </p:cNvPr>
          <p:cNvCxnSpPr>
            <a:cxnSpLocks/>
          </p:cNvCxnSpPr>
          <p:nvPr/>
        </p:nvCxnSpPr>
        <p:spPr>
          <a:xfrm flipH="1">
            <a:off x="2969152" y="4106506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B72700-DDE5-2C12-FCBE-4430BED1DBD8}"/>
              </a:ext>
            </a:extLst>
          </p:cNvPr>
          <p:cNvSpPr txBox="1"/>
          <p:nvPr/>
        </p:nvSpPr>
        <p:spPr>
          <a:xfrm>
            <a:off x="1442123" y="3867035"/>
            <a:ext cx="150152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Leaf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4990C7-53A1-215E-9316-59E868AE279A}"/>
              </a:ext>
            </a:extLst>
          </p:cNvPr>
          <p:cNvCxnSpPr>
            <a:cxnSpLocks/>
          </p:cNvCxnSpPr>
          <p:nvPr/>
        </p:nvCxnSpPr>
        <p:spPr>
          <a:xfrm>
            <a:off x="7401554" y="3059775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A500EB-F93C-6A16-143C-917773CE2E08}"/>
              </a:ext>
            </a:extLst>
          </p:cNvPr>
          <p:cNvSpPr txBox="1"/>
          <p:nvPr/>
        </p:nvSpPr>
        <p:spPr>
          <a:xfrm>
            <a:off x="7733863" y="2827718"/>
            <a:ext cx="144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Leaf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21" name="Graphic 20" descr="Leaf with solid fill">
            <a:extLst>
              <a:ext uri="{FF2B5EF4-FFF2-40B4-BE49-F238E27FC236}">
                <a16:creationId xmlns:a16="http://schemas.microsoft.com/office/drawing/2014/main" id="{5B447E15-D51D-51A3-52CF-0417CBE23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7275" y="3941099"/>
            <a:ext cx="360000" cy="360000"/>
          </a:xfrm>
          <a:prstGeom prst="rect">
            <a:avLst/>
          </a:prstGeom>
        </p:spPr>
      </p:pic>
      <p:pic>
        <p:nvPicPr>
          <p:cNvPr id="22" name="Graphic 21" descr="Leaf with solid fill">
            <a:extLst>
              <a:ext uri="{FF2B5EF4-FFF2-40B4-BE49-F238E27FC236}">
                <a16:creationId xmlns:a16="http://schemas.microsoft.com/office/drawing/2014/main" id="{4B229C91-F48E-30E7-24FC-07704C4A3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3007" y="3994682"/>
            <a:ext cx="360000" cy="360000"/>
          </a:xfrm>
          <a:prstGeom prst="rect">
            <a:avLst/>
          </a:prstGeom>
        </p:spPr>
      </p:pic>
      <p:pic>
        <p:nvPicPr>
          <p:cNvPr id="23" name="Graphic 22" descr="Leaf with solid fill">
            <a:extLst>
              <a:ext uri="{FF2B5EF4-FFF2-40B4-BE49-F238E27FC236}">
                <a16:creationId xmlns:a16="http://schemas.microsoft.com/office/drawing/2014/main" id="{2E49D88F-C918-0BCF-3F39-7A08A70C2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935" y="287977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75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33318-6F24-A3D3-CFFA-3A187838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720008-CFC5-B765-FBA9-72D44FD6E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6977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Properties of a Tree</a:t>
            </a:r>
            <a:endParaRPr lang="en-PH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83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304F7-795E-FE54-99B7-B4C60925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25E12D3-13E9-5FEF-5064-F43A580B0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Size of the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84060-D698-CC24-90C7-89BD766BA036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The size of the tree is the total number of nodes in a tree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5D5848-B60B-AB44-69AF-815C538913C1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A427B4-2A7A-7875-AE02-F67FACC9F613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C9866D-AD8D-EBEC-042C-2F09C6BD7FE6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B991EA7-A025-E6D1-F094-4DA7CE90E742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5B0745-3ECF-E6A0-1C61-F59776DFD2F1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B2E7F02-32DF-5A09-52AC-20B7BDDEC636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C5E59-C718-E33A-ED9F-5922AD5421AC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3C0AEAE-E362-038A-E655-A45E18396F22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DC6D57-7371-E71F-2751-F8FECF6D66A5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91DB84-3D16-A797-990E-89175F9B3127}"/>
              </a:ext>
            </a:extLst>
          </p:cNvPr>
          <p:cNvCxnSpPr>
            <a:cxnSpLocks/>
          </p:cNvCxnSpPr>
          <p:nvPr/>
        </p:nvCxnSpPr>
        <p:spPr>
          <a:xfrm flipH="1">
            <a:off x="7897768" y="3118954"/>
            <a:ext cx="594326" cy="0"/>
          </a:xfrm>
          <a:prstGeom prst="straightConnector1">
            <a:avLst/>
          </a:prstGeom>
          <a:ln w="5715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AF4F6CD-0333-93BA-553D-45D180FAA482}"/>
              </a:ext>
            </a:extLst>
          </p:cNvPr>
          <p:cNvSpPr txBox="1"/>
          <p:nvPr/>
        </p:nvSpPr>
        <p:spPr>
          <a:xfrm>
            <a:off x="8492094" y="2859780"/>
            <a:ext cx="15447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Size = 6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907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0A6A2-32A8-DAA1-10B6-05E99693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EAAA8B-8ACC-D47E-1C94-660C277A7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Level of the Tree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470D9-64A5-B7F6-08EE-72AA2C43AC3A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Level is the rank of tree hierarchy. </a:t>
            </a:r>
            <a:r>
              <a:rPr lang="en-PH" sz="2500" b="1" dirty="0">
                <a:solidFill>
                  <a:schemeClr val="bg1"/>
                </a:solidFill>
              </a:rPr>
              <a:t>The level of the root node is always 0</a:t>
            </a:r>
            <a:r>
              <a:rPr lang="en-PH" sz="2500" dirty="0">
                <a:solidFill>
                  <a:schemeClr val="bg1"/>
                </a:solidFill>
              </a:rPr>
              <a:t>, the children of root are at level1 and so on. 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98FC27-2F39-03A3-1C38-66B731F74F9F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2F9F13-3E23-BFA1-7852-2A0045C26514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DB58A6-6322-089C-38A3-8D7E38F1045D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8423647-56AC-ECB8-92F5-093EE61F33A1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D52519-9095-C5D9-791E-351A5C58C4D0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997D1AC-ED2F-55AF-BE92-EA4DAA189FF5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EEF239-4688-93ED-7DCE-5BDA576899D1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3EC44C7-5240-C568-F3D8-0377CE834EAA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E0B646-C6CB-96C1-A251-95F9DFFCA87B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CB70A2-3D15-6921-F103-DB89D8C3EA2D}"/>
              </a:ext>
            </a:extLst>
          </p:cNvPr>
          <p:cNvCxnSpPr>
            <a:cxnSpLocks/>
          </p:cNvCxnSpPr>
          <p:nvPr/>
        </p:nvCxnSpPr>
        <p:spPr>
          <a:xfrm flipH="1">
            <a:off x="3031013" y="2416958"/>
            <a:ext cx="6607146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437CD83-792B-B999-043E-E75BE6F87057}"/>
              </a:ext>
            </a:extLst>
          </p:cNvPr>
          <p:cNvSpPr txBox="1"/>
          <p:nvPr/>
        </p:nvSpPr>
        <p:spPr>
          <a:xfrm>
            <a:off x="8413149" y="1950459"/>
            <a:ext cx="15447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Level 0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09D003-A854-9F5E-678E-080B086577AC}"/>
              </a:ext>
            </a:extLst>
          </p:cNvPr>
          <p:cNvCxnSpPr>
            <a:cxnSpLocks/>
          </p:cNvCxnSpPr>
          <p:nvPr/>
        </p:nvCxnSpPr>
        <p:spPr>
          <a:xfrm flipH="1">
            <a:off x="3037967" y="3547926"/>
            <a:ext cx="6607146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280E2C-3D6F-786C-9855-36590A6CBE6D}"/>
              </a:ext>
            </a:extLst>
          </p:cNvPr>
          <p:cNvCxnSpPr>
            <a:cxnSpLocks/>
          </p:cNvCxnSpPr>
          <p:nvPr/>
        </p:nvCxnSpPr>
        <p:spPr>
          <a:xfrm flipH="1">
            <a:off x="3031013" y="4638789"/>
            <a:ext cx="6607146" cy="0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8A181-87EE-9D56-0D79-EE1D8AF2DCA2}"/>
              </a:ext>
            </a:extLst>
          </p:cNvPr>
          <p:cNvSpPr txBox="1"/>
          <p:nvPr/>
        </p:nvSpPr>
        <p:spPr>
          <a:xfrm>
            <a:off x="8413149" y="3046010"/>
            <a:ext cx="15447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Level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A8592B-B744-79FD-A303-97AA96ED0BFD}"/>
              </a:ext>
            </a:extLst>
          </p:cNvPr>
          <p:cNvSpPr txBox="1"/>
          <p:nvPr/>
        </p:nvSpPr>
        <p:spPr>
          <a:xfrm>
            <a:off x="8413149" y="4121099"/>
            <a:ext cx="15447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Level 2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916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3C743-070F-6D8C-BAF1-05B87622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2AEAF55-FF3F-8878-2A96-990EC5171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9CF73-A460-B456-E29A-E5954AD1E717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The height of the node is the total number of edges on the longest downward path from a specific node to a leaf node.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4F96D0-EA16-58A4-8880-991330AF7244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1F1E89-5E00-B5EC-5788-EE8428B443C1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AF6738-8B85-2235-4568-5FA2D8E15B71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0124B4F-6246-4825-E483-6CF53318B681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E2511-C0B6-9A10-96D6-59CF326DBE07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18452E7-5314-5F68-6822-1AA0EA3BF9F6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CC6260-CEAB-8FB3-4AA1-31168561E3D9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B4964FD-4EAB-F72E-6E9F-1AC49C9714C6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4840BF-6BDA-41A9-3D35-A2D0DCEDB4E5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903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C8468-3744-00E4-0370-557C4F92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6FD606-AF53-EDF4-DF87-67BC82DEF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C1537-E808-1826-6782-817B60215BC5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The height of node 1 is two because the longest downward path is to node 4 and node 5 which are the deepest leaf nodes.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315C13-B653-2AF2-ADA5-9669625AB999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425E19-98D2-C43B-72F7-81172C360315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666B9E-EC3D-A73D-351F-0D09DEBC4FCE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F1408DF-5D3F-8984-5461-476E790E19E6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60C600-D380-96D1-2787-103F56AA37E5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8C47DD1-313C-0ECA-3320-D18635DEA108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847580-B82D-AD2F-3E23-038DD46E677B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CAB00E7-4B38-36AE-2C25-24D71CDDC58C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E63C16-FE9F-ADF2-49E2-82038DC97458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F95856-EDED-6D87-F1B6-8BAE022365D9}"/>
              </a:ext>
            </a:extLst>
          </p:cNvPr>
          <p:cNvSpPr txBox="1"/>
          <p:nvPr/>
        </p:nvSpPr>
        <p:spPr>
          <a:xfrm>
            <a:off x="6687127" y="1730415"/>
            <a:ext cx="32708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1 is two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74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61ABC-BF2E-711F-C93A-EADA89CA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6E3E6F-8785-3E8F-8693-5294BA0C0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31858-A32B-432A-D270-8A6E52C37D1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Node 3 is a leaf node that is why its height is zero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4C3F38-9A2C-10DE-6505-E500E2845FB5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717D25-A827-C058-BBE4-86694F508126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5A4B4-51AC-5237-2B23-8B46F90FD7C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D90391F-E259-D0AE-C1E5-A8840A3A0047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13604E-2D0D-7396-BFDD-DC5A6069EC5F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4A98358-2E0A-93B8-A056-9129B527924C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9E304E-7428-EF5D-F671-CF43893B2E81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6C5DB12-6860-DA40-640F-10F4365EAEBC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861C4F-D40D-DA02-8EC6-471726B1EBE0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74E60B8-1F0D-A91C-5973-7A3647F1E9B1}"/>
              </a:ext>
            </a:extLst>
          </p:cNvPr>
          <p:cNvSpPr txBox="1"/>
          <p:nvPr/>
        </p:nvSpPr>
        <p:spPr>
          <a:xfrm>
            <a:off x="6687127" y="1730415"/>
            <a:ext cx="32708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1 is two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B6AA06-837D-5C9F-FFE6-16FC03303649}"/>
              </a:ext>
            </a:extLst>
          </p:cNvPr>
          <p:cNvSpPr txBox="1"/>
          <p:nvPr/>
        </p:nvSpPr>
        <p:spPr>
          <a:xfrm>
            <a:off x="7217954" y="2809401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3 is zero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298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0B751-BC03-35D0-9A4D-8B242B25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2065A9-439C-0680-A5CE-F652A1287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810C9-6317-70F6-EE3B-D2DD54C233D0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Node 2 is one edge away from the deepest leaf nodes 4 and 5 that is why its height is one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F18FB4-824F-4814-DD08-F7C837C75037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97A7DD-6880-2DC5-DC80-B77F9C8DD827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CC4B73-54CB-73E1-79B4-A6BB62677A3B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C9A91A3-9693-2B29-09B9-BF8CB1D1A0CD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53459C-783B-8276-0ADD-67AB63D4CDCC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7C929EB-CA0D-8B9E-3C48-98155B3F7234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E6478A-F082-763A-8922-41FD9D601F85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349140D-FB4C-59AA-98BB-B9AC0FD28E1E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47594F-C8E3-DCE1-428B-C2C430670682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15F6B05-AFF8-4C42-ACEA-BD53C0790AE7}"/>
              </a:ext>
            </a:extLst>
          </p:cNvPr>
          <p:cNvSpPr txBox="1"/>
          <p:nvPr/>
        </p:nvSpPr>
        <p:spPr>
          <a:xfrm>
            <a:off x="6687127" y="1730415"/>
            <a:ext cx="32708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1 is two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45FD7-0D2F-C8E7-439A-2DFEB0303984}"/>
              </a:ext>
            </a:extLst>
          </p:cNvPr>
          <p:cNvSpPr txBox="1"/>
          <p:nvPr/>
        </p:nvSpPr>
        <p:spPr>
          <a:xfrm>
            <a:off x="7217954" y="2809401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3 is zero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DE4D8-93A1-6139-7735-AD633467A5C8}"/>
              </a:ext>
            </a:extLst>
          </p:cNvPr>
          <p:cNvSpPr txBox="1"/>
          <p:nvPr/>
        </p:nvSpPr>
        <p:spPr>
          <a:xfrm>
            <a:off x="1205643" y="2943428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2 is one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70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793A5-39FB-5E52-0E96-43D8F317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BD32CE-BC2F-E8FD-02E1-885A023D7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A71E4-F989-5857-DC8C-2F9DF1B93C4C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Because both nodes 4 and 5 are leaf nodes, their height is zero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8E64CF-2FDF-BD2E-6B7A-2238FB4EBB29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9F8B4F-4D67-C26A-6CDC-0BB22BE3CB33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E13AA7-AED9-7C6F-A9B4-F65C779A72DA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2E04B9-ADEE-B8D5-0DBC-9B0B1C888E24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CB31FB-776D-214B-BDCC-B404BC5C5F42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48ED6D7-FEDB-8CD2-5901-C0BDC2B66CDB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5FE023-62CE-6F92-13F1-D0E4D4B768D4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C074E43-0F0B-C2FB-03F8-54AA3CD607F1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9FEC3-E29F-1FAE-C573-F705DB66679B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6E602BD-2A64-F86D-E073-E69DF36A7790}"/>
              </a:ext>
            </a:extLst>
          </p:cNvPr>
          <p:cNvSpPr txBox="1"/>
          <p:nvPr/>
        </p:nvSpPr>
        <p:spPr>
          <a:xfrm>
            <a:off x="6687127" y="1730415"/>
            <a:ext cx="32708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1 is two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12CAB-2A76-3A50-D068-7F0AF2D7DFA2}"/>
              </a:ext>
            </a:extLst>
          </p:cNvPr>
          <p:cNvSpPr txBox="1"/>
          <p:nvPr/>
        </p:nvSpPr>
        <p:spPr>
          <a:xfrm>
            <a:off x="7217954" y="2809401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3 is zero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706F5-AE90-51AB-B380-9BEC8B006BB0}"/>
              </a:ext>
            </a:extLst>
          </p:cNvPr>
          <p:cNvSpPr txBox="1"/>
          <p:nvPr/>
        </p:nvSpPr>
        <p:spPr>
          <a:xfrm>
            <a:off x="321027" y="3882572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4 is zero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F4FB5-7252-8F92-7C3F-520E022C8DC3}"/>
              </a:ext>
            </a:extLst>
          </p:cNvPr>
          <p:cNvSpPr txBox="1"/>
          <p:nvPr/>
        </p:nvSpPr>
        <p:spPr>
          <a:xfrm>
            <a:off x="1205643" y="2943428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2 is one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62BFC-7F9F-CE42-E5C1-168762A95F4E}"/>
              </a:ext>
            </a:extLst>
          </p:cNvPr>
          <p:cNvSpPr txBox="1"/>
          <p:nvPr/>
        </p:nvSpPr>
        <p:spPr>
          <a:xfrm>
            <a:off x="6603396" y="3882572"/>
            <a:ext cx="345004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 of Node 5 is zero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412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7580A-C305-1C90-E530-7CB6AA10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BAC695-496E-5971-D875-5E7CD06A4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2EC865-65DA-8442-03C5-23069A5ED332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A6ED49-1F43-C327-346E-7C41A46AFD50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EA660-D160-5BF3-2494-EC8A0D3CC6A7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CCEF7F6-6AB2-A4A8-F341-7520B78DA501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2091A7-EB10-6D3A-BDA8-C8CD2A0B4B98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801FA88-8B28-41A6-D06B-3600326AB6C1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232AED-CAFC-54A3-576A-EB89E1BFFC48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3195B7E-C381-614A-78EB-460F69846590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494010-17F9-5667-BB06-D844FEA9E51D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89686EF-C648-4819-36D8-21853BFD357C}"/>
              </a:ext>
            </a:extLst>
          </p:cNvPr>
          <p:cNvSpPr txBox="1"/>
          <p:nvPr/>
        </p:nvSpPr>
        <p:spPr>
          <a:xfrm>
            <a:off x="6497954" y="1736230"/>
            <a:ext cx="13886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973EB4-EC31-D335-ECB6-B69FE4E8D383}"/>
              </a:ext>
            </a:extLst>
          </p:cNvPr>
          <p:cNvSpPr txBox="1"/>
          <p:nvPr/>
        </p:nvSpPr>
        <p:spPr>
          <a:xfrm>
            <a:off x="7217954" y="2809401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D7BE8-DDD4-835D-F0F9-48BBE47CBBAD}"/>
              </a:ext>
            </a:extLst>
          </p:cNvPr>
          <p:cNvSpPr txBox="1"/>
          <p:nvPr/>
        </p:nvSpPr>
        <p:spPr>
          <a:xfrm>
            <a:off x="2167044" y="3882572"/>
            <a:ext cx="14906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B5E8F-9330-48C7-B826-F1EDDAB6CA63}"/>
              </a:ext>
            </a:extLst>
          </p:cNvPr>
          <p:cNvSpPr txBox="1"/>
          <p:nvPr/>
        </p:nvSpPr>
        <p:spPr>
          <a:xfrm>
            <a:off x="3021882" y="2809401"/>
            <a:ext cx="14691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6966BC-108F-371D-8450-19BAB6C3692A}"/>
              </a:ext>
            </a:extLst>
          </p:cNvPr>
          <p:cNvSpPr txBox="1"/>
          <p:nvPr/>
        </p:nvSpPr>
        <p:spPr>
          <a:xfrm>
            <a:off x="6416270" y="3887189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0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546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660C7B-59AC-6B75-2817-6EA9D7E3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71A428-8F71-DC82-C6CD-4C37F7576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61174-1DA6-BB27-E51F-74458FE8D993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depth of a node is the total number of edges from the root node to a specific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31B6A1-0975-36FF-F993-4440E03AD02E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25F5A0-FE13-82DB-5447-8A5CA0459870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18E28B-9159-9806-C916-AB0D164B06F1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216A4BA-56A4-FDFC-92E1-8C810547A451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55DDE1-85A6-4840-51E0-AC972280516B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C60A2E3-C19B-6A21-2F83-83E9A621F37D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0DAA32-9FB4-EB6C-D273-12D362680862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1D28BA4-17C6-BAB4-8278-2B91E1564D49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991B36-8EDB-9B25-3B03-D2F61E93E855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936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0086B-6D55-F761-D735-F59E9B274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79D3F3-4A84-8544-0A07-C87427540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644FB-A21A-61B2-6774-F03CC83A106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depth of a node is the the number of edges from the root to that specific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B05ABF-20A1-7CA3-2FC9-87C2350327EA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0B214-7A06-BF3C-F272-D3942181CCB6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FB0D52-50CF-D893-4026-81185C8EBEF3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296C52B-661C-D9F4-107D-1718FBDA7794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EE13DF-D5C6-D685-39DE-6E78CCFE7A18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D2879B-1388-4BB7-C80A-55FEC1ABB0F0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35BC0C-581E-0C3A-1E39-2B60BDFF400B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66F7A35-592E-8925-E221-44F21E5B84F3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40C4A7-FB80-72C5-2FC5-7084744B7D03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FFF5052-691E-775E-8B4A-5EC01DB94ADC}"/>
              </a:ext>
            </a:extLst>
          </p:cNvPr>
          <p:cNvSpPr txBox="1"/>
          <p:nvPr/>
        </p:nvSpPr>
        <p:spPr>
          <a:xfrm>
            <a:off x="6497954" y="1736230"/>
            <a:ext cx="13886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0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091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A73C7-885B-2E59-2117-E2A7F1FA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EF02EB-140A-F46E-5BD2-88F9E746F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9DF4D-B915-676E-E67A-AC5270D2BDB3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depth of a node is the the number of edges from the root to that specific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BBA117-5296-EC3F-C3B1-8761A3541C9D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7B496A-9FBE-1368-CCF6-ED868D2DC36D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A16A34-049A-FC0E-C396-02484138CB64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284054E-5997-EB28-BF86-14AC516405C4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426321-F651-F9B3-D20A-6E20FBA3D29D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411358D-8F41-7A79-33A9-FA2BFC48A51F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5413D3-6F71-10D5-A049-4AB06FD6BEBF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16600D9-4DF0-9C1F-CBB1-94F5CCEFDE67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D44606-1CF7-0E97-1790-75CDADF94625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5613CD8-3598-B6B9-8558-7B84B63004EF}"/>
              </a:ext>
            </a:extLst>
          </p:cNvPr>
          <p:cNvSpPr txBox="1"/>
          <p:nvPr/>
        </p:nvSpPr>
        <p:spPr>
          <a:xfrm>
            <a:off x="6497954" y="1736230"/>
            <a:ext cx="13886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F46F7-8891-5023-9B35-2C4F436F0BC7}"/>
              </a:ext>
            </a:extLst>
          </p:cNvPr>
          <p:cNvSpPr txBox="1"/>
          <p:nvPr/>
        </p:nvSpPr>
        <p:spPr>
          <a:xfrm>
            <a:off x="7217954" y="2809401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0AA36-0797-5FDD-8C8A-59CA159D3D84}"/>
              </a:ext>
            </a:extLst>
          </p:cNvPr>
          <p:cNvSpPr txBox="1"/>
          <p:nvPr/>
        </p:nvSpPr>
        <p:spPr>
          <a:xfrm>
            <a:off x="3021882" y="2809401"/>
            <a:ext cx="14691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1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742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64CE5-DB8D-93EC-E10D-F9A3B4D4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9851BC7-FCBB-699B-B112-F0FE0782B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of a 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DBB3-6B1F-C30C-4FBF-C8A72BF1765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depth of a node is the the number of edges from the root to that specific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880311-7214-9CF7-B286-4BE246DCA4F8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CD717A-92CF-C6B5-DAD7-35D5BBEDEC4C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5BBEB2-1BE3-0623-A4AB-58C6B171F2D2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C260D48-6ECB-2529-2070-D7D0C5691EA3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2752F9-081E-2F8B-9E3E-32850BC713CA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C88CEB4-09B4-B553-FBEC-BAECD35EAECB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C184A4-12FE-9D4D-A386-A3C3AA3DC08C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CE97105-E881-86C7-C3B0-A9784ECE90C0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4E0CBA-74F7-3B04-B99B-323A5BC12288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4DBE1C3-DAEB-99D4-94BC-9E80CF93CC20}"/>
              </a:ext>
            </a:extLst>
          </p:cNvPr>
          <p:cNvSpPr txBox="1"/>
          <p:nvPr/>
        </p:nvSpPr>
        <p:spPr>
          <a:xfrm>
            <a:off x="6497954" y="1736230"/>
            <a:ext cx="13886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A6751-63FA-54B9-5980-5830AE1800FE}"/>
              </a:ext>
            </a:extLst>
          </p:cNvPr>
          <p:cNvSpPr txBox="1"/>
          <p:nvPr/>
        </p:nvSpPr>
        <p:spPr>
          <a:xfrm>
            <a:off x="7217954" y="2809401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8F4A3-A86E-AF40-6989-98FAB2A15683}"/>
              </a:ext>
            </a:extLst>
          </p:cNvPr>
          <p:cNvSpPr txBox="1"/>
          <p:nvPr/>
        </p:nvSpPr>
        <p:spPr>
          <a:xfrm>
            <a:off x="2167044" y="3882572"/>
            <a:ext cx="14906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FE94-7E18-92C0-A2E9-F64E5AB3E225}"/>
              </a:ext>
            </a:extLst>
          </p:cNvPr>
          <p:cNvSpPr txBox="1"/>
          <p:nvPr/>
        </p:nvSpPr>
        <p:spPr>
          <a:xfrm>
            <a:off x="3021882" y="2809401"/>
            <a:ext cx="14691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91078-1930-F43C-64B8-92E78A0B2012}"/>
              </a:ext>
            </a:extLst>
          </p:cNvPr>
          <p:cNvSpPr txBox="1"/>
          <p:nvPr/>
        </p:nvSpPr>
        <p:spPr>
          <a:xfrm>
            <a:off x="6416270" y="3887189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2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268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6928A-0D99-43DB-F5D9-E0453757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190D145-156F-D42C-C264-17C79F98F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Height and Depth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327922-BC73-4E42-E645-0F996D3C92CA}"/>
              </a:ext>
            </a:extLst>
          </p:cNvPr>
          <p:cNvSpPr/>
          <p:nvPr/>
        </p:nvSpPr>
        <p:spPr>
          <a:xfrm>
            <a:off x="561458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D1CF36-9785-5197-F4C7-00199C04B66F}"/>
              </a:ext>
            </a:extLst>
          </p:cNvPr>
          <p:cNvSpPr/>
          <p:nvPr/>
        </p:nvSpPr>
        <p:spPr>
          <a:xfrm>
            <a:off x="4647487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5C69EB-7D63-6DBC-1D01-19F4FCE02135}"/>
              </a:ext>
            </a:extLst>
          </p:cNvPr>
          <p:cNvCxnSpPr>
            <a:cxnSpLocks/>
            <a:stCxn id="8" idx="7"/>
            <a:endCxn id="7" idx="3"/>
          </p:cNvCxnSpPr>
          <p:nvPr/>
        </p:nvCxnSpPr>
        <p:spPr>
          <a:xfrm flipV="1">
            <a:off x="5262045" y="2251287"/>
            <a:ext cx="457983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F6CF510-E115-513F-864D-1CD0B56BC3A2}"/>
              </a:ext>
            </a:extLst>
          </p:cNvPr>
          <p:cNvSpPr/>
          <p:nvPr/>
        </p:nvSpPr>
        <p:spPr>
          <a:xfrm>
            <a:off x="377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9BB60F-4C3C-BDD4-E29D-39222B88C656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4385631" y="3336834"/>
            <a:ext cx="367298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3933A5B-B7A0-1149-B7BA-40B72BA7BA24}"/>
              </a:ext>
            </a:extLst>
          </p:cNvPr>
          <p:cNvSpPr/>
          <p:nvPr/>
        </p:nvSpPr>
        <p:spPr>
          <a:xfrm>
            <a:off x="6497954" y="2722276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33AD5F-D6FA-38E7-3941-0DB0EC9F641A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6229144" y="2251287"/>
            <a:ext cx="374252" cy="576431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EFD060C-3585-2CB0-8C5D-C716DF7C21D8}"/>
              </a:ext>
            </a:extLst>
          </p:cNvPr>
          <p:cNvSpPr/>
          <p:nvPr/>
        </p:nvSpPr>
        <p:spPr>
          <a:xfrm>
            <a:off x="562154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FEEA88-C9A6-2856-620D-2F3A6282EA99}"/>
              </a:ext>
            </a:extLst>
          </p:cNvPr>
          <p:cNvCxnSpPr>
            <a:cxnSpLocks/>
            <a:stCxn id="18" idx="1"/>
            <a:endCxn id="8" idx="5"/>
          </p:cNvCxnSpPr>
          <p:nvPr/>
        </p:nvCxnSpPr>
        <p:spPr>
          <a:xfrm flipH="1" flipV="1">
            <a:off x="5262045" y="3336834"/>
            <a:ext cx="464937" cy="52970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1324D38-44D0-36E3-17BF-549271BDB7AC}"/>
              </a:ext>
            </a:extLst>
          </p:cNvPr>
          <p:cNvSpPr txBox="1"/>
          <p:nvPr/>
        </p:nvSpPr>
        <p:spPr>
          <a:xfrm>
            <a:off x="6334586" y="1881805"/>
            <a:ext cx="13886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E213E-8B3E-33CD-F1DE-10CB52F1612A}"/>
              </a:ext>
            </a:extLst>
          </p:cNvPr>
          <p:cNvSpPr txBox="1"/>
          <p:nvPr/>
        </p:nvSpPr>
        <p:spPr>
          <a:xfrm>
            <a:off x="7126199" y="3013442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EAE84-52A8-86BE-31CE-B30851B97E93}"/>
              </a:ext>
            </a:extLst>
          </p:cNvPr>
          <p:cNvSpPr txBox="1"/>
          <p:nvPr/>
        </p:nvSpPr>
        <p:spPr>
          <a:xfrm>
            <a:off x="2243027" y="4085889"/>
            <a:ext cx="14906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235CF-5CC0-7E22-0C94-2211065F7380}"/>
              </a:ext>
            </a:extLst>
          </p:cNvPr>
          <p:cNvSpPr txBox="1"/>
          <p:nvPr/>
        </p:nvSpPr>
        <p:spPr>
          <a:xfrm>
            <a:off x="3087672" y="3021771"/>
            <a:ext cx="14691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BB535-A49F-E952-5FB9-EC08E36D4841}"/>
              </a:ext>
            </a:extLst>
          </p:cNvPr>
          <p:cNvSpPr txBox="1"/>
          <p:nvPr/>
        </p:nvSpPr>
        <p:spPr>
          <a:xfrm>
            <a:off x="6190561" y="4058671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Depth: 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B711D-4845-CA83-4BAA-342EB42F1E5D}"/>
              </a:ext>
            </a:extLst>
          </p:cNvPr>
          <p:cNvSpPr txBox="1"/>
          <p:nvPr/>
        </p:nvSpPr>
        <p:spPr>
          <a:xfrm>
            <a:off x="6360261" y="1519675"/>
            <a:ext cx="13886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8D5A0-A7A7-1E5A-569B-8C65282B30EB}"/>
              </a:ext>
            </a:extLst>
          </p:cNvPr>
          <p:cNvSpPr txBox="1"/>
          <p:nvPr/>
        </p:nvSpPr>
        <p:spPr>
          <a:xfrm>
            <a:off x="7157140" y="2657110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DF584D-BA3A-E0B2-6E46-EEED6C460520}"/>
              </a:ext>
            </a:extLst>
          </p:cNvPr>
          <p:cNvSpPr txBox="1"/>
          <p:nvPr/>
        </p:nvSpPr>
        <p:spPr>
          <a:xfrm>
            <a:off x="2280392" y="3723724"/>
            <a:ext cx="14906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0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A317F-3707-8312-F0C9-FEC05A36961A}"/>
              </a:ext>
            </a:extLst>
          </p:cNvPr>
          <p:cNvSpPr txBox="1"/>
          <p:nvPr/>
        </p:nvSpPr>
        <p:spPr>
          <a:xfrm>
            <a:off x="3109681" y="2641095"/>
            <a:ext cx="14691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1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C0CD8C-4FB1-30F8-7ED2-591B93E73E76}"/>
              </a:ext>
            </a:extLst>
          </p:cNvPr>
          <p:cNvSpPr txBox="1"/>
          <p:nvPr/>
        </p:nvSpPr>
        <p:spPr>
          <a:xfrm>
            <a:off x="6229144" y="3712936"/>
            <a:ext cx="16774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Height: 0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07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1408</TotalTime>
  <Words>720</Words>
  <Application>Microsoft Macintosh PowerPoint</Application>
  <PresentationFormat>Widescreen</PresentationFormat>
  <Paragraphs>250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Trees</vt:lpstr>
      <vt:lpstr>Trees</vt:lpstr>
      <vt:lpstr>Node</vt:lpstr>
      <vt:lpstr>Edge</vt:lpstr>
      <vt:lpstr>Root</vt:lpstr>
      <vt:lpstr>Parent</vt:lpstr>
      <vt:lpstr>Child</vt:lpstr>
      <vt:lpstr>Parent/Child</vt:lpstr>
      <vt:lpstr>Siblings</vt:lpstr>
      <vt:lpstr>Subtree</vt:lpstr>
      <vt:lpstr>Leaf</vt:lpstr>
      <vt:lpstr>Properties of a Tree</vt:lpstr>
      <vt:lpstr>Size of the Tree</vt:lpstr>
      <vt:lpstr>Level of the Tree</vt:lpstr>
      <vt:lpstr>Height of a Node</vt:lpstr>
      <vt:lpstr>Height of a Node</vt:lpstr>
      <vt:lpstr>Height of a Node</vt:lpstr>
      <vt:lpstr>Height of a Node</vt:lpstr>
      <vt:lpstr>Height of a Node</vt:lpstr>
      <vt:lpstr>Height of a Node</vt:lpstr>
      <vt:lpstr>Depth of a Node</vt:lpstr>
      <vt:lpstr>Depth of a Node</vt:lpstr>
      <vt:lpstr>Depth of a Node</vt:lpstr>
      <vt:lpstr>Depth of a Node</vt:lpstr>
      <vt:lpstr>Height and Depth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Elizer Jr. D. Ponio</cp:lastModifiedBy>
  <cp:revision>122</cp:revision>
  <dcterms:created xsi:type="dcterms:W3CDTF">2022-05-11T03:47:05Z</dcterms:created>
  <dcterms:modified xsi:type="dcterms:W3CDTF">2026-06-22T02:28:16Z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