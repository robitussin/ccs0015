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93" r:id="rId5"/>
    <p:sldId id="324" r:id="rId6"/>
    <p:sldId id="349" r:id="rId7"/>
    <p:sldId id="348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70" autoAdjust="0"/>
    <p:restoredTop sz="93624" autoAdjust="0"/>
  </p:normalViewPr>
  <p:slideViewPr>
    <p:cSldViewPr snapToGrid="0">
      <p:cViewPr>
        <p:scale>
          <a:sx n="100" d="100"/>
          <a:sy n="100" d="100"/>
        </p:scale>
        <p:origin x="2688" y="1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7457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D2196-DF9F-F0B9-0E28-A489FDB80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CEF0B-39A4-CBA4-32D9-6D565CB56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ABFA3-AC5D-E639-8D74-BD1886834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569BE-2162-BCC1-B2D8-6CD3DAE33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28333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3E214-3979-897F-2AE0-43BBFCE7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58092-466D-14D4-1520-FB9C2648F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806B0-E3AF-236C-4E17-B46EB67B2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B072A-281D-D25A-0817-E252BD3E6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7239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FEA8-6230-7BF4-EC7D-0D10507E6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CC304-BFA5-C13D-0D8A-C72A76699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99F87-52C9-83CB-1BFA-BF5B4330C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6CB22-7CD1-F0B1-7F19-5C193751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13196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6DA75-0631-5C32-8E3F-17BBE032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D5E61-8256-34CF-BFD5-AA9C330D6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C1D8B-0594-290F-F010-45ACBFC3D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A61C5-5032-B752-741E-0CFFF2C66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09225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77C3-6877-7493-D14C-DE4C0F74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27FA0-63D7-1382-02C4-999EFFEB6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09986-6315-4A62-6183-B5B0C4B37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BAD73-0671-7D20-5503-8AB31C2D3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8709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96F1A-421E-AB48-65C1-4847257E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6AD34-4BDE-C078-713D-B891584F3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BF4EB-DB7F-2A88-BAFD-88F95E7AF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47FD3-E8AA-1298-360C-33839002F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5297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7504B-1DC4-A032-BD4B-D9600D65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38200-6566-78FC-BEA8-5B329F9C6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56EF5-D4C1-21BC-CCB9-D97639217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3862D-CC84-464D-B748-F99F7BFDE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2992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C04B-45E9-B77A-E2A8-AA3B4E817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A34E1-C7AA-3AF5-8CE3-F1EF5D41F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CCCB0-C8C9-BD64-BCB5-6ED24B195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8C3B4-BF4B-F224-3B11-73BDC0CEB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69764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7A464-397F-E370-047C-39F7FD40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54DA2-68EB-9290-BC08-F2872981E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8286B-81DE-5330-1216-2747CB04A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36AEB-AD17-BF55-243F-5B059B29C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81823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11C4E-DFB4-4CCE-F291-73177B21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540AA-C89D-4CEC-49B7-91249BBCA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57AF0-8F58-9827-09C4-79B0C4627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C1835-B246-AD2E-2DD3-6CEA5A6CB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1563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E7AD0-D033-7431-C7A2-D4F178766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59B4E-5A82-5DAE-ABF3-7C7ABF64E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02C41-58CB-A61B-09A8-28F2EFE55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52500-9138-4D58-FD2E-76ABA17D7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7409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15/06/2026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59A545-5E0C-E6E5-274C-D470E99B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Recursion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1121B2-8C34-C723-AA30-2A804B79DD2B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Recursion</a:t>
            </a:r>
            <a:r>
              <a:rPr lang="en-PH" sz="2500" dirty="0">
                <a:solidFill>
                  <a:schemeClr val="bg1"/>
                </a:solidFill>
              </a:rPr>
              <a:t> is a programming technique where a function calls itself to solve a problem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5776C6-70F0-DEC1-0728-B37DF1FBB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000" y="1269000"/>
            <a:ext cx="540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1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E5451-C101-945A-8617-F9B085B42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4745A01-5D23-2BA4-F6A4-B6448461B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Recursion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500DC-5CFF-F037-6EB4-BFD73CF1DF08}"/>
              </a:ext>
            </a:extLst>
          </p:cNvPr>
          <p:cNvSpPr txBox="1"/>
          <p:nvPr/>
        </p:nvSpPr>
        <p:spPr>
          <a:xfrm>
            <a:off x="8114693" y="1632619"/>
            <a:ext cx="3301587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Output: </a:t>
            </a:r>
          </a:p>
          <a:p>
            <a:pPr>
              <a:buNone/>
            </a:pPr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pPr>
              <a:buNone/>
            </a:pPr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A5DAA-1AD0-592B-0AE3-40B87F8E7FF7}"/>
              </a:ext>
            </a:extLst>
          </p:cNvPr>
          <p:cNvSpPr txBox="1"/>
          <p:nvPr/>
        </p:nvSpPr>
        <p:spPr>
          <a:xfrm>
            <a:off x="1180643" y="2602116"/>
            <a:ext cx="5588163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took a step"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0100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1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2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3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4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5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6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7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8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9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1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311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612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06B0E-BBFB-DF2A-D556-D195AA7DE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6849D2-7F1E-7F4F-BF1A-462EFD617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Recursion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7DAA5-13B5-8843-41E5-409356564426}"/>
              </a:ext>
            </a:extLst>
          </p:cNvPr>
          <p:cNvSpPr txBox="1"/>
          <p:nvPr/>
        </p:nvSpPr>
        <p:spPr>
          <a:xfrm>
            <a:off x="8114693" y="1632619"/>
            <a:ext cx="3301587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Output: </a:t>
            </a:r>
          </a:p>
          <a:p>
            <a:pPr>
              <a:buNone/>
            </a:pPr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pPr>
              <a:buNone/>
            </a:pPr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6B6B4-C8E4-79AF-F98C-B025927B40A1}"/>
              </a:ext>
            </a:extLst>
          </p:cNvPr>
          <p:cNvSpPr txBox="1"/>
          <p:nvPr/>
        </p:nvSpPr>
        <p:spPr>
          <a:xfrm>
            <a:off x="918824" y="1632619"/>
            <a:ext cx="3301587" cy="13635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walk_iterative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5B532-4F0A-4CE5-1EE4-4AFAF90ACAF2}"/>
              </a:ext>
            </a:extLst>
          </p:cNvPr>
          <p:cNvSpPr txBox="1"/>
          <p:nvPr/>
        </p:nvSpPr>
        <p:spPr>
          <a:xfrm>
            <a:off x="918824" y="3429000"/>
            <a:ext cx="5588163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walk_iterative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took a step"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EED09-50AA-D811-FD4F-38A6605D8390}"/>
              </a:ext>
            </a:extLst>
          </p:cNvPr>
          <p:cNvSpPr txBox="1"/>
          <p:nvPr/>
        </p:nvSpPr>
        <p:spPr>
          <a:xfrm>
            <a:off x="609600" y="5781420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This can be done by using an iterative approach</a:t>
            </a:r>
            <a:endParaRPr lang="en-US" sz="2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634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1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2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3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4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5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6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7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8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9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1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311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612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95102-89EF-B262-FD91-15B70BE6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53EF158-9269-5920-4314-7DA162E5A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Recursion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95C1C-174B-D718-2D92-A548B3A8AB5A}"/>
              </a:ext>
            </a:extLst>
          </p:cNvPr>
          <p:cNvSpPr txBox="1"/>
          <p:nvPr/>
        </p:nvSpPr>
        <p:spPr>
          <a:xfrm>
            <a:off x="8114693" y="1632619"/>
            <a:ext cx="3301587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Output: </a:t>
            </a:r>
          </a:p>
          <a:p>
            <a:pPr>
              <a:buNone/>
            </a:pPr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pPr>
              <a:buNone/>
            </a:pPr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F8473-69DF-06CA-0375-095D97EBEC66}"/>
              </a:ext>
            </a:extLst>
          </p:cNvPr>
          <p:cNvSpPr txBox="1"/>
          <p:nvPr/>
        </p:nvSpPr>
        <p:spPr>
          <a:xfrm>
            <a:off x="575442" y="2463616"/>
            <a:ext cx="6094948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walk_recursive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took a step"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walk_recursive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78CD9-663E-B15B-3ABB-F0BA2C7081D7}"/>
              </a:ext>
            </a:extLst>
          </p:cNvPr>
          <p:cNvSpPr txBox="1"/>
          <p:nvPr/>
        </p:nvSpPr>
        <p:spPr>
          <a:xfrm>
            <a:off x="609600" y="5781420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We could do the same task with recursion</a:t>
            </a:r>
            <a:endParaRPr lang="en-US" sz="2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893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1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2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3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4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5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6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7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8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9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1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311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612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46C43-2BC1-B94D-30AC-989B2AFF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76FC8EB-323C-5848-4D04-3084411FF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Recursion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2348FB-582A-D17E-BE6F-3A0B6BA6995C}"/>
              </a:ext>
            </a:extLst>
          </p:cNvPr>
          <p:cNvSpPr txBox="1"/>
          <p:nvPr/>
        </p:nvSpPr>
        <p:spPr>
          <a:xfrm>
            <a:off x="8114693" y="1632619"/>
            <a:ext cx="3301587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Output: </a:t>
            </a:r>
          </a:p>
          <a:p>
            <a:pPr>
              <a:buNone/>
            </a:pPr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You took a step</a:t>
            </a:r>
          </a:p>
          <a:p>
            <a:pPr>
              <a:buNone/>
            </a:pPr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920CA-B695-F896-D19F-199237AC0082}"/>
              </a:ext>
            </a:extLst>
          </p:cNvPr>
          <p:cNvSpPr txBox="1"/>
          <p:nvPr/>
        </p:nvSpPr>
        <p:spPr>
          <a:xfrm>
            <a:off x="918824" y="1632619"/>
            <a:ext cx="3301587" cy="13635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</a:t>
            </a:r>
            <a:r>
              <a:rPr lang="en-PH" dirty="0" err="1">
                <a:solidFill>
                  <a:srgbClr val="D2A8FF"/>
                </a:solidFill>
                <a:latin typeface="Consolas" panose="020B0609020204030204" pitchFamily="49" charset="0"/>
              </a:rPr>
              <a:t>recursive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34EB6-1141-054B-74C9-3AB8EA130186}"/>
              </a:ext>
            </a:extLst>
          </p:cNvPr>
          <p:cNvSpPr txBox="1"/>
          <p:nvPr/>
        </p:nvSpPr>
        <p:spPr>
          <a:xfrm>
            <a:off x="918824" y="3413207"/>
            <a:ext cx="5464278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walk_recursive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took a step"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walk_recursive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2D6C15-F833-A6D2-DC73-F1E6BCBBD36E}"/>
              </a:ext>
            </a:extLst>
          </p:cNvPr>
          <p:cNvSpPr txBox="1"/>
          <p:nvPr/>
        </p:nvSpPr>
        <p:spPr>
          <a:xfrm>
            <a:off x="609600" y="5781420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We could do the same task with recursion</a:t>
            </a:r>
            <a:endParaRPr lang="en-US" sz="2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859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1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2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3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4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5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6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7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8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9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1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311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612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96067-0E1D-8390-93E0-30BBEE3C2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5BEAF5A-FFE3-F390-57B8-7153199E7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Base Case and Recursive Case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47E32-1A25-0842-34E9-A82180FA9591}"/>
              </a:ext>
            </a:extLst>
          </p:cNvPr>
          <p:cNvSpPr txBox="1"/>
          <p:nvPr/>
        </p:nvSpPr>
        <p:spPr>
          <a:xfrm>
            <a:off x="3363861" y="2274838"/>
            <a:ext cx="5464278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walk_recursive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took a step"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walk_recursive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B12572-FB97-80A7-A914-31F34F34FE8F}"/>
              </a:ext>
            </a:extLst>
          </p:cNvPr>
          <p:cNvSpPr/>
          <p:nvPr/>
        </p:nvSpPr>
        <p:spPr>
          <a:xfrm>
            <a:off x="3909428" y="2849388"/>
            <a:ext cx="1925034" cy="32446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35">
            <a:extLst>
              <a:ext uri="{FF2B5EF4-FFF2-40B4-BE49-F238E27FC236}">
                <a16:creationId xmlns:a16="http://schemas.microsoft.com/office/drawing/2014/main" id="{1496E728-DFEE-F048-CE27-839EC6FE4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830732"/>
              </p:ext>
            </p:extLst>
          </p:nvPr>
        </p:nvGraphicFramePr>
        <p:xfrm>
          <a:off x="8949321" y="3672745"/>
          <a:ext cx="162577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77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Recursive Case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8" name="Arrow: Left 65">
            <a:extLst>
              <a:ext uri="{FF2B5EF4-FFF2-40B4-BE49-F238E27FC236}">
                <a16:creationId xmlns:a16="http://schemas.microsoft.com/office/drawing/2014/main" id="{5DF89953-83C0-25E0-4A94-DEE77838AD98}"/>
              </a:ext>
            </a:extLst>
          </p:cNvPr>
          <p:cNvSpPr/>
          <p:nvPr/>
        </p:nvSpPr>
        <p:spPr>
          <a:xfrm flipV="1">
            <a:off x="7893338" y="3672745"/>
            <a:ext cx="1055984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2E0EA633-8C4E-1C8A-75A6-A40AD270F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790523"/>
              </p:ext>
            </p:extLst>
          </p:nvPr>
        </p:nvGraphicFramePr>
        <p:xfrm>
          <a:off x="8828139" y="2843628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Base Case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87BDCE68-2E6A-9D36-520C-B7116DCC6600}"/>
              </a:ext>
            </a:extLst>
          </p:cNvPr>
          <p:cNvSpPr/>
          <p:nvPr/>
        </p:nvSpPr>
        <p:spPr>
          <a:xfrm flipV="1">
            <a:off x="6128128" y="2849388"/>
            <a:ext cx="282119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414ACE-52D2-4CF8-DBC1-AD3579A88D48}"/>
              </a:ext>
            </a:extLst>
          </p:cNvPr>
          <p:cNvSpPr/>
          <p:nvPr/>
        </p:nvSpPr>
        <p:spPr>
          <a:xfrm>
            <a:off x="4424693" y="3684148"/>
            <a:ext cx="3347462" cy="31306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154C24-C146-8E80-9479-26A4A918CE17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A recursive function must have,  a </a:t>
            </a:r>
            <a:r>
              <a:rPr lang="en-US" sz="2500" b="1" dirty="0">
                <a:solidFill>
                  <a:srgbClr val="00B0F0"/>
                </a:solidFill>
              </a:rPr>
              <a:t>base case </a:t>
            </a:r>
            <a:r>
              <a:rPr lang="en-US" sz="2500" dirty="0">
                <a:solidFill>
                  <a:schemeClr val="bg1"/>
                </a:solidFill>
              </a:rPr>
              <a:t>and a </a:t>
            </a:r>
            <a:r>
              <a:rPr lang="en-US" sz="2500" b="1" dirty="0">
                <a:solidFill>
                  <a:srgbClr val="FF0000"/>
                </a:solidFill>
              </a:rPr>
              <a:t>recursive case</a:t>
            </a:r>
          </a:p>
        </p:txBody>
      </p:sp>
    </p:spTree>
    <p:extLst>
      <p:ext uri="{BB962C8B-B14F-4D97-AF65-F5344CB8AC3E}">
        <p14:creationId xmlns:p14="http://schemas.microsoft.com/office/powerpoint/2010/main" val="2080980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9A615-6730-24B5-C5A3-A133B6DE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E490897-2748-E091-8625-D0EEF9055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Base Case and Recursive Case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E22B9-31BE-5863-0A07-D195D3E2B941}"/>
              </a:ext>
            </a:extLst>
          </p:cNvPr>
          <p:cNvSpPr txBox="1"/>
          <p:nvPr/>
        </p:nvSpPr>
        <p:spPr>
          <a:xfrm>
            <a:off x="3363861" y="2274838"/>
            <a:ext cx="5464278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walk_recursive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took a step"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walk_recursive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48014D-816C-2CAF-6F2D-3CC4FC5DC097}"/>
              </a:ext>
            </a:extLst>
          </p:cNvPr>
          <p:cNvSpPr/>
          <p:nvPr/>
        </p:nvSpPr>
        <p:spPr>
          <a:xfrm>
            <a:off x="3909428" y="2849388"/>
            <a:ext cx="1925034" cy="32446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787A5F92-BED8-55F0-7A0D-CB196BDF50D3}"/>
              </a:ext>
            </a:extLst>
          </p:cNvPr>
          <p:cNvGraphicFramePr>
            <a:graphicFrameLocks noGrp="1"/>
          </p:cNvGraphicFramePr>
          <p:nvPr/>
        </p:nvGraphicFramePr>
        <p:xfrm>
          <a:off x="8828139" y="2843628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Base Case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C9AB4404-73A3-F9E2-8EDC-C2E2297A975A}"/>
              </a:ext>
            </a:extLst>
          </p:cNvPr>
          <p:cNvSpPr/>
          <p:nvPr/>
        </p:nvSpPr>
        <p:spPr>
          <a:xfrm flipV="1">
            <a:off x="6128128" y="2849388"/>
            <a:ext cx="282119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B55F2-88CE-D728-10AB-1617D9483499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The </a:t>
            </a:r>
            <a:r>
              <a:rPr lang="en-US" sz="2500" b="1" dirty="0">
                <a:solidFill>
                  <a:srgbClr val="00B0F0"/>
                </a:solidFill>
              </a:rPr>
              <a:t>base case </a:t>
            </a:r>
            <a:r>
              <a:rPr lang="en-US" sz="2500" dirty="0">
                <a:solidFill>
                  <a:schemeClr val="bg1"/>
                </a:solidFill>
              </a:rPr>
              <a:t>is where we stop the recursion to prevent it from calling itself forever (Stack Overflow)</a:t>
            </a:r>
            <a:endParaRPr lang="en-US" sz="2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9209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5331CD-B73B-7502-B32C-2BA51D72F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1CE53F-12BD-4AC1-24CF-6385B84C9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Base Case and Recursive Case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EA315-C633-9C39-01F6-E8E743C381AD}"/>
              </a:ext>
            </a:extLst>
          </p:cNvPr>
          <p:cNvSpPr txBox="1"/>
          <p:nvPr/>
        </p:nvSpPr>
        <p:spPr>
          <a:xfrm>
            <a:off x="3363861" y="2274838"/>
            <a:ext cx="5464278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walk_recursive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took a step"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walk_recursive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7771C9-B0DA-99E1-DC54-0C2534FD1F02}"/>
              </a:ext>
            </a:extLst>
          </p:cNvPr>
          <p:cNvSpPr/>
          <p:nvPr/>
        </p:nvSpPr>
        <p:spPr>
          <a:xfrm>
            <a:off x="3909428" y="2849388"/>
            <a:ext cx="1925034" cy="32446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E12B380A-5EFD-12EC-4C77-0D1CDFF31789}"/>
              </a:ext>
            </a:extLst>
          </p:cNvPr>
          <p:cNvGraphicFramePr>
            <a:graphicFrameLocks noGrp="1"/>
          </p:cNvGraphicFramePr>
          <p:nvPr/>
        </p:nvGraphicFramePr>
        <p:xfrm>
          <a:off x="8828139" y="2843628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Base Case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8FFF07B2-07B4-5C7B-BAD6-0C61047A28B1}"/>
              </a:ext>
            </a:extLst>
          </p:cNvPr>
          <p:cNvSpPr/>
          <p:nvPr/>
        </p:nvSpPr>
        <p:spPr>
          <a:xfrm flipV="1">
            <a:off x="6128128" y="2849388"/>
            <a:ext cx="282119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193754-2846-6F51-4E4F-A09E8C1F9886}"/>
              </a:ext>
            </a:extLst>
          </p:cNvPr>
          <p:cNvSpPr txBox="1"/>
          <p:nvPr/>
        </p:nvSpPr>
        <p:spPr>
          <a:xfrm>
            <a:off x="2796803" y="5469819"/>
            <a:ext cx="659839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The </a:t>
            </a:r>
            <a:r>
              <a:rPr lang="en-US" sz="2500" b="1" dirty="0">
                <a:solidFill>
                  <a:srgbClr val="FF0000"/>
                </a:solidFill>
              </a:rPr>
              <a:t>recursive case </a:t>
            </a:r>
            <a:r>
              <a:rPr lang="en-US" sz="2500" dirty="0">
                <a:solidFill>
                  <a:schemeClr val="bg1"/>
                </a:solidFill>
              </a:rPr>
              <a:t>is where we call the function.</a:t>
            </a:r>
            <a:endParaRPr lang="en-US" sz="25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Table 35">
            <a:extLst>
              <a:ext uri="{FF2B5EF4-FFF2-40B4-BE49-F238E27FC236}">
                <a16:creationId xmlns:a16="http://schemas.microsoft.com/office/drawing/2014/main" id="{5C68E238-B920-1C66-402C-B869B0B27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62440"/>
              </p:ext>
            </p:extLst>
          </p:nvPr>
        </p:nvGraphicFramePr>
        <p:xfrm>
          <a:off x="8949321" y="3672745"/>
          <a:ext cx="162577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77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Recursive Case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1" name="Arrow: Left 65">
            <a:extLst>
              <a:ext uri="{FF2B5EF4-FFF2-40B4-BE49-F238E27FC236}">
                <a16:creationId xmlns:a16="http://schemas.microsoft.com/office/drawing/2014/main" id="{3ACB21E3-9977-CA9C-815A-6A0B00C71350}"/>
              </a:ext>
            </a:extLst>
          </p:cNvPr>
          <p:cNvSpPr/>
          <p:nvPr/>
        </p:nvSpPr>
        <p:spPr>
          <a:xfrm flipV="1">
            <a:off x="7893338" y="3672745"/>
            <a:ext cx="1055984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C62996-5D39-C235-E721-1E17A0090AE4}"/>
              </a:ext>
            </a:extLst>
          </p:cNvPr>
          <p:cNvSpPr/>
          <p:nvPr/>
        </p:nvSpPr>
        <p:spPr>
          <a:xfrm>
            <a:off x="4424693" y="3684148"/>
            <a:ext cx="3347462" cy="31306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491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7B5D2E-C2D4-1087-2B9E-A979046E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7B22F4D-A8E6-5A92-16D0-EF4AFD817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Recursion Example: Factorial	</a:t>
            </a:r>
            <a:endParaRPr lang="en-PH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435E1D-5CEB-BF5D-0625-3E2331E89570}"/>
                  </a:ext>
                </a:extLst>
              </p:cNvPr>
              <p:cNvSpPr txBox="1"/>
              <p:nvPr/>
            </p:nvSpPr>
            <p:spPr>
              <a:xfrm>
                <a:off x="2743200" y="5009631"/>
                <a:ext cx="67056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PH" sz="5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PH" sz="5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435E1D-5CEB-BF5D-0625-3E2331E89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5009631"/>
                <a:ext cx="6705600" cy="861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C72801-443C-C450-3A45-9D8835C90FAE}"/>
                  </a:ext>
                </a:extLst>
              </p:cNvPr>
              <p:cNvSpPr txBox="1"/>
              <p:nvPr/>
            </p:nvSpPr>
            <p:spPr>
              <a:xfrm>
                <a:off x="2743200" y="3215527"/>
                <a:ext cx="67056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PH" sz="5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PH" sz="5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C72801-443C-C450-3A45-9D8835C90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15527"/>
                <a:ext cx="6705600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F92A94-3E48-D61A-1374-D994C1E81BC7}"/>
                  </a:ext>
                </a:extLst>
              </p:cNvPr>
              <p:cNvSpPr txBox="1"/>
              <p:nvPr/>
            </p:nvSpPr>
            <p:spPr>
              <a:xfrm>
                <a:off x="2743200" y="2353753"/>
                <a:ext cx="67056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PH" sz="5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F92A94-3E48-D61A-1374-D994C1E81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2353753"/>
                <a:ext cx="6705600" cy="8617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12F2D2-5B4B-E9E0-A5D9-8A0FE3A187C0}"/>
                  </a:ext>
                </a:extLst>
              </p:cNvPr>
              <p:cNvSpPr txBox="1"/>
              <p:nvPr/>
            </p:nvSpPr>
            <p:spPr>
              <a:xfrm>
                <a:off x="2743200" y="1491979"/>
                <a:ext cx="67056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12F2D2-5B4B-E9E0-A5D9-8A0FE3A18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1491979"/>
                <a:ext cx="6705600" cy="8617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193C3E-2D72-75B0-3A6D-8FCF8D69D33C}"/>
                  </a:ext>
                </a:extLst>
              </p:cNvPr>
              <p:cNvSpPr txBox="1"/>
              <p:nvPr/>
            </p:nvSpPr>
            <p:spPr>
              <a:xfrm>
                <a:off x="2743200" y="4112579"/>
                <a:ext cx="67056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PH" sz="5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PH" sz="5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PH" sz="5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193C3E-2D72-75B0-3A6D-8FCF8D69D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112579"/>
                <a:ext cx="6705600" cy="8617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9467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C5E8A-3E1A-227D-A7BC-ADF20D0EF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53DBEF-AB22-194E-2946-99326026B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Recursion Example: Factorial	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69987-3807-C278-6A34-371135B7B899}"/>
              </a:ext>
            </a:extLst>
          </p:cNvPr>
          <p:cNvSpPr txBox="1"/>
          <p:nvPr/>
        </p:nvSpPr>
        <p:spPr>
          <a:xfrm>
            <a:off x="7181142" y="3174435"/>
            <a:ext cx="4305634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3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Output: </a:t>
            </a:r>
          </a:p>
          <a:p>
            <a:pPr>
              <a:buNone/>
            </a:pPr>
            <a:r>
              <a:rPr lang="en-PH" sz="3000" dirty="0">
                <a:solidFill>
                  <a:schemeClr val="bg1"/>
                </a:solidFill>
                <a:latin typeface="Consolas" panose="020B0609020204030204" pitchFamily="49" charset="0"/>
              </a:rPr>
              <a:t>120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87075-43B5-D537-0078-A40D13ED931B}"/>
              </a:ext>
            </a:extLst>
          </p:cNvPr>
          <p:cNvSpPr txBox="1"/>
          <p:nvPr/>
        </p:nvSpPr>
        <p:spPr>
          <a:xfrm>
            <a:off x="1066307" y="3682267"/>
            <a:ext cx="4455487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factorial_iterative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I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result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result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F9544-9C97-2066-D0B4-872EB4084D44}"/>
              </a:ext>
            </a:extLst>
          </p:cNvPr>
          <p:cNvSpPr txBox="1"/>
          <p:nvPr/>
        </p:nvSpPr>
        <p:spPr>
          <a:xfrm>
            <a:off x="1066308" y="1632619"/>
            <a:ext cx="4455487" cy="15431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// Iterative approach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factorial_iterative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5)</a:t>
            </a:r>
            <a:b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8913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00245-57F0-0FE2-06D2-4BCB4BB8A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31D70BF-5515-AB51-4BD0-47A6B5C8C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Recursion Example: Factorial	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D8D63F-F4A2-3FE6-A447-8E0598455D9E}"/>
              </a:ext>
            </a:extLst>
          </p:cNvPr>
          <p:cNvSpPr txBox="1"/>
          <p:nvPr/>
        </p:nvSpPr>
        <p:spPr>
          <a:xfrm>
            <a:off x="233275" y="1875970"/>
            <a:ext cx="4455487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// Iterative approach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factorial_iterative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5)</a:t>
            </a:r>
            <a:b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2C31C-53C1-3A7F-BC74-00970641FD8D}"/>
              </a:ext>
            </a:extLst>
          </p:cNvPr>
          <p:cNvSpPr txBox="1"/>
          <p:nvPr/>
        </p:nvSpPr>
        <p:spPr>
          <a:xfrm>
            <a:off x="233275" y="4161523"/>
            <a:ext cx="6514363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factorial_recursive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factorial_recursive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53C673-5247-4002-F5E0-575A0CAEF7D2}"/>
              </a:ext>
            </a:extLst>
          </p:cNvPr>
          <p:cNvSpPr txBox="1"/>
          <p:nvPr/>
        </p:nvSpPr>
        <p:spPr>
          <a:xfrm>
            <a:off x="7114467" y="3145860"/>
            <a:ext cx="4305634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3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Output: </a:t>
            </a:r>
          </a:p>
          <a:p>
            <a:pPr>
              <a:buNone/>
            </a:pPr>
            <a:r>
              <a:rPr lang="en-PH" sz="3000" dirty="0">
                <a:solidFill>
                  <a:schemeClr val="bg1"/>
                </a:solidFill>
                <a:latin typeface="Consolas" panose="020B0609020204030204" pitchFamily="49" charset="0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312318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05086-0BC1-D42D-ABC3-42B33A758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016003C-39E6-04D7-D03F-6B5DC1E63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Recursion Example: Factorial	</a:t>
            </a:r>
            <a:endParaRPr lang="en-PH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052743-991D-85F6-F85A-6256F3B5F82B}"/>
                  </a:ext>
                </a:extLst>
              </p:cNvPr>
              <p:cNvSpPr txBox="1"/>
              <p:nvPr/>
            </p:nvSpPr>
            <p:spPr>
              <a:xfrm>
                <a:off x="918120" y="2760898"/>
                <a:ext cx="20165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PH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PH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052743-991D-85F6-F85A-6256F3B5F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20" y="2760898"/>
                <a:ext cx="2016578" cy="276999"/>
              </a:xfrm>
              <a:prstGeom prst="rect">
                <a:avLst/>
              </a:prstGeom>
              <a:blipFill>
                <a:blip r:embed="rId3"/>
                <a:stretch>
                  <a:fillRect l="-3636" r="-3030" b="-333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FE4973-8107-AE84-8A52-E1A1CCD7B4CD}"/>
                  </a:ext>
                </a:extLst>
              </p:cNvPr>
              <p:cNvSpPr txBox="1"/>
              <p:nvPr/>
            </p:nvSpPr>
            <p:spPr>
              <a:xfrm>
                <a:off x="72449" y="1325301"/>
                <a:ext cx="2903101" cy="40011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𝒇𝒂𝒄𝒕𝒐𝒓𝒊𝒂𝒍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𝒓𝒆𝒄𝒖𝒓𝒔𝒊𝒗𝒆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FE4973-8107-AE84-8A52-E1A1CCD7B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9" y="1325301"/>
                <a:ext cx="2903101" cy="400110"/>
              </a:xfrm>
              <a:prstGeom prst="rect">
                <a:avLst/>
              </a:prstGeom>
              <a:blipFill>
                <a:blip r:embed="rId4"/>
                <a:stretch>
                  <a:fillRect l="-3766" r="-2092" b="-1323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B7B805-F3A7-A923-3E47-227AAE2F6732}"/>
                  </a:ext>
                </a:extLst>
              </p:cNvPr>
              <p:cNvSpPr txBox="1"/>
              <p:nvPr/>
            </p:nvSpPr>
            <p:spPr>
              <a:xfrm>
                <a:off x="1135492" y="2389421"/>
                <a:ext cx="4261037" cy="40011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𝒇𝒂𝒄𝒕𝒐𝒓𝒊𝒂𝒍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𝒓𝒆𝒄𝒖𝒓𝒔𝒊𝒗𝒆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B7B805-F3A7-A923-3E47-227AAE2F6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492" y="2389421"/>
                <a:ext cx="4261037" cy="400110"/>
              </a:xfrm>
              <a:prstGeom prst="rect">
                <a:avLst/>
              </a:prstGeom>
              <a:blipFill>
                <a:blip r:embed="rId5"/>
                <a:stretch>
                  <a:fillRect b="-1176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F4B0A5-B3B4-6B3C-FA86-0E6BD0564ECB}"/>
                  </a:ext>
                </a:extLst>
              </p:cNvPr>
              <p:cNvSpPr txBox="1"/>
              <p:nvPr/>
            </p:nvSpPr>
            <p:spPr>
              <a:xfrm>
                <a:off x="3334789" y="3419247"/>
                <a:ext cx="4261036" cy="40011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𝒇𝒂𝒄𝒕𝒐𝒓𝒊𝒂𝒍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𝒓𝒆𝒄𝒖𝒓𝒔𝒊𝒗𝒆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F4B0A5-B3B4-6B3C-FA86-0E6BD0564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789" y="3419247"/>
                <a:ext cx="4261036" cy="400110"/>
              </a:xfrm>
              <a:prstGeom prst="rect">
                <a:avLst/>
              </a:prstGeom>
              <a:blipFill>
                <a:blip r:embed="rId6"/>
                <a:stretch>
                  <a:fillRect b="-1176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2B6ED1-E1F0-C126-F2BA-D8EC825EECB2}"/>
                  </a:ext>
                </a:extLst>
              </p:cNvPr>
              <p:cNvSpPr txBox="1"/>
              <p:nvPr/>
            </p:nvSpPr>
            <p:spPr>
              <a:xfrm>
                <a:off x="5460571" y="4488164"/>
                <a:ext cx="4459914" cy="40011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𝒇𝒂𝒄𝒕𝒐𝒓𝒊𝒂𝒍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𝒓𝒆𝒄𝒖𝒓𝒔𝒊𝒗𝒆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2B6ED1-E1F0-C126-F2BA-D8EC825EE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571" y="4488164"/>
                <a:ext cx="4459914" cy="400110"/>
              </a:xfrm>
              <a:prstGeom prst="rect">
                <a:avLst/>
              </a:prstGeom>
              <a:blipFill>
                <a:blip r:embed="rId7"/>
                <a:stretch>
                  <a:fillRect b="-1323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F56F4C-3AE9-D794-B2DB-2CE7B6F0371B}"/>
                  </a:ext>
                </a:extLst>
              </p:cNvPr>
              <p:cNvSpPr txBox="1"/>
              <p:nvPr/>
            </p:nvSpPr>
            <p:spPr>
              <a:xfrm>
                <a:off x="7295412" y="5669035"/>
                <a:ext cx="4459914" cy="40011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𝒇𝒂𝒄𝒕𝒐𝒓𝒊𝒂𝒍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𝒓𝒆𝒄𝒖𝒓𝒔𝒊𝒗𝒆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F56F4C-3AE9-D794-B2DB-2CE7B6F03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412" y="5669035"/>
                <a:ext cx="4459914" cy="400110"/>
              </a:xfrm>
              <a:prstGeom prst="rect">
                <a:avLst/>
              </a:prstGeom>
              <a:blipFill>
                <a:blip r:embed="rId8"/>
                <a:stretch>
                  <a:fillRect b="-1176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04FAB05-E2E9-2389-A177-4FC996676F1E}"/>
              </a:ext>
            </a:extLst>
          </p:cNvPr>
          <p:cNvCxnSpPr>
            <a:cxnSpLocks/>
            <a:stCxn id="10" idx="3"/>
            <a:endCxn id="8" idx="3"/>
          </p:cNvCxnSpPr>
          <p:nvPr/>
        </p:nvCxnSpPr>
        <p:spPr>
          <a:xfrm flipH="1" flipV="1">
            <a:off x="2975550" y="1525356"/>
            <a:ext cx="2420979" cy="1064120"/>
          </a:xfrm>
          <a:prstGeom prst="bentConnector3">
            <a:avLst>
              <a:gd name="adj1" fmla="val -9442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64C0BA-C475-E404-5587-61FF56001A48}"/>
              </a:ext>
            </a:extLst>
          </p:cNvPr>
          <p:cNvCxnSpPr>
            <a:cxnSpLocks/>
            <a:stCxn id="106" idx="1"/>
          </p:cNvCxnSpPr>
          <p:nvPr/>
        </p:nvCxnSpPr>
        <p:spPr>
          <a:xfrm>
            <a:off x="1415236" y="1897115"/>
            <a:ext cx="0" cy="3955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E905D65-4B46-B5FB-6702-19ADB23B245D}"/>
              </a:ext>
            </a:extLst>
          </p:cNvPr>
          <p:cNvCxnSpPr>
            <a:cxnSpLocks/>
            <a:stCxn id="12" idx="3"/>
          </p:cNvCxnSpPr>
          <p:nvPr/>
        </p:nvCxnSpPr>
        <p:spPr>
          <a:xfrm flipH="1" flipV="1">
            <a:off x="7619429" y="3733419"/>
            <a:ext cx="2301056" cy="954800"/>
          </a:xfrm>
          <a:prstGeom prst="bentConnector3">
            <a:avLst>
              <a:gd name="adj1" fmla="val -993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FD84BC3-4452-FA9F-C179-E7BD26836731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9920485" y="4845273"/>
            <a:ext cx="1834841" cy="1023817"/>
          </a:xfrm>
          <a:prstGeom prst="bentConnector3">
            <a:avLst>
              <a:gd name="adj1" fmla="val -12459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09F2094-C58F-D527-6472-76FF8DF9AEBA}"/>
              </a:ext>
            </a:extLst>
          </p:cNvPr>
          <p:cNvCxnSpPr>
            <a:cxnSpLocks/>
            <a:stCxn id="11" idx="3"/>
          </p:cNvCxnSpPr>
          <p:nvPr/>
        </p:nvCxnSpPr>
        <p:spPr>
          <a:xfrm flipH="1" flipV="1">
            <a:off x="5393792" y="2698935"/>
            <a:ext cx="2202033" cy="920367"/>
          </a:xfrm>
          <a:prstGeom prst="bentConnector3">
            <a:avLst>
              <a:gd name="adj1" fmla="val -10381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CD99DB7-CF7A-D4B7-D967-A6CE26FD4B52}"/>
                  </a:ext>
                </a:extLst>
              </p:cNvPr>
              <p:cNvSpPr txBox="1"/>
              <p:nvPr/>
            </p:nvSpPr>
            <p:spPr>
              <a:xfrm>
                <a:off x="4862460" y="1846056"/>
                <a:ext cx="1596448" cy="40011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𝟏𝟐𝟎</m:t>
                      </m:r>
                    </m:oMath>
                  </m:oMathPara>
                </a14:m>
                <a:endParaRPr lang="en-PH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CD99DB7-CF7A-D4B7-D967-A6CE26FD4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460" y="1846056"/>
                <a:ext cx="1596448" cy="400110"/>
              </a:xfrm>
              <a:prstGeom prst="rect">
                <a:avLst/>
              </a:prstGeom>
              <a:blipFill>
                <a:blip r:embed="rId9"/>
                <a:stretch>
                  <a:fillRect l="-11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6DAC760-058D-968A-9884-1C35678D95F0}"/>
                  </a:ext>
                </a:extLst>
              </p:cNvPr>
              <p:cNvSpPr txBox="1"/>
              <p:nvPr/>
            </p:nvSpPr>
            <p:spPr>
              <a:xfrm>
                <a:off x="7037213" y="2861451"/>
                <a:ext cx="1596448" cy="40011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PH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6DAC760-058D-968A-9884-1C35678D9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213" y="2861451"/>
                <a:ext cx="159644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E27AF2F-1F4A-F659-E25C-553CC366AC0A}"/>
                  </a:ext>
                </a:extLst>
              </p:cNvPr>
              <p:cNvSpPr txBox="1"/>
              <p:nvPr/>
            </p:nvSpPr>
            <p:spPr>
              <a:xfrm>
                <a:off x="9525369" y="3910737"/>
                <a:ext cx="1234961" cy="40011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PH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E27AF2F-1F4A-F659-E25C-553CC366A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369" y="3910737"/>
                <a:ext cx="1234961" cy="400110"/>
              </a:xfrm>
              <a:prstGeom prst="rect">
                <a:avLst/>
              </a:prstGeom>
              <a:blipFill>
                <a:blip r:embed="rId11"/>
                <a:stretch>
                  <a:fillRect l="-14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BD6A06E-4D0C-5F1D-C6FC-3988F3CB7DBF}"/>
                  </a:ext>
                </a:extLst>
              </p:cNvPr>
              <p:cNvSpPr txBox="1"/>
              <p:nvPr/>
            </p:nvSpPr>
            <p:spPr>
              <a:xfrm>
                <a:off x="10535019" y="5057099"/>
                <a:ext cx="1596448" cy="40011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PH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BD6A06E-4D0C-5F1D-C6FC-3988F3CB7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019" y="5057099"/>
                <a:ext cx="159644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Left Bracket 105">
            <a:extLst>
              <a:ext uri="{FF2B5EF4-FFF2-40B4-BE49-F238E27FC236}">
                <a16:creationId xmlns:a16="http://schemas.microsoft.com/office/drawing/2014/main" id="{31EF0D78-0FA1-EDD4-6963-FC660FC50548}"/>
              </a:ext>
            </a:extLst>
          </p:cNvPr>
          <p:cNvSpPr/>
          <p:nvPr/>
        </p:nvSpPr>
        <p:spPr>
          <a:xfrm rot="16200000">
            <a:off x="1367715" y="506809"/>
            <a:ext cx="95040" cy="2685571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581126B-0850-F3DC-A2DA-6EDECFBBE0C1}"/>
              </a:ext>
            </a:extLst>
          </p:cNvPr>
          <p:cNvCxnSpPr>
            <a:cxnSpLocks/>
            <a:stCxn id="3" idx="1"/>
          </p:cNvCxnSpPr>
          <p:nvPr/>
        </p:nvCxnSpPr>
        <p:spPr>
          <a:xfrm>
            <a:off x="3694403" y="2957285"/>
            <a:ext cx="0" cy="3955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Left Bracket 2">
            <a:extLst>
              <a:ext uri="{FF2B5EF4-FFF2-40B4-BE49-F238E27FC236}">
                <a16:creationId xmlns:a16="http://schemas.microsoft.com/office/drawing/2014/main" id="{CE6253B7-5EA1-A4B2-576C-B8352F3F220B}"/>
              </a:ext>
            </a:extLst>
          </p:cNvPr>
          <p:cNvSpPr/>
          <p:nvPr/>
        </p:nvSpPr>
        <p:spPr>
          <a:xfrm rot="16200000">
            <a:off x="3646882" y="1566979"/>
            <a:ext cx="95040" cy="2685571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C0EBFC-1F5A-D233-DEB2-B2BC39A8E1A1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5911824" y="3992745"/>
            <a:ext cx="0" cy="3955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Left Bracket 6">
            <a:extLst>
              <a:ext uri="{FF2B5EF4-FFF2-40B4-BE49-F238E27FC236}">
                <a16:creationId xmlns:a16="http://schemas.microsoft.com/office/drawing/2014/main" id="{D962C64E-3A60-6AF6-83D2-C513305BCA55}"/>
              </a:ext>
            </a:extLst>
          </p:cNvPr>
          <p:cNvSpPr/>
          <p:nvPr/>
        </p:nvSpPr>
        <p:spPr>
          <a:xfrm rot="16200000">
            <a:off x="5864303" y="2602439"/>
            <a:ext cx="95040" cy="2685571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DF9162-F497-5474-A8A7-EAEA5CADE0B4}"/>
              </a:ext>
            </a:extLst>
          </p:cNvPr>
          <p:cNvCxnSpPr>
            <a:cxnSpLocks/>
          </p:cNvCxnSpPr>
          <p:nvPr/>
        </p:nvCxnSpPr>
        <p:spPr>
          <a:xfrm>
            <a:off x="7744434" y="5106704"/>
            <a:ext cx="0" cy="5623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D43C3B54-C51F-283C-AC97-E927B8871950}"/>
              </a:ext>
            </a:extLst>
          </p:cNvPr>
          <p:cNvSpPr/>
          <p:nvPr/>
        </p:nvSpPr>
        <p:spPr>
          <a:xfrm rot="16200000">
            <a:off x="8135063" y="3716398"/>
            <a:ext cx="95040" cy="2685571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6577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67" grpId="0" animBg="1"/>
      <p:bldP spid="74" grpId="0" animBg="1"/>
      <p:bldP spid="103" grpId="0" animBg="1"/>
      <p:bldP spid="104" grpId="0" animBg="1"/>
      <p:bldP spid="106" grpId="0" animBg="1"/>
      <p:bldP spid="3" grpId="0" animBg="1"/>
      <p:bldP spid="7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1234</TotalTime>
  <Words>906</Words>
  <Application>Microsoft Office PowerPoint</Application>
  <PresentationFormat>Widescreen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Consolas</vt:lpstr>
      <vt:lpstr>Office Theme</vt:lpstr>
      <vt:lpstr>Recursion</vt:lpstr>
      <vt:lpstr>Recursion</vt:lpstr>
      <vt:lpstr>Recursion</vt:lpstr>
      <vt:lpstr>Recursion</vt:lpstr>
      <vt:lpstr>Recursion</vt:lpstr>
      <vt:lpstr>Base Case and Recursive Case</vt:lpstr>
      <vt:lpstr>Base Case and Recursive Case</vt:lpstr>
      <vt:lpstr>Base Case and Recursive Case</vt:lpstr>
      <vt:lpstr>Recursion Example: Factorial </vt:lpstr>
      <vt:lpstr>Recursion Example: Factorial </vt:lpstr>
      <vt:lpstr>Recursion Example: Factorial </vt:lpstr>
      <vt:lpstr>Recursion Example: Factorial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93</cp:revision>
  <dcterms:created xsi:type="dcterms:W3CDTF">2022-05-11T03:47:05Z</dcterms:created>
  <dcterms:modified xsi:type="dcterms:W3CDTF">2026-06-15T03:24:16Z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